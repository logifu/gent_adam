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Agent Architect Pro architecture blueprint, approved architecture recommendations, and approved UI/UX product spec from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architecture and approved UI/UX product strategy from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platform requirements and approved UI/UX product spec from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project requirements and approved UI/UX product spec from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platform requirements and approved UI/UX product spec from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architecture generation, debate, and evaluation requirements from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evaluation, QA simulation, and world-model testing requirements from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deployment, observability, governance, and runtime requirements from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UI/UX product strategy and approved next-step sequence from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alpha val="0"/>
              </a:srgbClr>
            </a:solidFill>
            <a:prstDash val="solid"/>
          </a:ln>
        </p:spPr>
      </p:sp>
      <p:sp>
        <p:nvSpPr>
          <p:cNvPr id="3" name="Shape 1"/>
          <p:cNvSpPr/>
          <p:nvPr/>
        </p:nvSpPr>
        <p:spPr>
          <a:xfrm>
            <a:off x="8138160" y="804672"/>
            <a:ext cx="3063240" cy="4526280"/>
          </a:xfrm>
          <a:prstGeom prst="roundRect">
            <a:avLst>
              <a:gd name="adj" fmla="val 4776"/>
            </a:avLst>
          </a:prstGeom>
          <a:solidFill>
            <a:srgbClr val="FCFDFE"/>
          </a:solidFill>
          <a:ln w="12700">
            <a:solidFill>
              <a:srgbClr val="E3E8EF"/>
            </a:solidFill>
            <a:prstDash val="solid"/>
          </a:ln>
        </p:spPr>
      </p:sp>
      <p:sp>
        <p:nvSpPr>
          <p:cNvPr id="4" name="Shape 2"/>
          <p:cNvSpPr/>
          <p:nvPr/>
        </p:nvSpPr>
        <p:spPr>
          <a:xfrm>
            <a:off x="8549640" y="1234440"/>
            <a:ext cx="2240280" cy="3611880"/>
          </a:xfrm>
          <a:prstGeom prst="roundRect">
            <a:avLst>
              <a:gd name="adj" fmla="val 3265"/>
            </a:avLst>
          </a:prstGeom>
          <a:solidFill>
            <a:srgbClr val="FFFFFF"/>
          </a:solidFill>
          <a:ln w="12700">
            <a:solidFill>
              <a:srgbClr val="CBD4DF"/>
            </a:solidFill>
            <a:prstDash val="solid"/>
          </a:ln>
        </p:spPr>
      </p:sp>
      <p:sp>
        <p:nvSpPr>
          <p:cNvPr id="5" name="Shape 3"/>
          <p:cNvSpPr/>
          <p:nvPr/>
        </p:nvSpPr>
        <p:spPr>
          <a:xfrm>
            <a:off x="8549640" y="1234440"/>
            <a:ext cx="2240280" cy="292608"/>
          </a:xfrm>
          <a:prstGeom prst="rect">
            <a:avLst/>
          </a:prstGeom>
          <a:solidFill>
            <a:srgbClr val="F9FBFD"/>
          </a:solidFill>
          <a:ln w="12700">
            <a:solidFill>
              <a:srgbClr val="CBD4DF"/>
            </a:solidFill>
            <a:prstDash val="solid"/>
          </a:ln>
        </p:spPr>
      </p:sp>
      <p:sp>
        <p:nvSpPr>
          <p:cNvPr id="6" name="Text 4"/>
          <p:cNvSpPr/>
          <p:nvPr/>
        </p:nvSpPr>
        <p:spPr>
          <a:xfrm>
            <a:off x="8659368" y="1316736"/>
            <a:ext cx="914400" cy="91440"/>
          </a:xfrm>
          <a:prstGeom prst="rect">
            <a:avLst/>
          </a:prstGeom>
          <a:noFill/>
          <a:ln/>
        </p:spPr>
        <p:txBody>
          <a:bodyPr wrap="square" lIns="0" tIns="0" rIns="0" bIns="0" rtlCol="0" anchor="ctr"/>
          <a:lstStyle/>
          <a:p>
            <a:pPr indent="0" marL="0">
              <a:buNone/>
            </a:pPr>
            <a:r>
              <a:rPr lang="en-US" sz="980" b="1" dirty="0">
                <a:solidFill>
                  <a:srgbClr val="19212B"/>
                </a:solidFill>
              </a:rPr>
              <a:t>Agent Studio</a:t>
            </a:r>
            <a:endParaRPr lang="en-US" sz="980" dirty="0"/>
          </a:p>
        </p:txBody>
      </p:sp>
      <p:sp>
        <p:nvSpPr>
          <p:cNvPr id="7" name="Shape 5"/>
          <p:cNvSpPr/>
          <p:nvPr/>
        </p:nvSpPr>
        <p:spPr>
          <a:xfrm>
            <a:off x="8549640" y="1527048"/>
            <a:ext cx="566928" cy="3319272"/>
          </a:xfrm>
          <a:prstGeom prst="rect">
            <a:avLst/>
          </a:prstGeom>
          <a:solidFill>
            <a:srgbClr val="FBFCFE"/>
          </a:solidFill>
          <a:ln w="12700">
            <a:solidFill>
              <a:srgbClr val="E3E8EF"/>
            </a:solidFill>
            <a:prstDash val="solid"/>
          </a:ln>
        </p:spPr>
      </p:sp>
      <p:sp>
        <p:nvSpPr>
          <p:cNvPr id="8" name="Text 6"/>
          <p:cNvSpPr/>
          <p:nvPr/>
        </p:nvSpPr>
        <p:spPr>
          <a:xfrm>
            <a:off x="8650224" y="1764792"/>
            <a:ext cx="320040" cy="1005840"/>
          </a:xfrm>
          <a:prstGeom prst="rect">
            <a:avLst/>
          </a:prstGeom>
          <a:noFill/>
          <a:ln/>
        </p:spPr>
        <p:txBody>
          <a:bodyPr wrap="square" lIns="0" tIns="0" rIns="0" bIns="0" rtlCol="0" anchor="ctr"/>
          <a:lstStyle/>
          <a:p>
            <a:pPr indent="0" marL="0">
              <a:buNone/>
            </a:pPr>
            <a:r>
              <a:rPr lang="en-US" sz="880" dirty="0">
                <a:solidFill>
                  <a:srgbClr val="5D6B7B"/>
                </a:solidFill>
              </a:rPr>
              <a:t>Studio</a:t>
            </a:r>
            <a:endParaRPr lang="en-US" sz="880" dirty="0"/>
          </a:p>
          <a:p>
            <a:pPr indent="0" marL="0">
              <a:buNone/>
            </a:pPr>
            <a:r>
              <a:rPr lang="en-US" sz="880" dirty="0">
                <a:solidFill>
                  <a:srgbClr val="5D6B7B"/>
                </a:solidFill>
              </a:rPr>
              <a:t>Runs</a:t>
            </a:r>
            <a:endParaRPr lang="en-US" sz="880" dirty="0"/>
          </a:p>
          <a:p>
            <a:pPr indent="0" marL="0">
              <a:buNone/>
            </a:pPr>
            <a:r>
              <a:rPr lang="en-US" sz="880" dirty="0">
                <a:solidFill>
                  <a:srgbClr val="5D6B7B"/>
                </a:solidFill>
              </a:rPr>
              <a:t>Deploy</a:t>
            </a:r>
            <a:endParaRPr lang="en-US" sz="880" dirty="0"/>
          </a:p>
          <a:p>
            <a:pPr indent="0" marL="0">
              <a:buNone/>
            </a:pPr>
            <a:r>
              <a:rPr lang="en-US" sz="880" dirty="0">
                <a:solidFill>
                  <a:srgbClr val="5D6B7B"/>
                </a:solidFill>
              </a:rPr>
              <a:t>Observe</a:t>
            </a:r>
            <a:endParaRPr lang="en-US" sz="880" dirty="0"/>
          </a:p>
        </p:txBody>
      </p:sp>
      <p:sp>
        <p:nvSpPr>
          <p:cNvPr id="9" name="Shape 7"/>
          <p:cNvSpPr/>
          <p:nvPr/>
        </p:nvSpPr>
        <p:spPr>
          <a:xfrm>
            <a:off x="9262872" y="1737360"/>
            <a:ext cx="1344168" cy="603504"/>
          </a:xfrm>
          <a:prstGeom prst="roundRect">
            <a:avLst>
              <a:gd name="adj" fmla="val 12121"/>
            </a:avLst>
          </a:prstGeom>
          <a:solidFill>
            <a:srgbClr val="F3F5F8"/>
          </a:solidFill>
          <a:ln w="12700">
            <a:solidFill>
              <a:srgbClr val="D7DEE7"/>
            </a:solidFill>
            <a:prstDash val="solid"/>
          </a:ln>
        </p:spPr>
      </p:sp>
      <p:sp>
        <p:nvSpPr>
          <p:cNvPr id="10" name="Shape 8"/>
          <p:cNvSpPr/>
          <p:nvPr/>
        </p:nvSpPr>
        <p:spPr>
          <a:xfrm>
            <a:off x="9262872" y="1737360"/>
            <a:ext cx="1344168" cy="219456"/>
          </a:xfrm>
          <a:prstGeom prst="rect">
            <a:avLst/>
          </a:prstGeom>
          <a:solidFill>
            <a:srgbClr val="EEF2F7"/>
          </a:solidFill>
          <a:ln w="12700">
            <a:solidFill>
              <a:srgbClr val="D7DEE7"/>
            </a:solidFill>
            <a:prstDash val="solid"/>
          </a:ln>
        </p:spPr>
      </p:sp>
      <p:sp>
        <p:nvSpPr>
          <p:cNvPr id="11" name="Text 9"/>
          <p:cNvSpPr/>
          <p:nvPr/>
        </p:nvSpPr>
        <p:spPr>
          <a:xfrm>
            <a:off x="9372600" y="1792224"/>
            <a:ext cx="1124712" cy="91440"/>
          </a:xfrm>
          <a:prstGeom prst="rect">
            <a:avLst/>
          </a:prstGeom>
          <a:noFill/>
          <a:ln/>
        </p:spPr>
        <p:txBody>
          <a:bodyPr wrap="square" lIns="0" tIns="0" rIns="0" bIns="0" rtlCol="0" anchor="ctr"/>
          <a:lstStyle/>
          <a:p>
            <a:pPr indent="0" marL="0">
              <a:buNone/>
            </a:pPr>
            <a:r>
              <a:rPr lang="en-US" sz="920" b="1" dirty="0">
                <a:solidFill>
                  <a:srgbClr val="19212B"/>
                </a:solidFill>
              </a:rPr>
              <a:t>Lifecycle</a:t>
            </a:r>
            <a:endParaRPr lang="en-US" sz="920" dirty="0"/>
          </a:p>
        </p:txBody>
      </p:sp>
      <p:sp>
        <p:nvSpPr>
          <p:cNvPr id="12" name="Text 10"/>
          <p:cNvSpPr/>
          <p:nvPr/>
        </p:nvSpPr>
        <p:spPr>
          <a:xfrm>
            <a:off x="9372600" y="1965960"/>
            <a:ext cx="1124712" cy="146304"/>
          </a:xfrm>
          <a:prstGeom prst="rect">
            <a:avLst/>
          </a:prstGeom>
          <a:noFill/>
          <a:ln/>
        </p:spPr>
        <p:txBody>
          <a:bodyPr wrap="square" lIns="0" tIns="0" rIns="0" bIns="0" rtlCol="0" anchor="ctr"/>
          <a:lstStyle/>
          <a:p>
            <a:pPr algn="ctr" indent="0" marL="0">
              <a:buNone/>
            </a:pPr>
            <a:r>
              <a:rPr lang="en-US" sz="1000" dirty="0">
                <a:solidFill>
                  <a:srgbClr val="5D6B7B"/>
                </a:solidFill>
              </a:rPr>
              <a:t>Brief → Design → Eval</a:t>
            </a:r>
            <a:endParaRPr lang="en-US" sz="1000" dirty="0"/>
          </a:p>
        </p:txBody>
      </p:sp>
      <p:sp>
        <p:nvSpPr>
          <p:cNvPr id="13" name="Shape 11"/>
          <p:cNvSpPr/>
          <p:nvPr/>
        </p:nvSpPr>
        <p:spPr>
          <a:xfrm>
            <a:off x="9262872" y="2468880"/>
            <a:ext cx="603504" cy="1371600"/>
          </a:xfrm>
          <a:prstGeom prst="roundRect">
            <a:avLst>
              <a:gd name="adj" fmla="val 12121"/>
            </a:avLst>
          </a:prstGeom>
          <a:solidFill>
            <a:srgbClr val="F3F5F8"/>
          </a:solidFill>
          <a:ln w="12700">
            <a:solidFill>
              <a:srgbClr val="D7DEE7"/>
            </a:solidFill>
            <a:prstDash val="solid"/>
          </a:ln>
        </p:spPr>
      </p:sp>
      <p:sp>
        <p:nvSpPr>
          <p:cNvPr id="14" name="Shape 12"/>
          <p:cNvSpPr/>
          <p:nvPr/>
        </p:nvSpPr>
        <p:spPr>
          <a:xfrm>
            <a:off x="9262872" y="2468880"/>
            <a:ext cx="603504" cy="219456"/>
          </a:xfrm>
          <a:prstGeom prst="rect">
            <a:avLst/>
          </a:prstGeom>
          <a:solidFill>
            <a:srgbClr val="EEF2F7"/>
          </a:solidFill>
          <a:ln w="12700">
            <a:solidFill>
              <a:srgbClr val="D7DEE7"/>
            </a:solidFill>
            <a:prstDash val="solid"/>
          </a:ln>
        </p:spPr>
      </p:sp>
      <p:sp>
        <p:nvSpPr>
          <p:cNvPr id="15" name="Text 13"/>
          <p:cNvSpPr/>
          <p:nvPr/>
        </p:nvSpPr>
        <p:spPr>
          <a:xfrm>
            <a:off x="9372600" y="2523744"/>
            <a:ext cx="384048" cy="91440"/>
          </a:xfrm>
          <a:prstGeom prst="rect">
            <a:avLst/>
          </a:prstGeom>
          <a:noFill/>
          <a:ln/>
        </p:spPr>
        <p:txBody>
          <a:bodyPr wrap="square" lIns="0" tIns="0" rIns="0" bIns="0" rtlCol="0" anchor="ctr"/>
          <a:lstStyle/>
          <a:p>
            <a:pPr indent="0" marL="0">
              <a:buNone/>
            </a:pPr>
            <a:r>
              <a:rPr lang="en-US" sz="920" b="1" dirty="0">
                <a:solidFill>
                  <a:srgbClr val="19212B"/>
                </a:solidFill>
              </a:rPr>
              <a:t>Design</a:t>
            </a:r>
            <a:endParaRPr lang="en-US" sz="920" dirty="0"/>
          </a:p>
        </p:txBody>
      </p:sp>
      <p:sp>
        <p:nvSpPr>
          <p:cNvPr id="16" name="Text 14"/>
          <p:cNvSpPr/>
          <p:nvPr/>
        </p:nvSpPr>
        <p:spPr>
          <a:xfrm>
            <a:off x="9372600" y="3081528"/>
            <a:ext cx="384048" cy="146304"/>
          </a:xfrm>
          <a:prstGeom prst="rect">
            <a:avLst/>
          </a:prstGeom>
          <a:noFill/>
          <a:ln/>
        </p:spPr>
        <p:txBody>
          <a:bodyPr wrap="square" lIns="0" tIns="0" rIns="0" bIns="0" rtlCol="0" anchor="ctr"/>
          <a:lstStyle/>
          <a:p>
            <a:pPr algn="ctr" indent="0" marL="0">
              <a:buNone/>
            </a:pPr>
            <a:r>
              <a:rPr lang="en-US" sz="1000" dirty="0">
                <a:solidFill>
                  <a:srgbClr val="5D6B7B"/>
                </a:solidFill>
              </a:rPr>
              <a:t>Architecture</a:t>
            </a:r>
            <a:endParaRPr lang="en-US" sz="1000" dirty="0"/>
          </a:p>
          <a:p>
            <a:pPr algn="ctr" indent="0" marL="0">
              <a:buNone/>
            </a:pPr>
            <a:r>
              <a:rPr lang="en-US" sz="1000" dirty="0">
                <a:solidFill>
                  <a:srgbClr val="5D6B7B"/>
                </a:solidFill>
              </a:rPr>
              <a:t>canvas</a:t>
            </a:r>
            <a:endParaRPr lang="en-US" sz="1000" dirty="0"/>
          </a:p>
        </p:txBody>
      </p:sp>
      <p:sp>
        <p:nvSpPr>
          <p:cNvPr id="17" name="Shape 15"/>
          <p:cNvSpPr/>
          <p:nvPr/>
        </p:nvSpPr>
        <p:spPr>
          <a:xfrm>
            <a:off x="9948672" y="2468880"/>
            <a:ext cx="658368" cy="1371600"/>
          </a:xfrm>
          <a:prstGeom prst="roundRect">
            <a:avLst>
              <a:gd name="adj" fmla="val 11111"/>
            </a:avLst>
          </a:prstGeom>
          <a:solidFill>
            <a:srgbClr val="F3F5F8"/>
          </a:solidFill>
          <a:ln w="12700">
            <a:solidFill>
              <a:srgbClr val="D7DEE7"/>
            </a:solidFill>
            <a:prstDash val="solid"/>
          </a:ln>
        </p:spPr>
      </p:sp>
      <p:sp>
        <p:nvSpPr>
          <p:cNvPr id="18" name="Shape 16"/>
          <p:cNvSpPr/>
          <p:nvPr/>
        </p:nvSpPr>
        <p:spPr>
          <a:xfrm>
            <a:off x="9948672" y="2468880"/>
            <a:ext cx="658368" cy="219456"/>
          </a:xfrm>
          <a:prstGeom prst="rect">
            <a:avLst/>
          </a:prstGeom>
          <a:solidFill>
            <a:srgbClr val="EEF2F7"/>
          </a:solidFill>
          <a:ln w="12700">
            <a:solidFill>
              <a:srgbClr val="D7DEE7"/>
            </a:solidFill>
            <a:prstDash val="solid"/>
          </a:ln>
        </p:spPr>
      </p:sp>
      <p:sp>
        <p:nvSpPr>
          <p:cNvPr id="19" name="Text 17"/>
          <p:cNvSpPr/>
          <p:nvPr/>
        </p:nvSpPr>
        <p:spPr>
          <a:xfrm>
            <a:off x="10058400" y="2523744"/>
            <a:ext cx="438912" cy="91440"/>
          </a:xfrm>
          <a:prstGeom prst="rect">
            <a:avLst/>
          </a:prstGeom>
          <a:noFill/>
          <a:ln/>
        </p:spPr>
        <p:txBody>
          <a:bodyPr wrap="square" lIns="0" tIns="0" rIns="0" bIns="0" rtlCol="0" anchor="ctr"/>
          <a:lstStyle/>
          <a:p>
            <a:pPr indent="0" marL="0">
              <a:buNone/>
            </a:pPr>
            <a:r>
              <a:rPr lang="en-US" sz="920" b="1" dirty="0">
                <a:solidFill>
                  <a:srgbClr val="19212B"/>
                </a:solidFill>
              </a:rPr>
              <a:t>AI guidance</a:t>
            </a:r>
            <a:endParaRPr lang="en-US" sz="920" dirty="0"/>
          </a:p>
        </p:txBody>
      </p:sp>
      <p:sp>
        <p:nvSpPr>
          <p:cNvPr id="20" name="Text 18"/>
          <p:cNvSpPr/>
          <p:nvPr/>
        </p:nvSpPr>
        <p:spPr>
          <a:xfrm>
            <a:off x="10058400" y="3081528"/>
            <a:ext cx="438912" cy="146304"/>
          </a:xfrm>
          <a:prstGeom prst="rect">
            <a:avLst/>
          </a:prstGeom>
          <a:noFill/>
          <a:ln/>
        </p:spPr>
        <p:txBody>
          <a:bodyPr wrap="square" lIns="0" tIns="0" rIns="0" bIns="0" rtlCol="0" anchor="ctr"/>
          <a:lstStyle/>
          <a:p>
            <a:pPr algn="ctr" indent="0" marL="0">
              <a:buNone/>
            </a:pPr>
            <a:r>
              <a:rPr lang="en-US" sz="1000" dirty="0">
                <a:solidFill>
                  <a:srgbClr val="5D6B7B"/>
                </a:solidFill>
              </a:rPr>
              <a:t>Insights</a:t>
            </a:r>
            <a:endParaRPr lang="en-US" sz="1000" dirty="0"/>
          </a:p>
          <a:p>
            <a:pPr algn="ctr" indent="0" marL="0">
              <a:buNone/>
            </a:pPr>
            <a:r>
              <a:rPr lang="en-US" sz="1000" dirty="0">
                <a:solidFill>
                  <a:srgbClr val="5D6B7B"/>
                </a:solidFill>
              </a:rPr>
              <a:t>panel</a:t>
            </a:r>
            <a:endParaRPr lang="en-US" sz="1000" dirty="0"/>
          </a:p>
        </p:txBody>
      </p:sp>
      <p:sp>
        <p:nvSpPr>
          <p:cNvPr id="21" name="Shape 19"/>
          <p:cNvSpPr/>
          <p:nvPr/>
        </p:nvSpPr>
        <p:spPr>
          <a:xfrm>
            <a:off x="9262872" y="4005072"/>
            <a:ext cx="1344168" cy="822960"/>
          </a:xfrm>
          <a:prstGeom prst="roundRect">
            <a:avLst>
              <a:gd name="adj" fmla="val 8889"/>
            </a:avLst>
          </a:prstGeom>
          <a:solidFill>
            <a:srgbClr val="F3F5F8"/>
          </a:solidFill>
          <a:ln w="12700">
            <a:solidFill>
              <a:srgbClr val="D7DEE7"/>
            </a:solidFill>
            <a:prstDash val="solid"/>
          </a:ln>
        </p:spPr>
      </p:sp>
      <p:sp>
        <p:nvSpPr>
          <p:cNvPr id="22" name="Shape 20"/>
          <p:cNvSpPr/>
          <p:nvPr/>
        </p:nvSpPr>
        <p:spPr>
          <a:xfrm>
            <a:off x="9262872" y="4005072"/>
            <a:ext cx="1344168" cy="219456"/>
          </a:xfrm>
          <a:prstGeom prst="rect">
            <a:avLst/>
          </a:prstGeom>
          <a:solidFill>
            <a:srgbClr val="EEF2F7"/>
          </a:solidFill>
          <a:ln w="12700">
            <a:solidFill>
              <a:srgbClr val="D7DEE7"/>
            </a:solidFill>
            <a:prstDash val="solid"/>
          </a:ln>
        </p:spPr>
      </p:sp>
      <p:sp>
        <p:nvSpPr>
          <p:cNvPr id="23" name="Text 21"/>
          <p:cNvSpPr/>
          <p:nvPr/>
        </p:nvSpPr>
        <p:spPr>
          <a:xfrm>
            <a:off x="9372600" y="4059936"/>
            <a:ext cx="1124712" cy="91440"/>
          </a:xfrm>
          <a:prstGeom prst="rect">
            <a:avLst/>
          </a:prstGeom>
          <a:noFill/>
          <a:ln/>
        </p:spPr>
        <p:txBody>
          <a:bodyPr wrap="square" lIns="0" tIns="0" rIns="0" bIns="0" rtlCol="0" anchor="ctr"/>
          <a:lstStyle/>
          <a:p>
            <a:pPr indent="0" marL="0">
              <a:buNone/>
            </a:pPr>
            <a:r>
              <a:rPr lang="en-US" sz="920" b="1" dirty="0">
                <a:solidFill>
                  <a:srgbClr val="19212B"/>
                </a:solidFill>
              </a:rPr>
              <a:t>Trust</a:t>
            </a:r>
            <a:endParaRPr lang="en-US" sz="920" dirty="0"/>
          </a:p>
        </p:txBody>
      </p:sp>
      <p:sp>
        <p:nvSpPr>
          <p:cNvPr id="24" name="Text 22"/>
          <p:cNvSpPr/>
          <p:nvPr/>
        </p:nvSpPr>
        <p:spPr>
          <a:xfrm>
            <a:off x="9372600" y="4343400"/>
            <a:ext cx="1124712" cy="146304"/>
          </a:xfrm>
          <a:prstGeom prst="rect">
            <a:avLst/>
          </a:prstGeom>
          <a:noFill/>
          <a:ln/>
        </p:spPr>
        <p:txBody>
          <a:bodyPr wrap="square" lIns="0" tIns="0" rIns="0" bIns="0" rtlCol="0" anchor="ctr"/>
          <a:lstStyle/>
          <a:p>
            <a:pPr algn="ctr" indent="0" marL="0">
              <a:buNone/>
            </a:pPr>
            <a:r>
              <a:rPr lang="en-US" sz="1000" dirty="0">
                <a:solidFill>
                  <a:srgbClr val="5D6B7B"/>
                </a:solidFill>
              </a:rPr>
              <a:t>Evaluation &amp; release gate</a:t>
            </a:r>
            <a:endParaRPr lang="en-US" sz="1000" dirty="0"/>
          </a:p>
        </p:txBody>
      </p:sp>
      <p:sp>
        <p:nvSpPr>
          <p:cNvPr id="25" name="Shape 23"/>
          <p:cNvSpPr/>
          <p:nvPr/>
        </p:nvSpPr>
        <p:spPr>
          <a:xfrm>
            <a:off x="7909560" y="822960"/>
            <a:ext cx="0" cy="5257800"/>
          </a:xfrm>
          <a:prstGeom prst="line">
            <a:avLst/>
          </a:prstGeom>
          <a:noFill/>
          <a:ln w="12700">
            <a:solidFill>
              <a:srgbClr val="E3E8EF"/>
            </a:solidFill>
            <a:prstDash val="solid"/>
          </a:ln>
        </p:spPr>
      </p:sp>
      <p:sp>
        <p:nvSpPr>
          <p:cNvPr id="26" name="Text 24"/>
          <p:cNvSpPr/>
          <p:nvPr/>
        </p:nvSpPr>
        <p:spPr>
          <a:xfrm>
            <a:off x="731520" y="1097280"/>
            <a:ext cx="5303520" cy="411480"/>
          </a:xfrm>
          <a:prstGeom prst="rect">
            <a:avLst/>
          </a:prstGeom>
          <a:noFill/>
          <a:ln/>
        </p:spPr>
        <p:txBody>
          <a:bodyPr wrap="square" lIns="0" tIns="0" rIns="0" bIns="0" rtlCol="0" anchor="ctr"/>
          <a:lstStyle/>
          <a:p>
            <a:pPr indent="0" marL="0">
              <a:buNone/>
            </a:pPr>
            <a:r>
              <a:rPr lang="en-US" sz="3000" b="1" dirty="0">
                <a:solidFill>
                  <a:srgbClr val="19212B"/>
                </a:solidFill>
                <a:latin typeface="Aptos Display" pitchFamily="34" charset="0"/>
                <a:ea typeface="Aptos Display" pitchFamily="34" charset="-122"/>
                <a:cs typeface="Aptos Display" pitchFamily="34" charset="-120"/>
              </a:rPr>
              <a:t>Agent Architect Pro</a:t>
            </a:r>
            <a:endParaRPr lang="en-US" sz="3000" dirty="0"/>
          </a:p>
        </p:txBody>
      </p:sp>
      <p:sp>
        <p:nvSpPr>
          <p:cNvPr id="27" name="Text 25"/>
          <p:cNvSpPr/>
          <p:nvPr/>
        </p:nvSpPr>
        <p:spPr>
          <a:xfrm>
            <a:off x="731520" y="1572768"/>
            <a:ext cx="4206240" cy="310896"/>
          </a:xfrm>
          <a:prstGeom prst="rect">
            <a:avLst/>
          </a:prstGeom>
          <a:noFill/>
          <a:ln/>
        </p:spPr>
        <p:txBody>
          <a:bodyPr wrap="square" lIns="0" tIns="0" rIns="0" bIns="0" rtlCol="0" anchor="ctr"/>
          <a:lstStyle/>
          <a:p>
            <a:pPr indent="0" marL="0">
              <a:buNone/>
            </a:pPr>
            <a:r>
              <a:rPr lang="en-US" sz="1800" b="1" dirty="0">
                <a:solidFill>
                  <a:srgbClr val="2F6BFF"/>
                </a:solidFill>
              </a:rPr>
              <a:t>UI/UX wireframe deck</a:t>
            </a:r>
            <a:endParaRPr lang="en-US" sz="1800" dirty="0"/>
          </a:p>
        </p:txBody>
      </p:sp>
      <p:sp>
        <p:nvSpPr>
          <p:cNvPr id="28" name="Text 26"/>
          <p:cNvSpPr/>
          <p:nvPr/>
        </p:nvSpPr>
        <p:spPr>
          <a:xfrm>
            <a:off x="731520" y="2048256"/>
            <a:ext cx="6035040" cy="658368"/>
          </a:xfrm>
          <a:prstGeom prst="rect">
            <a:avLst/>
          </a:prstGeom>
          <a:noFill/>
          <a:ln/>
        </p:spPr>
        <p:txBody>
          <a:bodyPr wrap="square" lIns="0" tIns="0" rIns="0" bIns="0" rtlCol="0" anchor="ctr"/>
          <a:lstStyle/>
          <a:p>
            <a:pPr indent="0" marL="0">
              <a:buNone/>
            </a:pPr>
            <a:r>
              <a:rPr lang="en-US" sz="1500" dirty="0">
                <a:solidFill>
                  <a:srgbClr val="5D6B7B"/>
                </a:solidFill>
              </a:rPr>
              <a:t>A professional interaction model for an AI-native agent design and operations studio — built around the agent lifecycle rather than backend services.</a:t>
            </a:r>
            <a:endParaRPr lang="en-US" sz="1500" dirty="0"/>
          </a:p>
        </p:txBody>
      </p:sp>
      <p:sp>
        <p:nvSpPr>
          <p:cNvPr id="29" name="Shape 27"/>
          <p:cNvSpPr/>
          <p:nvPr/>
        </p:nvSpPr>
        <p:spPr>
          <a:xfrm>
            <a:off x="749808" y="2907792"/>
            <a:ext cx="1444752" cy="256032"/>
          </a:xfrm>
          <a:prstGeom prst="roundRect">
            <a:avLst>
              <a:gd name="adj" fmla="val 28571"/>
            </a:avLst>
          </a:prstGeom>
          <a:solidFill>
            <a:srgbClr val="EAF1FF"/>
          </a:solidFill>
          <a:ln w="12700">
            <a:solidFill>
              <a:srgbClr val="EAF1FF">
                <a:alpha val="0"/>
              </a:srgbClr>
            </a:solidFill>
            <a:prstDash val="solid"/>
          </a:ln>
        </p:spPr>
      </p:sp>
      <p:sp>
        <p:nvSpPr>
          <p:cNvPr id="30" name="Text 28"/>
          <p:cNvSpPr/>
          <p:nvPr/>
        </p:nvSpPr>
        <p:spPr>
          <a:xfrm>
            <a:off x="841248" y="2953512"/>
            <a:ext cx="1261872" cy="146304"/>
          </a:xfrm>
          <a:prstGeom prst="rect">
            <a:avLst/>
          </a:prstGeom>
          <a:noFill/>
          <a:ln/>
        </p:spPr>
        <p:txBody>
          <a:bodyPr wrap="square" lIns="0" tIns="0" rIns="0" bIns="0" rtlCol="0" anchor="ctr"/>
          <a:lstStyle/>
          <a:p>
            <a:pPr algn="ctr" indent="0" marL="0">
              <a:buNone/>
            </a:pPr>
            <a:r>
              <a:rPr lang="en-US" sz="1000" b="1" dirty="0">
                <a:solidFill>
                  <a:srgbClr val="2F6BFF"/>
                </a:solidFill>
              </a:rPr>
              <a:t>Goal-first</a:t>
            </a:r>
            <a:endParaRPr lang="en-US" sz="1000" dirty="0"/>
          </a:p>
        </p:txBody>
      </p:sp>
      <p:sp>
        <p:nvSpPr>
          <p:cNvPr id="31" name="Shape 29"/>
          <p:cNvSpPr/>
          <p:nvPr/>
        </p:nvSpPr>
        <p:spPr>
          <a:xfrm>
            <a:off x="2304288" y="2907792"/>
            <a:ext cx="1755648" cy="256032"/>
          </a:xfrm>
          <a:prstGeom prst="roundRect">
            <a:avLst>
              <a:gd name="adj" fmla="val 28571"/>
            </a:avLst>
          </a:prstGeom>
          <a:solidFill>
            <a:srgbClr val="EAF1FF"/>
          </a:solidFill>
          <a:ln w="12700">
            <a:solidFill>
              <a:srgbClr val="EAF1FF">
                <a:alpha val="0"/>
              </a:srgbClr>
            </a:solidFill>
            <a:prstDash val="solid"/>
          </a:ln>
        </p:spPr>
      </p:sp>
      <p:sp>
        <p:nvSpPr>
          <p:cNvPr id="32" name="Text 30"/>
          <p:cNvSpPr/>
          <p:nvPr/>
        </p:nvSpPr>
        <p:spPr>
          <a:xfrm>
            <a:off x="2395728" y="2953512"/>
            <a:ext cx="1572768" cy="146304"/>
          </a:xfrm>
          <a:prstGeom prst="rect">
            <a:avLst/>
          </a:prstGeom>
          <a:noFill/>
          <a:ln/>
        </p:spPr>
        <p:txBody>
          <a:bodyPr wrap="square" lIns="0" tIns="0" rIns="0" bIns="0" rtlCol="0" anchor="ctr"/>
          <a:lstStyle/>
          <a:p>
            <a:pPr algn="ctr" indent="0" marL="0">
              <a:buNone/>
            </a:pPr>
            <a:r>
              <a:rPr lang="en-US" sz="1000" b="1" dirty="0">
                <a:solidFill>
                  <a:srgbClr val="2F6BFF"/>
                </a:solidFill>
              </a:rPr>
              <a:t>Progressive disclosure</a:t>
            </a:r>
            <a:endParaRPr lang="en-US" sz="1000" dirty="0"/>
          </a:p>
        </p:txBody>
      </p:sp>
      <p:sp>
        <p:nvSpPr>
          <p:cNvPr id="33" name="Shape 31"/>
          <p:cNvSpPr/>
          <p:nvPr/>
        </p:nvSpPr>
        <p:spPr>
          <a:xfrm>
            <a:off x="4224528" y="2907792"/>
            <a:ext cx="1353312" cy="256032"/>
          </a:xfrm>
          <a:prstGeom prst="roundRect">
            <a:avLst>
              <a:gd name="adj" fmla="val 28571"/>
            </a:avLst>
          </a:prstGeom>
          <a:solidFill>
            <a:srgbClr val="EAF1FF"/>
          </a:solidFill>
          <a:ln w="12700">
            <a:solidFill>
              <a:srgbClr val="EAF1FF">
                <a:alpha val="0"/>
              </a:srgbClr>
            </a:solidFill>
            <a:prstDash val="solid"/>
          </a:ln>
        </p:spPr>
      </p:sp>
      <p:sp>
        <p:nvSpPr>
          <p:cNvPr id="34" name="Text 32"/>
          <p:cNvSpPr/>
          <p:nvPr/>
        </p:nvSpPr>
        <p:spPr>
          <a:xfrm>
            <a:off x="4315968" y="2953512"/>
            <a:ext cx="1170432" cy="146304"/>
          </a:xfrm>
          <a:prstGeom prst="rect">
            <a:avLst/>
          </a:prstGeom>
          <a:noFill/>
          <a:ln/>
        </p:spPr>
        <p:txBody>
          <a:bodyPr wrap="square" lIns="0" tIns="0" rIns="0" bIns="0" rtlCol="0" anchor="ctr"/>
          <a:lstStyle/>
          <a:p>
            <a:pPr algn="ctr" indent="0" marL="0">
              <a:buNone/>
            </a:pPr>
            <a:r>
              <a:rPr lang="en-US" sz="1000" b="1" dirty="0">
                <a:solidFill>
                  <a:srgbClr val="2F6BFF"/>
                </a:solidFill>
              </a:rPr>
              <a:t>Trust-centered</a:t>
            </a:r>
            <a:endParaRPr lang="en-US" sz="1000" dirty="0"/>
          </a:p>
        </p:txBody>
      </p:sp>
      <p:sp>
        <p:nvSpPr>
          <p:cNvPr id="35" name="Shape 33"/>
          <p:cNvSpPr/>
          <p:nvPr/>
        </p:nvSpPr>
        <p:spPr>
          <a:xfrm>
            <a:off x="749808" y="3273552"/>
            <a:ext cx="1600200" cy="256032"/>
          </a:xfrm>
          <a:prstGeom prst="roundRect">
            <a:avLst>
              <a:gd name="adj" fmla="val 28571"/>
            </a:avLst>
          </a:prstGeom>
          <a:solidFill>
            <a:srgbClr val="EAF1FF"/>
          </a:solidFill>
          <a:ln w="12700">
            <a:solidFill>
              <a:srgbClr val="EAF1FF">
                <a:alpha val="0"/>
              </a:srgbClr>
            </a:solidFill>
            <a:prstDash val="solid"/>
          </a:ln>
        </p:spPr>
      </p:sp>
      <p:sp>
        <p:nvSpPr>
          <p:cNvPr id="36" name="Text 34"/>
          <p:cNvSpPr/>
          <p:nvPr/>
        </p:nvSpPr>
        <p:spPr>
          <a:xfrm>
            <a:off x="841248" y="3319272"/>
            <a:ext cx="1417320" cy="146304"/>
          </a:xfrm>
          <a:prstGeom prst="rect">
            <a:avLst/>
          </a:prstGeom>
          <a:noFill/>
          <a:ln/>
        </p:spPr>
        <p:txBody>
          <a:bodyPr wrap="square" lIns="0" tIns="0" rIns="0" bIns="0" rtlCol="0" anchor="ctr"/>
          <a:lstStyle/>
          <a:p>
            <a:pPr algn="ctr" indent="0" marL="0">
              <a:buNone/>
            </a:pPr>
            <a:r>
              <a:rPr lang="en-US" sz="1000" b="1" dirty="0">
                <a:solidFill>
                  <a:srgbClr val="2F6BFF"/>
                </a:solidFill>
              </a:rPr>
              <a:t>Operational clarity</a:t>
            </a:r>
            <a:endParaRPr lang="en-US" sz="1000" dirty="0"/>
          </a:p>
        </p:txBody>
      </p:sp>
      <p:sp>
        <p:nvSpPr>
          <p:cNvPr id="37" name="Shape 35"/>
          <p:cNvSpPr/>
          <p:nvPr/>
        </p:nvSpPr>
        <p:spPr>
          <a:xfrm>
            <a:off x="2496312" y="3273552"/>
            <a:ext cx="1508760" cy="256032"/>
          </a:xfrm>
          <a:prstGeom prst="roundRect">
            <a:avLst>
              <a:gd name="adj" fmla="val 28571"/>
            </a:avLst>
          </a:prstGeom>
          <a:solidFill>
            <a:srgbClr val="EAF1FF"/>
          </a:solidFill>
          <a:ln w="12700">
            <a:solidFill>
              <a:srgbClr val="EAF1FF">
                <a:alpha val="0"/>
              </a:srgbClr>
            </a:solidFill>
            <a:prstDash val="solid"/>
          </a:ln>
        </p:spPr>
      </p:sp>
      <p:sp>
        <p:nvSpPr>
          <p:cNvPr id="38" name="Text 36"/>
          <p:cNvSpPr/>
          <p:nvPr/>
        </p:nvSpPr>
        <p:spPr>
          <a:xfrm>
            <a:off x="2587752" y="3319272"/>
            <a:ext cx="1325880" cy="146304"/>
          </a:xfrm>
          <a:prstGeom prst="rect">
            <a:avLst/>
          </a:prstGeom>
          <a:noFill/>
          <a:ln/>
        </p:spPr>
        <p:txBody>
          <a:bodyPr wrap="square" lIns="0" tIns="0" rIns="0" bIns="0" rtlCol="0" anchor="ctr"/>
          <a:lstStyle/>
          <a:p>
            <a:pPr algn="ctr" indent="0" marL="0">
              <a:buNone/>
            </a:pPr>
            <a:r>
              <a:rPr lang="en-US" sz="1000" b="1" dirty="0">
                <a:solidFill>
                  <a:srgbClr val="2F6BFF"/>
                </a:solidFill>
              </a:rPr>
              <a:t>Decision support</a:t>
            </a:r>
            <a:endParaRPr lang="en-US" sz="1000" dirty="0"/>
          </a:p>
        </p:txBody>
      </p:sp>
      <p:sp>
        <p:nvSpPr>
          <p:cNvPr id="39" name="Shape 37"/>
          <p:cNvSpPr/>
          <p:nvPr/>
        </p:nvSpPr>
        <p:spPr>
          <a:xfrm>
            <a:off x="4169664" y="3273552"/>
            <a:ext cx="1335024" cy="256032"/>
          </a:xfrm>
          <a:prstGeom prst="roundRect">
            <a:avLst>
              <a:gd name="adj" fmla="val 28571"/>
            </a:avLst>
          </a:prstGeom>
          <a:solidFill>
            <a:srgbClr val="EAF1FF"/>
          </a:solidFill>
          <a:ln w="12700">
            <a:solidFill>
              <a:srgbClr val="EAF1FF">
                <a:alpha val="0"/>
              </a:srgbClr>
            </a:solidFill>
            <a:prstDash val="solid"/>
          </a:ln>
        </p:spPr>
      </p:sp>
      <p:sp>
        <p:nvSpPr>
          <p:cNvPr id="40" name="Text 38"/>
          <p:cNvSpPr/>
          <p:nvPr/>
        </p:nvSpPr>
        <p:spPr>
          <a:xfrm>
            <a:off x="4261104" y="3319272"/>
            <a:ext cx="1152144" cy="146304"/>
          </a:xfrm>
          <a:prstGeom prst="rect">
            <a:avLst/>
          </a:prstGeom>
          <a:noFill/>
          <a:ln/>
        </p:spPr>
        <p:txBody>
          <a:bodyPr wrap="square" lIns="0" tIns="0" rIns="0" bIns="0" rtlCol="0" anchor="ctr"/>
          <a:lstStyle/>
          <a:p>
            <a:pPr algn="ctr" indent="0" marL="0">
              <a:buNone/>
            </a:pPr>
            <a:r>
              <a:rPr lang="en-US" sz="1000" b="1" dirty="0">
                <a:solidFill>
                  <a:srgbClr val="2F6BFF"/>
                </a:solidFill>
              </a:rPr>
              <a:t>Release-safe</a:t>
            </a:r>
            <a:endParaRPr lang="en-US" sz="1000" dirty="0"/>
          </a:p>
        </p:txBody>
      </p:sp>
      <p:sp>
        <p:nvSpPr>
          <p:cNvPr id="41" name="Text 39"/>
          <p:cNvSpPr/>
          <p:nvPr/>
        </p:nvSpPr>
        <p:spPr>
          <a:xfrm>
            <a:off x="731520" y="4069080"/>
            <a:ext cx="1645920" cy="164592"/>
          </a:xfrm>
          <a:prstGeom prst="rect">
            <a:avLst/>
          </a:prstGeom>
          <a:noFill/>
          <a:ln/>
        </p:spPr>
        <p:txBody>
          <a:bodyPr wrap="square" lIns="0" tIns="0" rIns="0" bIns="0" rtlCol="0" anchor="ctr"/>
          <a:lstStyle/>
          <a:p>
            <a:pPr indent="0" marL="0">
              <a:buNone/>
            </a:pPr>
            <a:r>
              <a:rPr lang="en-US" sz="1250" b="1" dirty="0">
                <a:solidFill>
                  <a:srgbClr val="19212B"/>
                </a:solidFill>
              </a:rPr>
              <a:t>Deck contents</a:t>
            </a:r>
            <a:endParaRPr lang="en-US" sz="1250" dirty="0"/>
          </a:p>
        </p:txBody>
      </p:sp>
      <p:sp>
        <p:nvSpPr>
          <p:cNvPr id="42" name="Text 40"/>
          <p:cNvSpPr/>
          <p:nvPr/>
        </p:nvSpPr>
        <p:spPr>
          <a:xfrm>
            <a:off x="731520" y="4297680"/>
            <a:ext cx="6217920" cy="566928"/>
          </a:xfrm>
          <a:prstGeom prst="rect">
            <a:avLst/>
          </a:prstGeom>
          <a:noFill/>
          <a:ln/>
        </p:spPr>
        <p:txBody>
          <a:bodyPr wrap="square" lIns="0" tIns="0" rIns="0" bIns="0" rtlCol="0" anchor="ctr"/>
          <a:lstStyle/>
          <a:p>
            <a:pPr indent="0" marL="0">
              <a:buNone/>
            </a:pPr>
            <a:r>
              <a:rPr lang="en-US" sz="1220" dirty="0">
                <a:solidFill>
                  <a:srgbClr val="5D6B7B"/>
                </a:solidFill>
              </a:rPr>
              <a:t>North-star experience • Information architecture • Core screen wireframes • Evaluation and release patterns • Runtime and observability views • Design system cues</a:t>
            </a:r>
            <a:endParaRPr lang="en-US" sz="1220" dirty="0"/>
          </a:p>
        </p:txBody>
      </p:sp>
      <p:sp>
        <p:nvSpPr>
          <p:cNvPr id="43" name="Text 41"/>
          <p:cNvSpPr/>
          <p:nvPr/>
        </p:nvSpPr>
        <p:spPr>
          <a:xfrm>
            <a:off x="594360" y="6473952"/>
            <a:ext cx="4389120" cy="164592"/>
          </a:xfrm>
          <a:prstGeom prst="rect">
            <a:avLst/>
          </a:prstGeom>
          <a:noFill/>
          <a:ln/>
        </p:spPr>
        <p:txBody>
          <a:bodyPr wrap="square" lIns="0" tIns="0" rIns="0" bIns="0" rtlCol="0" anchor="ctr"/>
          <a:lstStyle/>
          <a:p>
            <a:pPr indent="0" marL="0">
              <a:buNone/>
            </a:pPr>
            <a:r>
              <a:rPr lang="en-US" sz="900" dirty="0">
                <a:solidFill>
                  <a:srgbClr val="7A8794"/>
                </a:solidFill>
              </a:rPr>
              <a:t>Agent Architect Pro — UX wireframe direction</a:t>
            </a:r>
            <a:endParaRPr lang="en-US" sz="900" dirty="0"/>
          </a:p>
        </p:txBody>
      </p:sp>
      <p:sp>
        <p:nvSpPr>
          <p:cNvPr id="44" name="Text 42"/>
          <p:cNvSpPr/>
          <p:nvPr/>
        </p:nvSpPr>
        <p:spPr>
          <a:xfrm>
            <a:off x="11292840" y="6437376"/>
            <a:ext cx="274320" cy="182880"/>
          </a:xfrm>
          <a:prstGeom prst="rect">
            <a:avLst/>
          </a:prstGeom>
          <a:noFill/>
          <a:ln/>
        </p:spPr>
        <p:txBody>
          <a:bodyPr wrap="square" lIns="0" tIns="0" rIns="0" bIns="0" rtlCol="0" anchor="ctr"/>
          <a:lstStyle/>
          <a:p>
            <a:pPr algn="r" indent="0" marL="0">
              <a:buNone/>
            </a:pPr>
            <a:r>
              <a:rPr lang="en-US" sz="1000" dirty="0">
                <a:solidFill>
                  <a:srgbClr val="7A8794"/>
                </a:solidFill>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0040"/>
            <a:ext cx="8046720" cy="384048"/>
          </a:xfrm>
          <a:prstGeom prst="rect">
            <a:avLst/>
          </a:prstGeom>
          <a:noFill/>
          <a:ln/>
        </p:spPr>
        <p:txBody>
          <a:bodyPr wrap="square" lIns="0" tIns="0" rIns="0" bIns="0" rtlCol="0" anchor="ctr"/>
          <a:lstStyle/>
          <a:p>
            <a:pPr indent="0" marL="0">
              <a:buNone/>
            </a:pPr>
            <a:r>
              <a:rPr lang="en-US" sz="2800" b="1" dirty="0">
                <a:solidFill>
                  <a:srgbClr val="19212B"/>
                </a:solidFill>
                <a:latin typeface="Aptos Display" pitchFamily="34" charset="0"/>
                <a:ea typeface="Aptos Display" pitchFamily="34" charset="-122"/>
                <a:cs typeface="Aptos Display" pitchFamily="34" charset="-120"/>
              </a:rPr>
              <a:t>North-star product experience</a:t>
            </a:r>
            <a:endParaRPr lang="en-US" sz="2800" dirty="0"/>
          </a:p>
        </p:txBody>
      </p:sp>
      <p:sp>
        <p:nvSpPr>
          <p:cNvPr id="3" name="Text 1"/>
          <p:cNvSpPr/>
          <p:nvPr/>
        </p:nvSpPr>
        <p:spPr>
          <a:xfrm>
            <a:off x="594360" y="749808"/>
            <a:ext cx="9692640" cy="310896"/>
          </a:xfrm>
          <a:prstGeom prst="rect">
            <a:avLst/>
          </a:prstGeom>
          <a:noFill/>
          <a:ln/>
        </p:spPr>
        <p:txBody>
          <a:bodyPr wrap="square" lIns="0" tIns="0" rIns="0" bIns="0" rtlCol="0" anchor="ctr"/>
          <a:lstStyle/>
          <a:p>
            <a:pPr indent="0" marL="0">
              <a:buNone/>
            </a:pPr>
            <a:r>
              <a:rPr lang="en-US" sz="1250" dirty="0">
                <a:solidFill>
                  <a:srgbClr val="5D6B7B"/>
                </a:solidFill>
              </a:rPr>
              <a:t>The platform should feel like one coherent studio that guides a user from fuzzy intent to safe deployment and continuous improvement.</a:t>
            </a:r>
            <a:endParaRPr lang="en-US" sz="1250" dirty="0"/>
          </a:p>
        </p:txBody>
      </p:sp>
      <p:sp>
        <p:nvSpPr>
          <p:cNvPr id="4" name="Shape 2"/>
          <p:cNvSpPr/>
          <p:nvPr/>
        </p:nvSpPr>
        <p:spPr>
          <a:xfrm>
            <a:off x="603504" y="1115568"/>
            <a:ext cx="1920240" cy="256032"/>
          </a:xfrm>
          <a:prstGeom prst="roundRect">
            <a:avLst>
              <a:gd name="adj" fmla="val 28571"/>
            </a:avLst>
          </a:prstGeom>
          <a:solidFill>
            <a:srgbClr val="EAF1FF"/>
          </a:solidFill>
          <a:ln w="12700">
            <a:solidFill>
              <a:srgbClr val="EAF1FF">
                <a:alpha val="0"/>
              </a:srgbClr>
            </a:solidFill>
            <a:prstDash val="solid"/>
          </a:ln>
        </p:spPr>
      </p:sp>
      <p:sp>
        <p:nvSpPr>
          <p:cNvPr id="5" name="Text 3"/>
          <p:cNvSpPr/>
          <p:nvPr/>
        </p:nvSpPr>
        <p:spPr>
          <a:xfrm>
            <a:off x="694944" y="1161288"/>
            <a:ext cx="1737360" cy="146304"/>
          </a:xfrm>
          <a:prstGeom prst="rect">
            <a:avLst/>
          </a:prstGeom>
          <a:noFill/>
          <a:ln/>
        </p:spPr>
        <p:txBody>
          <a:bodyPr wrap="square" lIns="0" tIns="0" rIns="0" bIns="0" rtlCol="0" anchor="ctr"/>
          <a:lstStyle/>
          <a:p>
            <a:pPr algn="ctr" indent="0" marL="0">
              <a:buNone/>
            </a:pPr>
            <a:r>
              <a:rPr lang="en-US" sz="1000" b="1" dirty="0">
                <a:solidFill>
                  <a:srgbClr val="2F6BFF"/>
                </a:solidFill>
              </a:rPr>
              <a:t>Primary framing: agent lifecycle</a:t>
            </a:r>
            <a:endParaRPr lang="en-US" sz="1000" dirty="0"/>
          </a:p>
        </p:txBody>
      </p:sp>
      <p:sp>
        <p:nvSpPr>
          <p:cNvPr id="6" name="Shape 4"/>
          <p:cNvSpPr/>
          <p:nvPr/>
        </p:nvSpPr>
        <p:spPr>
          <a:xfrm>
            <a:off x="777240" y="1828800"/>
            <a:ext cx="1490472" cy="1280160"/>
          </a:xfrm>
          <a:prstGeom prst="roundRect">
            <a:avLst>
              <a:gd name="adj" fmla="val 8571"/>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7" name="Shape 5"/>
          <p:cNvSpPr/>
          <p:nvPr/>
        </p:nvSpPr>
        <p:spPr>
          <a:xfrm>
            <a:off x="886968" y="1938528"/>
            <a:ext cx="384048" cy="256032"/>
          </a:xfrm>
          <a:prstGeom prst="roundRect">
            <a:avLst>
              <a:gd name="adj" fmla="val 28571"/>
            </a:avLst>
          </a:prstGeom>
          <a:solidFill>
            <a:srgbClr val="EAF1FF"/>
          </a:solidFill>
          <a:ln w="12700">
            <a:solidFill>
              <a:srgbClr val="EAF1FF">
                <a:alpha val="0"/>
              </a:srgbClr>
            </a:solidFill>
            <a:prstDash val="solid"/>
          </a:ln>
        </p:spPr>
      </p:sp>
      <p:sp>
        <p:nvSpPr>
          <p:cNvPr id="8" name="Text 6"/>
          <p:cNvSpPr/>
          <p:nvPr/>
        </p:nvSpPr>
        <p:spPr>
          <a:xfrm>
            <a:off x="978408" y="1984248"/>
            <a:ext cx="201168" cy="146304"/>
          </a:xfrm>
          <a:prstGeom prst="rect">
            <a:avLst/>
          </a:prstGeom>
          <a:noFill/>
          <a:ln/>
        </p:spPr>
        <p:txBody>
          <a:bodyPr wrap="square" lIns="0" tIns="0" rIns="0" bIns="0" rtlCol="0" anchor="ctr"/>
          <a:lstStyle/>
          <a:p>
            <a:pPr algn="ctr" indent="0" marL="0">
              <a:buNone/>
            </a:pPr>
            <a:r>
              <a:rPr lang="en-US" sz="1000" b="1" dirty="0">
                <a:solidFill>
                  <a:srgbClr val="2F6BFF"/>
                </a:solidFill>
              </a:rPr>
              <a:t>1</a:t>
            </a:r>
            <a:endParaRPr lang="en-US" sz="1000" dirty="0"/>
          </a:p>
        </p:txBody>
      </p:sp>
      <p:sp>
        <p:nvSpPr>
          <p:cNvPr id="9" name="Text 7"/>
          <p:cNvSpPr/>
          <p:nvPr/>
        </p:nvSpPr>
        <p:spPr>
          <a:xfrm>
            <a:off x="886968" y="2304288"/>
            <a:ext cx="1271016" cy="182880"/>
          </a:xfrm>
          <a:prstGeom prst="rect">
            <a:avLst/>
          </a:prstGeom>
          <a:noFill/>
          <a:ln/>
        </p:spPr>
        <p:txBody>
          <a:bodyPr wrap="square" lIns="0" tIns="0" rIns="0" bIns="0" rtlCol="0" anchor="ctr"/>
          <a:lstStyle/>
          <a:p>
            <a:pPr algn="ctr" indent="0" marL="0">
              <a:buNone/>
            </a:pPr>
            <a:r>
              <a:rPr lang="en-US" sz="1500" b="1" dirty="0">
                <a:solidFill>
                  <a:srgbClr val="19212B"/>
                </a:solidFill>
              </a:rPr>
              <a:t>Brief</a:t>
            </a:r>
            <a:endParaRPr lang="en-US" sz="1500" dirty="0"/>
          </a:p>
        </p:txBody>
      </p:sp>
      <p:sp>
        <p:nvSpPr>
          <p:cNvPr id="10" name="Text 8"/>
          <p:cNvSpPr/>
          <p:nvPr/>
        </p:nvSpPr>
        <p:spPr>
          <a:xfrm>
            <a:off x="886968" y="2578608"/>
            <a:ext cx="1271016" cy="347472"/>
          </a:xfrm>
          <a:prstGeom prst="rect">
            <a:avLst/>
          </a:prstGeom>
          <a:noFill/>
          <a:ln/>
        </p:spPr>
        <p:txBody>
          <a:bodyPr wrap="square" lIns="0" tIns="0" rIns="0" bIns="0" rtlCol="0" anchor="ctr"/>
          <a:lstStyle/>
          <a:p>
            <a:pPr algn="ctr" indent="0" marL="0">
              <a:buNone/>
            </a:pPr>
            <a:r>
              <a:rPr lang="en-US" sz="950" dirty="0">
                <a:solidFill>
                  <a:srgbClr val="5D6B7B"/>
                </a:solidFill>
              </a:rPr>
              <a:t>Turn a goal into a structured agent brief</a:t>
            </a:r>
            <a:endParaRPr lang="en-US" sz="950" dirty="0"/>
          </a:p>
        </p:txBody>
      </p:sp>
      <p:sp>
        <p:nvSpPr>
          <p:cNvPr id="11" name="Shape 9"/>
          <p:cNvSpPr/>
          <p:nvPr/>
        </p:nvSpPr>
        <p:spPr>
          <a:xfrm>
            <a:off x="2267712" y="2468880"/>
            <a:ext cx="73152" cy="0"/>
          </a:xfrm>
          <a:prstGeom prst="line">
            <a:avLst/>
          </a:prstGeom>
          <a:noFill/>
          <a:ln w="12700">
            <a:solidFill>
              <a:srgbClr val="CBD4DF"/>
            </a:solidFill>
            <a:prstDash val="solid"/>
            <a:headEnd type="none"/>
            <a:tailEnd type="triangle"/>
          </a:ln>
        </p:spPr>
      </p:sp>
      <p:sp>
        <p:nvSpPr>
          <p:cNvPr id="12" name="Shape 10"/>
          <p:cNvSpPr/>
          <p:nvPr/>
        </p:nvSpPr>
        <p:spPr>
          <a:xfrm>
            <a:off x="2359152" y="1828800"/>
            <a:ext cx="1490472" cy="1280160"/>
          </a:xfrm>
          <a:prstGeom prst="roundRect">
            <a:avLst>
              <a:gd name="adj" fmla="val 8571"/>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13" name="Shape 11"/>
          <p:cNvSpPr/>
          <p:nvPr/>
        </p:nvSpPr>
        <p:spPr>
          <a:xfrm>
            <a:off x="2468880" y="1938528"/>
            <a:ext cx="384048" cy="256032"/>
          </a:xfrm>
          <a:prstGeom prst="roundRect">
            <a:avLst>
              <a:gd name="adj" fmla="val 28571"/>
            </a:avLst>
          </a:prstGeom>
          <a:solidFill>
            <a:srgbClr val="EAF1FF"/>
          </a:solidFill>
          <a:ln w="12700">
            <a:solidFill>
              <a:srgbClr val="EAF1FF">
                <a:alpha val="0"/>
              </a:srgbClr>
            </a:solidFill>
            <a:prstDash val="solid"/>
          </a:ln>
        </p:spPr>
      </p:sp>
      <p:sp>
        <p:nvSpPr>
          <p:cNvPr id="14" name="Text 12"/>
          <p:cNvSpPr/>
          <p:nvPr/>
        </p:nvSpPr>
        <p:spPr>
          <a:xfrm>
            <a:off x="2560320" y="1984248"/>
            <a:ext cx="201168" cy="146304"/>
          </a:xfrm>
          <a:prstGeom prst="rect">
            <a:avLst/>
          </a:prstGeom>
          <a:noFill/>
          <a:ln/>
        </p:spPr>
        <p:txBody>
          <a:bodyPr wrap="square" lIns="0" tIns="0" rIns="0" bIns="0" rtlCol="0" anchor="ctr"/>
          <a:lstStyle/>
          <a:p>
            <a:pPr algn="ctr" indent="0" marL="0">
              <a:buNone/>
            </a:pPr>
            <a:r>
              <a:rPr lang="en-US" sz="1000" b="1" dirty="0">
                <a:solidFill>
                  <a:srgbClr val="2F6BFF"/>
                </a:solidFill>
              </a:rPr>
              <a:t>2</a:t>
            </a:r>
            <a:endParaRPr lang="en-US" sz="1000" dirty="0"/>
          </a:p>
        </p:txBody>
      </p:sp>
      <p:sp>
        <p:nvSpPr>
          <p:cNvPr id="15" name="Text 13"/>
          <p:cNvSpPr/>
          <p:nvPr/>
        </p:nvSpPr>
        <p:spPr>
          <a:xfrm>
            <a:off x="2468880" y="2304288"/>
            <a:ext cx="1271016" cy="182880"/>
          </a:xfrm>
          <a:prstGeom prst="rect">
            <a:avLst/>
          </a:prstGeom>
          <a:noFill/>
          <a:ln/>
        </p:spPr>
        <p:txBody>
          <a:bodyPr wrap="square" lIns="0" tIns="0" rIns="0" bIns="0" rtlCol="0" anchor="ctr"/>
          <a:lstStyle/>
          <a:p>
            <a:pPr algn="ctr" indent="0" marL="0">
              <a:buNone/>
            </a:pPr>
            <a:r>
              <a:rPr lang="en-US" sz="1500" b="1" dirty="0">
                <a:solidFill>
                  <a:srgbClr val="19212B"/>
                </a:solidFill>
              </a:rPr>
              <a:t>Design</a:t>
            </a:r>
            <a:endParaRPr lang="en-US" sz="1500" dirty="0"/>
          </a:p>
        </p:txBody>
      </p:sp>
      <p:sp>
        <p:nvSpPr>
          <p:cNvPr id="16" name="Text 14"/>
          <p:cNvSpPr/>
          <p:nvPr/>
        </p:nvSpPr>
        <p:spPr>
          <a:xfrm>
            <a:off x="2468880" y="2578608"/>
            <a:ext cx="1271016" cy="347472"/>
          </a:xfrm>
          <a:prstGeom prst="rect">
            <a:avLst/>
          </a:prstGeom>
          <a:noFill/>
          <a:ln/>
        </p:spPr>
        <p:txBody>
          <a:bodyPr wrap="square" lIns="0" tIns="0" rIns="0" bIns="0" rtlCol="0" anchor="ctr"/>
          <a:lstStyle/>
          <a:p>
            <a:pPr algn="ctr" indent="0" marL="0">
              <a:buNone/>
            </a:pPr>
            <a:r>
              <a:rPr lang="en-US" sz="950" dirty="0">
                <a:solidFill>
                  <a:srgbClr val="5D6B7B"/>
                </a:solidFill>
              </a:rPr>
              <a:t>Generate and inspect architecture candidates</a:t>
            </a:r>
            <a:endParaRPr lang="en-US" sz="950" dirty="0"/>
          </a:p>
        </p:txBody>
      </p:sp>
      <p:sp>
        <p:nvSpPr>
          <p:cNvPr id="17" name="Shape 15"/>
          <p:cNvSpPr/>
          <p:nvPr/>
        </p:nvSpPr>
        <p:spPr>
          <a:xfrm>
            <a:off x="3849624" y="2468880"/>
            <a:ext cx="73152" cy="0"/>
          </a:xfrm>
          <a:prstGeom prst="line">
            <a:avLst/>
          </a:prstGeom>
          <a:noFill/>
          <a:ln w="12700">
            <a:solidFill>
              <a:srgbClr val="CBD4DF"/>
            </a:solidFill>
            <a:prstDash val="solid"/>
            <a:headEnd type="none"/>
            <a:tailEnd type="triangle"/>
          </a:ln>
        </p:spPr>
      </p:sp>
      <p:sp>
        <p:nvSpPr>
          <p:cNvPr id="18" name="Shape 16"/>
          <p:cNvSpPr/>
          <p:nvPr/>
        </p:nvSpPr>
        <p:spPr>
          <a:xfrm>
            <a:off x="3941064" y="1828800"/>
            <a:ext cx="1490472" cy="1280160"/>
          </a:xfrm>
          <a:prstGeom prst="roundRect">
            <a:avLst>
              <a:gd name="adj" fmla="val 8571"/>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19" name="Shape 17"/>
          <p:cNvSpPr/>
          <p:nvPr/>
        </p:nvSpPr>
        <p:spPr>
          <a:xfrm>
            <a:off x="4050792" y="1938528"/>
            <a:ext cx="384048" cy="256032"/>
          </a:xfrm>
          <a:prstGeom prst="roundRect">
            <a:avLst>
              <a:gd name="adj" fmla="val 28571"/>
            </a:avLst>
          </a:prstGeom>
          <a:solidFill>
            <a:srgbClr val="EAF1FF"/>
          </a:solidFill>
          <a:ln w="12700">
            <a:solidFill>
              <a:srgbClr val="EAF1FF">
                <a:alpha val="0"/>
              </a:srgbClr>
            </a:solidFill>
            <a:prstDash val="solid"/>
          </a:ln>
        </p:spPr>
      </p:sp>
      <p:sp>
        <p:nvSpPr>
          <p:cNvPr id="20" name="Text 18"/>
          <p:cNvSpPr/>
          <p:nvPr/>
        </p:nvSpPr>
        <p:spPr>
          <a:xfrm>
            <a:off x="4142232" y="1984248"/>
            <a:ext cx="201168" cy="146304"/>
          </a:xfrm>
          <a:prstGeom prst="rect">
            <a:avLst/>
          </a:prstGeom>
          <a:noFill/>
          <a:ln/>
        </p:spPr>
        <p:txBody>
          <a:bodyPr wrap="square" lIns="0" tIns="0" rIns="0" bIns="0" rtlCol="0" anchor="ctr"/>
          <a:lstStyle/>
          <a:p>
            <a:pPr algn="ctr" indent="0" marL="0">
              <a:buNone/>
            </a:pPr>
            <a:r>
              <a:rPr lang="en-US" sz="1000" b="1" dirty="0">
                <a:solidFill>
                  <a:srgbClr val="2F6BFF"/>
                </a:solidFill>
              </a:rPr>
              <a:t>3</a:t>
            </a:r>
            <a:endParaRPr lang="en-US" sz="1000" dirty="0"/>
          </a:p>
        </p:txBody>
      </p:sp>
      <p:sp>
        <p:nvSpPr>
          <p:cNvPr id="21" name="Text 19"/>
          <p:cNvSpPr/>
          <p:nvPr/>
        </p:nvSpPr>
        <p:spPr>
          <a:xfrm>
            <a:off x="4050792" y="2304288"/>
            <a:ext cx="1271016" cy="182880"/>
          </a:xfrm>
          <a:prstGeom prst="rect">
            <a:avLst/>
          </a:prstGeom>
          <a:noFill/>
          <a:ln/>
        </p:spPr>
        <p:txBody>
          <a:bodyPr wrap="square" lIns="0" tIns="0" rIns="0" bIns="0" rtlCol="0" anchor="ctr"/>
          <a:lstStyle/>
          <a:p>
            <a:pPr algn="ctr" indent="0" marL="0">
              <a:buNone/>
            </a:pPr>
            <a:r>
              <a:rPr lang="en-US" sz="1500" b="1" dirty="0">
                <a:solidFill>
                  <a:srgbClr val="19212B"/>
                </a:solidFill>
              </a:rPr>
              <a:t>Compare</a:t>
            </a:r>
            <a:endParaRPr lang="en-US" sz="1500" dirty="0"/>
          </a:p>
        </p:txBody>
      </p:sp>
      <p:sp>
        <p:nvSpPr>
          <p:cNvPr id="22" name="Text 20"/>
          <p:cNvSpPr/>
          <p:nvPr/>
        </p:nvSpPr>
        <p:spPr>
          <a:xfrm>
            <a:off x="4050792" y="2578608"/>
            <a:ext cx="1271016" cy="347472"/>
          </a:xfrm>
          <a:prstGeom prst="rect">
            <a:avLst/>
          </a:prstGeom>
          <a:noFill/>
          <a:ln/>
        </p:spPr>
        <p:txBody>
          <a:bodyPr wrap="square" lIns="0" tIns="0" rIns="0" bIns="0" rtlCol="0" anchor="ctr"/>
          <a:lstStyle/>
          <a:p>
            <a:pPr algn="ctr" indent="0" marL="0">
              <a:buNone/>
            </a:pPr>
            <a:r>
              <a:rPr lang="en-US" sz="950" dirty="0">
                <a:solidFill>
                  <a:srgbClr val="5D6B7B"/>
                </a:solidFill>
              </a:rPr>
              <a:t>Review tradeoffs, debate, and rationale</a:t>
            </a:r>
            <a:endParaRPr lang="en-US" sz="950" dirty="0"/>
          </a:p>
        </p:txBody>
      </p:sp>
      <p:sp>
        <p:nvSpPr>
          <p:cNvPr id="23" name="Shape 21"/>
          <p:cNvSpPr/>
          <p:nvPr/>
        </p:nvSpPr>
        <p:spPr>
          <a:xfrm>
            <a:off x="5431536" y="2468880"/>
            <a:ext cx="73152" cy="0"/>
          </a:xfrm>
          <a:prstGeom prst="line">
            <a:avLst/>
          </a:prstGeom>
          <a:noFill/>
          <a:ln w="12700">
            <a:solidFill>
              <a:srgbClr val="CBD4DF"/>
            </a:solidFill>
            <a:prstDash val="solid"/>
            <a:headEnd type="none"/>
            <a:tailEnd type="triangle"/>
          </a:ln>
        </p:spPr>
      </p:sp>
      <p:sp>
        <p:nvSpPr>
          <p:cNvPr id="24" name="Shape 22"/>
          <p:cNvSpPr/>
          <p:nvPr/>
        </p:nvSpPr>
        <p:spPr>
          <a:xfrm>
            <a:off x="5522976" y="1828800"/>
            <a:ext cx="1490472" cy="1280160"/>
          </a:xfrm>
          <a:prstGeom prst="roundRect">
            <a:avLst>
              <a:gd name="adj" fmla="val 8571"/>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25" name="Shape 23"/>
          <p:cNvSpPr/>
          <p:nvPr/>
        </p:nvSpPr>
        <p:spPr>
          <a:xfrm>
            <a:off x="5632704" y="1938528"/>
            <a:ext cx="384048" cy="256032"/>
          </a:xfrm>
          <a:prstGeom prst="roundRect">
            <a:avLst>
              <a:gd name="adj" fmla="val 28571"/>
            </a:avLst>
          </a:prstGeom>
          <a:solidFill>
            <a:srgbClr val="EAF1FF"/>
          </a:solidFill>
          <a:ln w="12700">
            <a:solidFill>
              <a:srgbClr val="EAF1FF">
                <a:alpha val="0"/>
              </a:srgbClr>
            </a:solidFill>
            <a:prstDash val="solid"/>
          </a:ln>
        </p:spPr>
      </p:sp>
      <p:sp>
        <p:nvSpPr>
          <p:cNvPr id="26" name="Text 24"/>
          <p:cNvSpPr/>
          <p:nvPr/>
        </p:nvSpPr>
        <p:spPr>
          <a:xfrm>
            <a:off x="5724144" y="1984248"/>
            <a:ext cx="201168" cy="146304"/>
          </a:xfrm>
          <a:prstGeom prst="rect">
            <a:avLst/>
          </a:prstGeom>
          <a:noFill/>
          <a:ln/>
        </p:spPr>
        <p:txBody>
          <a:bodyPr wrap="square" lIns="0" tIns="0" rIns="0" bIns="0" rtlCol="0" anchor="ctr"/>
          <a:lstStyle/>
          <a:p>
            <a:pPr algn="ctr" indent="0" marL="0">
              <a:buNone/>
            </a:pPr>
            <a:r>
              <a:rPr lang="en-US" sz="1000" b="1" dirty="0">
                <a:solidFill>
                  <a:srgbClr val="2F6BFF"/>
                </a:solidFill>
              </a:rPr>
              <a:t>4</a:t>
            </a:r>
            <a:endParaRPr lang="en-US" sz="1000" dirty="0"/>
          </a:p>
        </p:txBody>
      </p:sp>
      <p:sp>
        <p:nvSpPr>
          <p:cNvPr id="27" name="Text 25"/>
          <p:cNvSpPr/>
          <p:nvPr/>
        </p:nvSpPr>
        <p:spPr>
          <a:xfrm>
            <a:off x="5632704" y="2304288"/>
            <a:ext cx="1271016" cy="182880"/>
          </a:xfrm>
          <a:prstGeom prst="rect">
            <a:avLst/>
          </a:prstGeom>
          <a:noFill/>
          <a:ln/>
        </p:spPr>
        <p:txBody>
          <a:bodyPr wrap="square" lIns="0" tIns="0" rIns="0" bIns="0" rtlCol="0" anchor="ctr"/>
          <a:lstStyle/>
          <a:p>
            <a:pPr algn="ctr" indent="0" marL="0">
              <a:buNone/>
            </a:pPr>
            <a:r>
              <a:rPr lang="en-US" sz="1500" b="1" dirty="0">
                <a:solidFill>
                  <a:srgbClr val="19212B"/>
                </a:solidFill>
              </a:rPr>
              <a:t>Evaluate</a:t>
            </a:r>
            <a:endParaRPr lang="en-US" sz="1500" dirty="0"/>
          </a:p>
        </p:txBody>
      </p:sp>
      <p:sp>
        <p:nvSpPr>
          <p:cNvPr id="28" name="Text 26"/>
          <p:cNvSpPr/>
          <p:nvPr/>
        </p:nvSpPr>
        <p:spPr>
          <a:xfrm>
            <a:off x="5632704" y="2578608"/>
            <a:ext cx="1271016" cy="347472"/>
          </a:xfrm>
          <a:prstGeom prst="rect">
            <a:avLst/>
          </a:prstGeom>
          <a:noFill/>
          <a:ln/>
        </p:spPr>
        <p:txBody>
          <a:bodyPr wrap="square" lIns="0" tIns="0" rIns="0" bIns="0" rtlCol="0" anchor="ctr"/>
          <a:lstStyle/>
          <a:p>
            <a:pPr algn="ctr" indent="0" marL="0">
              <a:buNone/>
            </a:pPr>
            <a:r>
              <a:rPr lang="en-US" sz="950" dirty="0">
                <a:solidFill>
                  <a:srgbClr val="5D6B7B"/>
                </a:solidFill>
              </a:rPr>
              <a:t>See benchmark, scenario, and safety results</a:t>
            </a:r>
            <a:endParaRPr lang="en-US" sz="950" dirty="0"/>
          </a:p>
        </p:txBody>
      </p:sp>
      <p:sp>
        <p:nvSpPr>
          <p:cNvPr id="29" name="Shape 27"/>
          <p:cNvSpPr/>
          <p:nvPr/>
        </p:nvSpPr>
        <p:spPr>
          <a:xfrm>
            <a:off x="7013448" y="2468880"/>
            <a:ext cx="73152" cy="0"/>
          </a:xfrm>
          <a:prstGeom prst="line">
            <a:avLst/>
          </a:prstGeom>
          <a:noFill/>
          <a:ln w="12700">
            <a:solidFill>
              <a:srgbClr val="CBD4DF"/>
            </a:solidFill>
            <a:prstDash val="solid"/>
            <a:headEnd type="none"/>
            <a:tailEnd type="triangle"/>
          </a:ln>
        </p:spPr>
      </p:sp>
      <p:sp>
        <p:nvSpPr>
          <p:cNvPr id="30" name="Shape 28"/>
          <p:cNvSpPr/>
          <p:nvPr/>
        </p:nvSpPr>
        <p:spPr>
          <a:xfrm>
            <a:off x="7104888" y="1828800"/>
            <a:ext cx="1490472" cy="1280160"/>
          </a:xfrm>
          <a:prstGeom prst="roundRect">
            <a:avLst>
              <a:gd name="adj" fmla="val 8571"/>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31" name="Shape 29"/>
          <p:cNvSpPr/>
          <p:nvPr/>
        </p:nvSpPr>
        <p:spPr>
          <a:xfrm>
            <a:off x="7214616" y="1938528"/>
            <a:ext cx="384048" cy="256032"/>
          </a:xfrm>
          <a:prstGeom prst="roundRect">
            <a:avLst>
              <a:gd name="adj" fmla="val 28571"/>
            </a:avLst>
          </a:prstGeom>
          <a:solidFill>
            <a:srgbClr val="EAF1FF"/>
          </a:solidFill>
          <a:ln w="12700">
            <a:solidFill>
              <a:srgbClr val="EAF1FF">
                <a:alpha val="0"/>
              </a:srgbClr>
            </a:solidFill>
            <a:prstDash val="solid"/>
          </a:ln>
        </p:spPr>
      </p:sp>
      <p:sp>
        <p:nvSpPr>
          <p:cNvPr id="32" name="Text 30"/>
          <p:cNvSpPr/>
          <p:nvPr/>
        </p:nvSpPr>
        <p:spPr>
          <a:xfrm>
            <a:off x="7306056" y="1984248"/>
            <a:ext cx="201168" cy="146304"/>
          </a:xfrm>
          <a:prstGeom prst="rect">
            <a:avLst/>
          </a:prstGeom>
          <a:noFill/>
          <a:ln/>
        </p:spPr>
        <p:txBody>
          <a:bodyPr wrap="square" lIns="0" tIns="0" rIns="0" bIns="0" rtlCol="0" anchor="ctr"/>
          <a:lstStyle/>
          <a:p>
            <a:pPr algn="ctr" indent="0" marL="0">
              <a:buNone/>
            </a:pPr>
            <a:r>
              <a:rPr lang="en-US" sz="1000" b="1" dirty="0">
                <a:solidFill>
                  <a:srgbClr val="2F6BFF"/>
                </a:solidFill>
              </a:rPr>
              <a:t>5</a:t>
            </a:r>
            <a:endParaRPr lang="en-US" sz="1000" dirty="0"/>
          </a:p>
        </p:txBody>
      </p:sp>
      <p:sp>
        <p:nvSpPr>
          <p:cNvPr id="33" name="Text 31"/>
          <p:cNvSpPr/>
          <p:nvPr/>
        </p:nvSpPr>
        <p:spPr>
          <a:xfrm>
            <a:off x="7214616" y="2304288"/>
            <a:ext cx="1271016" cy="182880"/>
          </a:xfrm>
          <a:prstGeom prst="rect">
            <a:avLst/>
          </a:prstGeom>
          <a:noFill/>
          <a:ln/>
        </p:spPr>
        <p:txBody>
          <a:bodyPr wrap="square" lIns="0" tIns="0" rIns="0" bIns="0" rtlCol="0" anchor="ctr"/>
          <a:lstStyle/>
          <a:p>
            <a:pPr algn="ctr" indent="0" marL="0">
              <a:buNone/>
            </a:pPr>
            <a:r>
              <a:rPr lang="en-US" sz="1500" b="1" dirty="0">
                <a:solidFill>
                  <a:srgbClr val="19212B"/>
                </a:solidFill>
              </a:rPr>
              <a:t>Approve</a:t>
            </a:r>
            <a:endParaRPr lang="en-US" sz="1500" dirty="0"/>
          </a:p>
        </p:txBody>
      </p:sp>
      <p:sp>
        <p:nvSpPr>
          <p:cNvPr id="34" name="Text 32"/>
          <p:cNvSpPr/>
          <p:nvPr/>
        </p:nvSpPr>
        <p:spPr>
          <a:xfrm>
            <a:off x="7214616" y="2578608"/>
            <a:ext cx="1271016" cy="347472"/>
          </a:xfrm>
          <a:prstGeom prst="rect">
            <a:avLst/>
          </a:prstGeom>
          <a:noFill/>
          <a:ln/>
        </p:spPr>
        <p:txBody>
          <a:bodyPr wrap="square" lIns="0" tIns="0" rIns="0" bIns="0" rtlCol="0" anchor="ctr"/>
          <a:lstStyle/>
          <a:p>
            <a:pPr algn="ctr" indent="0" marL="0">
              <a:buNone/>
            </a:pPr>
            <a:r>
              <a:rPr lang="en-US" sz="950" dirty="0">
                <a:solidFill>
                  <a:srgbClr val="5D6B7B"/>
                </a:solidFill>
              </a:rPr>
              <a:t>Resolve risks before release</a:t>
            </a:r>
            <a:endParaRPr lang="en-US" sz="950" dirty="0"/>
          </a:p>
        </p:txBody>
      </p:sp>
      <p:sp>
        <p:nvSpPr>
          <p:cNvPr id="35" name="Shape 33"/>
          <p:cNvSpPr/>
          <p:nvPr/>
        </p:nvSpPr>
        <p:spPr>
          <a:xfrm>
            <a:off x="8595360" y="2468880"/>
            <a:ext cx="73152" cy="0"/>
          </a:xfrm>
          <a:prstGeom prst="line">
            <a:avLst/>
          </a:prstGeom>
          <a:noFill/>
          <a:ln w="12700">
            <a:solidFill>
              <a:srgbClr val="CBD4DF"/>
            </a:solidFill>
            <a:prstDash val="solid"/>
            <a:headEnd type="none"/>
            <a:tailEnd type="triangle"/>
          </a:ln>
        </p:spPr>
      </p:sp>
      <p:sp>
        <p:nvSpPr>
          <p:cNvPr id="36" name="Shape 34"/>
          <p:cNvSpPr/>
          <p:nvPr/>
        </p:nvSpPr>
        <p:spPr>
          <a:xfrm>
            <a:off x="8686800" y="1828800"/>
            <a:ext cx="1490472" cy="1280160"/>
          </a:xfrm>
          <a:prstGeom prst="roundRect">
            <a:avLst>
              <a:gd name="adj" fmla="val 8571"/>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37" name="Shape 35"/>
          <p:cNvSpPr/>
          <p:nvPr/>
        </p:nvSpPr>
        <p:spPr>
          <a:xfrm>
            <a:off x="8796528" y="1938528"/>
            <a:ext cx="384048" cy="256032"/>
          </a:xfrm>
          <a:prstGeom prst="roundRect">
            <a:avLst>
              <a:gd name="adj" fmla="val 28571"/>
            </a:avLst>
          </a:prstGeom>
          <a:solidFill>
            <a:srgbClr val="EAF1FF"/>
          </a:solidFill>
          <a:ln w="12700">
            <a:solidFill>
              <a:srgbClr val="EAF1FF">
                <a:alpha val="0"/>
              </a:srgbClr>
            </a:solidFill>
            <a:prstDash val="solid"/>
          </a:ln>
        </p:spPr>
      </p:sp>
      <p:sp>
        <p:nvSpPr>
          <p:cNvPr id="38" name="Text 36"/>
          <p:cNvSpPr/>
          <p:nvPr/>
        </p:nvSpPr>
        <p:spPr>
          <a:xfrm>
            <a:off x="8887968" y="1984248"/>
            <a:ext cx="201168" cy="146304"/>
          </a:xfrm>
          <a:prstGeom prst="rect">
            <a:avLst/>
          </a:prstGeom>
          <a:noFill/>
          <a:ln/>
        </p:spPr>
        <p:txBody>
          <a:bodyPr wrap="square" lIns="0" tIns="0" rIns="0" bIns="0" rtlCol="0" anchor="ctr"/>
          <a:lstStyle/>
          <a:p>
            <a:pPr algn="ctr" indent="0" marL="0">
              <a:buNone/>
            </a:pPr>
            <a:r>
              <a:rPr lang="en-US" sz="1000" b="1" dirty="0">
                <a:solidFill>
                  <a:srgbClr val="2F6BFF"/>
                </a:solidFill>
              </a:rPr>
              <a:t>6</a:t>
            </a:r>
            <a:endParaRPr lang="en-US" sz="1000" dirty="0"/>
          </a:p>
        </p:txBody>
      </p:sp>
      <p:sp>
        <p:nvSpPr>
          <p:cNvPr id="39" name="Text 37"/>
          <p:cNvSpPr/>
          <p:nvPr/>
        </p:nvSpPr>
        <p:spPr>
          <a:xfrm>
            <a:off x="8796528" y="2304288"/>
            <a:ext cx="1271016" cy="182880"/>
          </a:xfrm>
          <a:prstGeom prst="rect">
            <a:avLst/>
          </a:prstGeom>
          <a:noFill/>
          <a:ln/>
        </p:spPr>
        <p:txBody>
          <a:bodyPr wrap="square" lIns="0" tIns="0" rIns="0" bIns="0" rtlCol="0" anchor="ctr"/>
          <a:lstStyle/>
          <a:p>
            <a:pPr algn="ctr" indent="0" marL="0">
              <a:buNone/>
            </a:pPr>
            <a:r>
              <a:rPr lang="en-US" sz="1500" b="1" dirty="0">
                <a:solidFill>
                  <a:srgbClr val="19212B"/>
                </a:solidFill>
              </a:rPr>
              <a:t>Deploy</a:t>
            </a:r>
            <a:endParaRPr lang="en-US" sz="1500" dirty="0"/>
          </a:p>
        </p:txBody>
      </p:sp>
      <p:sp>
        <p:nvSpPr>
          <p:cNvPr id="40" name="Text 38"/>
          <p:cNvSpPr/>
          <p:nvPr/>
        </p:nvSpPr>
        <p:spPr>
          <a:xfrm>
            <a:off x="8796528" y="2578608"/>
            <a:ext cx="1271016" cy="347472"/>
          </a:xfrm>
          <a:prstGeom prst="rect">
            <a:avLst/>
          </a:prstGeom>
          <a:noFill/>
          <a:ln/>
        </p:spPr>
        <p:txBody>
          <a:bodyPr wrap="square" lIns="0" tIns="0" rIns="0" bIns="0" rtlCol="0" anchor="ctr"/>
          <a:lstStyle/>
          <a:p>
            <a:pPr algn="ctr" indent="0" marL="0">
              <a:buNone/>
            </a:pPr>
            <a:r>
              <a:rPr lang="en-US" sz="950" dirty="0">
                <a:solidFill>
                  <a:srgbClr val="5D6B7B"/>
                </a:solidFill>
              </a:rPr>
              <a:t>Canary, observe, and roll back safely</a:t>
            </a:r>
            <a:endParaRPr lang="en-US" sz="950" dirty="0"/>
          </a:p>
        </p:txBody>
      </p:sp>
      <p:sp>
        <p:nvSpPr>
          <p:cNvPr id="41" name="Shape 39"/>
          <p:cNvSpPr/>
          <p:nvPr/>
        </p:nvSpPr>
        <p:spPr>
          <a:xfrm>
            <a:off x="10177272" y="2468880"/>
            <a:ext cx="73152" cy="0"/>
          </a:xfrm>
          <a:prstGeom prst="line">
            <a:avLst/>
          </a:prstGeom>
          <a:noFill/>
          <a:ln w="12700">
            <a:solidFill>
              <a:srgbClr val="CBD4DF"/>
            </a:solidFill>
            <a:prstDash val="solid"/>
            <a:headEnd type="none"/>
            <a:tailEnd type="triangle"/>
          </a:ln>
        </p:spPr>
      </p:sp>
      <p:sp>
        <p:nvSpPr>
          <p:cNvPr id="42" name="Shape 40"/>
          <p:cNvSpPr/>
          <p:nvPr/>
        </p:nvSpPr>
        <p:spPr>
          <a:xfrm>
            <a:off x="10268712" y="1828800"/>
            <a:ext cx="1490472" cy="1280160"/>
          </a:xfrm>
          <a:prstGeom prst="roundRect">
            <a:avLst>
              <a:gd name="adj" fmla="val 8571"/>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43" name="Shape 41"/>
          <p:cNvSpPr/>
          <p:nvPr/>
        </p:nvSpPr>
        <p:spPr>
          <a:xfrm>
            <a:off x="10378440" y="1938528"/>
            <a:ext cx="384048" cy="256032"/>
          </a:xfrm>
          <a:prstGeom prst="roundRect">
            <a:avLst>
              <a:gd name="adj" fmla="val 28571"/>
            </a:avLst>
          </a:prstGeom>
          <a:solidFill>
            <a:srgbClr val="EAF1FF"/>
          </a:solidFill>
          <a:ln w="12700">
            <a:solidFill>
              <a:srgbClr val="EAF1FF">
                <a:alpha val="0"/>
              </a:srgbClr>
            </a:solidFill>
            <a:prstDash val="solid"/>
          </a:ln>
        </p:spPr>
      </p:sp>
      <p:sp>
        <p:nvSpPr>
          <p:cNvPr id="44" name="Text 42"/>
          <p:cNvSpPr/>
          <p:nvPr/>
        </p:nvSpPr>
        <p:spPr>
          <a:xfrm>
            <a:off x="10469880" y="1984248"/>
            <a:ext cx="201168" cy="146304"/>
          </a:xfrm>
          <a:prstGeom prst="rect">
            <a:avLst/>
          </a:prstGeom>
          <a:noFill/>
          <a:ln/>
        </p:spPr>
        <p:txBody>
          <a:bodyPr wrap="square" lIns="0" tIns="0" rIns="0" bIns="0" rtlCol="0" anchor="ctr"/>
          <a:lstStyle/>
          <a:p>
            <a:pPr algn="ctr" indent="0" marL="0">
              <a:buNone/>
            </a:pPr>
            <a:r>
              <a:rPr lang="en-US" sz="1000" b="1" dirty="0">
                <a:solidFill>
                  <a:srgbClr val="2F6BFF"/>
                </a:solidFill>
              </a:rPr>
              <a:t>7</a:t>
            </a:r>
            <a:endParaRPr lang="en-US" sz="1000" dirty="0"/>
          </a:p>
        </p:txBody>
      </p:sp>
      <p:sp>
        <p:nvSpPr>
          <p:cNvPr id="45" name="Text 43"/>
          <p:cNvSpPr/>
          <p:nvPr/>
        </p:nvSpPr>
        <p:spPr>
          <a:xfrm>
            <a:off x="10378440" y="2304288"/>
            <a:ext cx="1271016" cy="182880"/>
          </a:xfrm>
          <a:prstGeom prst="rect">
            <a:avLst/>
          </a:prstGeom>
          <a:noFill/>
          <a:ln/>
        </p:spPr>
        <p:txBody>
          <a:bodyPr wrap="square" lIns="0" tIns="0" rIns="0" bIns="0" rtlCol="0" anchor="ctr"/>
          <a:lstStyle/>
          <a:p>
            <a:pPr algn="ctr" indent="0" marL="0">
              <a:buNone/>
            </a:pPr>
            <a:r>
              <a:rPr lang="en-US" sz="1500" b="1" dirty="0">
                <a:solidFill>
                  <a:srgbClr val="19212B"/>
                </a:solidFill>
              </a:rPr>
              <a:t>Improve</a:t>
            </a:r>
            <a:endParaRPr lang="en-US" sz="1500" dirty="0"/>
          </a:p>
        </p:txBody>
      </p:sp>
      <p:sp>
        <p:nvSpPr>
          <p:cNvPr id="46" name="Text 44"/>
          <p:cNvSpPr/>
          <p:nvPr/>
        </p:nvSpPr>
        <p:spPr>
          <a:xfrm>
            <a:off x="10378440" y="2578608"/>
            <a:ext cx="1271016" cy="347472"/>
          </a:xfrm>
          <a:prstGeom prst="rect">
            <a:avLst/>
          </a:prstGeom>
          <a:noFill/>
          <a:ln/>
        </p:spPr>
        <p:txBody>
          <a:bodyPr wrap="square" lIns="0" tIns="0" rIns="0" bIns="0" rtlCol="0" anchor="ctr"/>
          <a:lstStyle/>
          <a:p>
            <a:pPr algn="ctr" indent="0" marL="0">
              <a:buNone/>
            </a:pPr>
            <a:r>
              <a:rPr lang="en-US" sz="950" dirty="0">
                <a:solidFill>
                  <a:srgbClr val="5D6B7B"/>
                </a:solidFill>
              </a:rPr>
              <a:t>Learn from runs, failures, and outcomes</a:t>
            </a:r>
            <a:endParaRPr lang="en-US" sz="950" dirty="0"/>
          </a:p>
        </p:txBody>
      </p:sp>
      <p:sp>
        <p:nvSpPr>
          <p:cNvPr id="47" name="Shape 45"/>
          <p:cNvSpPr/>
          <p:nvPr/>
        </p:nvSpPr>
        <p:spPr>
          <a:xfrm>
            <a:off x="777240" y="3886200"/>
            <a:ext cx="3657600" cy="1600200"/>
          </a:xfrm>
          <a:prstGeom prst="roundRect">
            <a:avLst>
              <a:gd name="adj" fmla="val 6857"/>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48" name="Text 46"/>
          <p:cNvSpPr/>
          <p:nvPr/>
        </p:nvSpPr>
        <p:spPr>
          <a:xfrm>
            <a:off x="941832" y="3995928"/>
            <a:ext cx="3328416" cy="182880"/>
          </a:xfrm>
          <a:prstGeom prst="rect">
            <a:avLst/>
          </a:prstGeom>
          <a:noFill/>
          <a:ln/>
        </p:spPr>
        <p:txBody>
          <a:bodyPr wrap="square" lIns="0" tIns="0" rIns="0" bIns="0" rtlCol="0" anchor="ctr"/>
          <a:lstStyle/>
          <a:p>
            <a:pPr indent="0" marL="0">
              <a:buNone/>
            </a:pPr>
            <a:r>
              <a:rPr lang="en-US" sz="1200" b="1" dirty="0">
                <a:solidFill>
                  <a:srgbClr val="19212B"/>
                </a:solidFill>
              </a:rPr>
              <a:t>Who this serves</a:t>
            </a:r>
            <a:endParaRPr lang="en-US" sz="1200" dirty="0"/>
          </a:p>
        </p:txBody>
      </p:sp>
      <p:sp>
        <p:nvSpPr>
          <p:cNvPr id="49" name="Shape 47"/>
          <p:cNvSpPr/>
          <p:nvPr/>
        </p:nvSpPr>
        <p:spPr>
          <a:xfrm>
            <a:off x="960120" y="4224528"/>
            <a:ext cx="1508760" cy="512064"/>
          </a:xfrm>
          <a:prstGeom prst="roundRect">
            <a:avLst>
              <a:gd name="adj" fmla="val 14286"/>
            </a:avLst>
          </a:prstGeom>
          <a:solidFill>
            <a:srgbClr val="F8FAFD"/>
          </a:solidFill>
          <a:ln w="12700">
            <a:solidFill>
              <a:srgbClr val="D7DEE7"/>
            </a:solidFill>
            <a:prstDash val="solid"/>
          </a:ln>
        </p:spPr>
      </p:sp>
      <p:sp>
        <p:nvSpPr>
          <p:cNvPr id="50" name="Shape 48"/>
          <p:cNvSpPr/>
          <p:nvPr/>
        </p:nvSpPr>
        <p:spPr>
          <a:xfrm>
            <a:off x="960120" y="4224528"/>
            <a:ext cx="1508760" cy="219456"/>
          </a:xfrm>
          <a:prstGeom prst="rect">
            <a:avLst/>
          </a:prstGeom>
          <a:solidFill>
            <a:srgbClr val="EEF2F7"/>
          </a:solidFill>
          <a:ln w="12700">
            <a:solidFill>
              <a:srgbClr val="D7DEE7"/>
            </a:solidFill>
            <a:prstDash val="solid"/>
          </a:ln>
        </p:spPr>
      </p:sp>
      <p:sp>
        <p:nvSpPr>
          <p:cNvPr id="51" name="Text 49"/>
          <p:cNvSpPr/>
          <p:nvPr/>
        </p:nvSpPr>
        <p:spPr>
          <a:xfrm>
            <a:off x="1069848" y="4279392"/>
            <a:ext cx="1289304" cy="91440"/>
          </a:xfrm>
          <a:prstGeom prst="rect">
            <a:avLst/>
          </a:prstGeom>
          <a:noFill/>
          <a:ln/>
        </p:spPr>
        <p:txBody>
          <a:bodyPr wrap="square" lIns="0" tIns="0" rIns="0" bIns="0" rtlCol="0" anchor="ctr"/>
          <a:lstStyle/>
          <a:p>
            <a:pPr indent="0" marL="0">
              <a:buNone/>
            </a:pPr>
            <a:r>
              <a:rPr lang="en-US" sz="920" b="1" dirty="0">
                <a:solidFill>
                  <a:srgbClr val="19212B"/>
                </a:solidFill>
              </a:rPr>
              <a:t>Agent builders</a:t>
            </a:r>
            <a:endParaRPr lang="en-US" sz="920" dirty="0"/>
          </a:p>
        </p:txBody>
      </p:sp>
      <p:sp>
        <p:nvSpPr>
          <p:cNvPr id="52" name="Text 50"/>
          <p:cNvSpPr/>
          <p:nvPr/>
        </p:nvSpPr>
        <p:spPr>
          <a:xfrm>
            <a:off x="1069848" y="4407408"/>
            <a:ext cx="1289304" cy="146304"/>
          </a:xfrm>
          <a:prstGeom prst="rect">
            <a:avLst/>
          </a:prstGeom>
          <a:noFill/>
          <a:ln/>
        </p:spPr>
        <p:txBody>
          <a:bodyPr wrap="square" lIns="0" tIns="0" rIns="0" bIns="0" rtlCol="0" anchor="ctr"/>
          <a:lstStyle/>
          <a:p>
            <a:pPr algn="ctr" indent="0" marL="0">
              <a:buNone/>
            </a:pPr>
            <a:r>
              <a:rPr lang="en-US" sz="1000" dirty="0">
                <a:solidFill>
                  <a:srgbClr val="5D6B7B"/>
                </a:solidFill>
              </a:rPr>
              <a:t>Guided creation, architecture confidence, and clear next steps.</a:t>
            </a:r>
            <a:endParaRPr lang="en-US" sz="1000" dirty="0"/>
          </a:p>
        </p:txBody>
      </p:sp>
      <p:sp>
        <p:nvSpPr>
          <p:cNvPr id="53" name="Shape 51"/>
          <p:cNvSpPr/>
          <p:nvPr/>
        </p:nvSpPr>
        <p:spPr>
          <a:xfrm>
            <a:off x="2715768" y="4224528"/>
            <a:ext cx="1508760" cy="512064"/>
          </a:xfrm>
          <a:prstGeom prst="roundRect">
            <a:avLst>
              <a:gd name="adj" fmla="val 14286"/>
            </a:avLst>
          </a:prstGeom>
          <a:solidFill>
            <a:srgbClr val="F8FAFD"/>
          </a:solidFill>
          <a:ln w="12700">
            <a:solidFill>
              <a:srgbClr val="D7DEE7"/>
            </a:solidFill>
            <a:prstDash val="solid"/>
          </a:ln>
        </p:spPr>
      </p:sp>
      <p:sp>
        <p:nvSpPr>
          <p:cNvPr id="54" name="Shape 52"/>
          <p:cNvSpPr/>
          <p:nvPr/>
        </p:nvSpPr>
        <p:spPr>
          <a:xfrm>
            <a:off x="2715768" y="4224528"/>
            <a:ext cx="1508760" cy="219456"/>
          </a:xfrm>
          <a:prstGeom prst="rect">
            <a:avLst/>
          </a:prstGeom>
          <a:solidFill>
            <a:srgbClr val="EEF2F7"/>
          </a:solidFill>
          <a:ln w="12700">
            <a:solidFill>
              <a:srgbClr val="D7DEE7"/>
            </a:solidFill>
            <a:prstDash val="solid"/>
          </a:ln>
        </p:spPr>
      </p:sp>
      <p:sp>
        <p:nvSpPr>
          <p:cNvPr id="55" name="Text 53"/>
          <p:cNvSpPr/>
          <p:nvPr/>
        </p:nvSpPr>
        <p:spPr>
          <a:xfrm>
            <a:off x="2825496" y="4279392"/>
            <a:ext cx="1289304" cy="91440"/>
          </a:xfrm>
          <a:prstGeom prst="rect">
            <a:avLst/>
          </a:prstGeom>
          <a:noFill/>
          <a:ln/>
        </p:spPr>
        <p:txBody>
          <a:bodyPr wrap="square" lIns="0" tIns="0" rIns="0" bIns="0" rtlCol="0" anchor="ctr"/>
          <a:lstStyle/>
          <a:p>
            <a:pPr indent="0" marL="0">
              <a:buNone/>
            </a:pPr>
            <a:r>
              <a:rPr lang="en-US" sz="920" b="1" dirty="0">
                <a:solidFill>
                  <a:srgbClr val="19212B"/>
                </a:solidFill>
              </a:rPr>
              <a:t>ML / platform</a:t>
            </a:r>
            <a:endParaRPr lang="en-US" sz="920" dirty="0"/>
          </a:p>
        </p:txBody>
      </p:sp>
      <p:sp>
        <p:nvSpPr>
          <p:cNvPr id="56" name="Text 54"/>
          <p:cNvSpPr/>
          <p:nvPr/>
        </p:nvSpPr>
        <p:spPr>
          <a:xfrm>
            <a:off x="2825496" y="4407408"/>
            <a:ext cx="1289304" cy="146304"/>
          </a:xfrm>
          <a:prstGeom prst="rect">
            <a:avLst/>
          </a:prstGeom>
          <a:noFill/>
          <a:ln/>
        </p:spPr>
        <p:txBody>
          <a:bodyPr wrap="square" lIns="0" tIns="0" rIns="0" bIns="0" rtlCol="0" anchor="ctr"/>
          <a:lstStyle/>
          <a:p>
            <a:pPr algn="ctr" indent="0" marL="0">
              <a:buNone/>
            </a:pPr>
            <a:r>
              <a:rPr lang="en-US" sz="1000" dirty="0">
                <a:solidFill>
                  <a:srgbClr val="5D6B7B"/>
                </a:solidFill>
              </a:rPr>
              <a:t>Evaluation evidence, runtime visibility, and version control.</a:t>
            </a:r>
            <a:endParaRPr lang="en-US" sz="1000" dirty="0"/>
          </a:p>
        </p:txBody>
      </p:sp>
      <p:sp>
        <p:nvSpPr>
          <p:cNvPr id="57" name="Shape 55"/>
          <p:cNvSpPr/>
          <p:nvPr/>
        </p:nvSpPr>
        <p:spPr>
          <a:xfrm>
            <a:off x="960120" y="4919472"/>
            <a:ext cx="1508760" cy="512064"/>
          </a:xfrm>
          <a:prstGeom prst="roundRect">
            <a:avLst>
              <a:gd name="adj" fmla="val 14286"/>
            </a:avLst>
          </a:prstGeom>
          <a:solidFill>
            <a:srgbClr val="F8FAFD"/>
          </a:solidFill>
          <a:ln w="12700">
            <a:solidFill>
              <a:srgbClr val="D7DEE7"/>
            </a:solidFill>
            <a:prstDash val="solid"/>
          </a:ln>
        </p:spPr>
      </p:sp>
      <p:sp>
        <p:nvSpPr>
          <p:cNvPr id="58" name="Shape 56"/>
          <p:cNvSpPr/>
          <p:nvPr/>
        </p:nvSpPr>
        <p:spPr>
          <a:xfrm>
            <a:off x="960120" y="4919472"/>
            <a:ext cx="1508760" cy="219456"/>
          </a:xfrm>
          <a:prstGeom prst="rect">
            <a:avLst/>
          </a:prstGeom>
          <a:solidFill>
            <a:srgbClr val="EEF2F7"/>
          </a:solidFill>
          <a:ln w="12700">
            <a:solidFill>
              <a:srgbClr val="D7DEE7"/>
            </a:solidFill>
            <a:prstDash val="solid"/>
          </a:ln>
        </p:spPr>
      </p:sp>
      <p:sp>
        <p:nvSpPr>
          <p:cNvPr id="59" name="Text 57"/>
          <p:cNvSpPr/>
          <p:nvPr/>
        </p:nvSpPr>
        <p:spPr>
          <a:xfrm>
            <a:off x="1069848" y="4974336"/>
            <a:ext cx="1289304" cy="91440"/>
          </a:xfrm>
          <a:prstGeom prst="rect">
            <a:avLst/>
          </a:prstGeom>
          <a:noFill/>
          <a:ln/>
        </p:spPr>
        <p:txBody>
          <a:bodyPr wrap="square" lIns="0" tIns="0" rIns="0" bIns="0" rtlCol="0" anchor="ctr"/>
          <a:lstStyle/>
          <a:p>
            <a:pPr indent="0" marL="0">
              <a:buNone/>
            </a:pPr>
            <a:r>
              <a:rPr lang="en-US" sz="920" b="1" dirty="0">
                <a:solidFill>
                  <a:srgbClr val="19212B"/>
                </a:solidFill>
              </a:rPr>
              <a:t>Governance</a:t>
            </a:r>
            <a:endParaRPr lang="en-US" sz="920" dirty="0"/>
          </a:p>
        </p:txBody>
      </p:sp>
      <p:sp>
        <p:nvSpPr>
          <p:cNvPr id="60" name="Text 58"/>
          <p:cNvSpPr/>
          <p:nvPr/>
        </p:nvSpPr>
        <p:spPr>
          <a:xfrm>
            <a:off x="1069848" y="5102352"/>
            <a:ext cx="1289304" cy="146304"/>
          </a:xfrm>
          <a:prstGeom prst="rect">
            <a:avLst/>
          </a:prstGeom>
          <a:noFill/>
          <a:ln/>
        </p:spPr>
        <p:txBody>
          <a:bodyPr wrap="square" lIns="0" tIns="0" rIns="0" bIns="0" rtlCol="0" anchor="ctr"/>
          <a:lstStyle/>
          <a:p>
            <a:pPr algn="ctr" indent="0" marL="0">
              <a:buNone/>
            </a:pPr>
            <a:r>
              <a:rPr lang="en-US" sz="1000" dirty="0">
                <a:solidFill>
                  <a:srgbClr val="5D6B7B"/>
                </a:solidFill>
              </a:rPr>
              <a:t>Approvals, policy, auditability, and release-safe visibility.</a:t>
            </a:r>
            <a:endParaRPr lang="en-US" sz="1000" dirty="0"/>
          </a:p>
        </p:txBody>
      </p:sp>
      <p:sp>
        <p:nvSpPr>
          <p:cNvPr id="61" name="Shape 59"/>
          <p:cNvSpPr/>
          <p:nvPr/>
        </p:nvSpPr>
        <p:spPr>
          <a:xfrm>
            <a:off x="2715768" y="4919472"/>
            <a:ext cx="1508760" cy="512064"/>
          </a:xfrm>
          <a:prstGeom prst="roundRect">
            <a:avLst>
              <a:gd name="adj" fmla="val 14286"/>
            </a:avLst>
          </a:prstGeom>
          <a:solidFill>
            <a:srgbClr val="F8FAFD"/>
          </a:solidFill>
          <a:ln w="12700">
            <a:solidFill>
              <a:srgbClr val="D7DEE7"/>
            </a:solidFill>
            <a:prstDash val="solid"/>
          </a:ln>
        </p:spPr>
      </p:sp>
      <p:sp>
        <p:nvSpPr>
          <p:cNvPr id="62" name="Shape 60"/>
          <p:cNvSpPr/>
          <p:nvPr/>
        </p:nvSpPr>
        <p:spPr>
          <a:xfrm>
            <a:off x="2715768" y="4919472"/>
            <a:ext cx="1508760" cy="219456"/>
          </a:xfrm>
          <a:prstGeom prst="rect">
            <a:avLst/>
          </a:prstGeom>
          <a:solidFill>
            <a:srgbClr val="EEF2F7"/>
          </a:solidFill>
          <a:ln w="12700">
            <a:solidFill>
              <a:srgbClr val="D7DEE7"/>
            </a:solidFill>
            <a:prstDash val="solid"/>
          </a:ln>
        </p:spPr>
      </p:sp>
      <p:sp>
        <p:nvSpPr>
          <p:cNvPr id="63" name="Text 61"/>
          <p:cNvSpPr/>
          <p:nvPr/>
        </p:nvSpPr>
        <p:spPr>
          <a:xfrm>
            <a:off x="2825496" y="4974336"/>
            <a:ext cx="1289304" cy="91440"/>
          </a:xfrm>
          <a:prstGeom prst="rect">
            <a:avLst/>
          </a:prstGeom>
          <a:noFill/>
          <a:ln/>
        </p:spPr>
        <p:txBody>
          <a:bodyPr wrap="square" lIns="0" tIns="0" rIns="0" bIns="0" rtlCol="0" anchor="ctr"/>
          <a:lstStyle/>
          <a:p>
            <a:pPr indent="0" marL="0">
              <a:buNone/>
            </a:pPr>
            <a:r>
              <a:rPr lang="en-US" sz="920" b="1" dirty="0">
                <a:solidFill>
                  <a:srgbClr val="19212B"/>
                </a:solidFill>
              </a:rPr>
              <a:t>Executives</a:t>
            </a:r>
            <a:endParaRPr lang="en-US" sz="920" dirty="0"/>
          </a:p>
        </p:txBody>
      </p:sp>
      <p:sp>
        <p:nvSpPr>
          <p:cNvPr id="64" name="Text 62"/>
          <p:cNvSpPr/>
          <p:nvPr/>
        </p:nvSpPr>
        <p:spPr>
          <a:xfrm>
            <a:off x="2825496" y="5102352"/>
            <a:ext cx="1289304" cy="146304"/>
          </a:xfrm>
          <a:prstGeom prst="rect">
            <a:avLst/>
          </a:prstGeom>
          <a:noFill/>
          <a:ln/>
        </p:spPr>
        <p:txBody>
          <a:bodyPr wrap="square" lIns="0" tIns="0" rIns="0" bIns="0" rtlCol="0" anchor="ctr"/>
          <a:lstStyle/>
          <a:p>
            <a:pPr algn="ctr" indent="0" marL="0">
              <a:buNone/>
            </a:pPr>
            <a:r>
              <a:rPr lang="en-US" sz="1000" dirty="0">
                <a:solidFill>
                  <a:srgbClr val="5D6B7B"/>
                </a:solidFill>
              </a:rPr>
              <a:t>Portfolio outcomes, risk posture, and adoption signals.</a:t>
            </a:r>
            <a:endParaRPr lang="en-US" sz="1000" dirty="0"/>
          </a:p>
        </p:txBody>
      </p:sp>
      <p:sp>
        <p:nvSpPr>
          <p:cNvPr id="65" name="Shape 63"/>
          <p:cNvSpPr/>
          <p:nvPr/>
        </p:nvSpPr>
        <p:spPr>
          <a:xfrm>
            <a:off x="4846320" y="3931920"/>
            <a:ext cx="2971800" cy="1554480"/>
          </a:xfrm>
          <a:prstGeom prst="roundRect">
            <a:avLst>
              <a:gd name="adj" fmla="val 4706"/>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66" name="Text 64"/>
          <p:cNvSpPr/>
          <p:nvPr/>
        </p:nvSpPr>
        <p:spPr>
          <a:xfrm>
            <a:off x="4956048" y="4014216"/>
            <a:ext cx="2752344" cy="128016"/>
          </a:xfrm>
          <a:prstGeom prst="rect">
            <a:avLst/>
          </a:prstGeom>
          <a:noFill/>
          <a:ln/>
        </p:spPr>
        <p:txBody>
          <a:bodyPr wrap="square" lIns="0" tIns="0" rIns="0" bIns="0" rtlCol="0" anchor="ctr"/>
          <a:lstStyle/>
          <a:p>
            <a:pPr indent="0" marL="0">
              <a:buNone/>
            </a:pPr>
            <a:r>
              <a:rPr lang="en-US" sz="1100" b="1" dirty="0">
                <a:solidFill>
                  <a:srgbClr val="2F6BFF"/>
                </a:solidFill>
              </a:rPr>
              <a:t>Design principle</a:t>
            </a:r>
            <a:endParaRPr lang="en-US" sz="1100" dirty="0"/>
          </a:p>
        </p:txBody>
      </p:sp>
      <p:sp>
        <p:nvSpPr>
          <p:cNvPr id="67" name="Text 65"/>
          <p:cNvSpPr/>
          <p:nvPr/>
        </p:nvSpPr>
        <p:spPr>
          <a:xfrm>
            <a:off x="4956048" y="4178808"/>
            <a:ext cx="2752344" cy="1243584"/>
          </a:xfrm>
          <a:prstGeom prst="rect">
            <a:avLst/>
          </a:prstGeom>
          <a:noFill/>
          <a:ln/>
        </p:spPr>
        <p:txBody>
          <a:bodyPr wrap="square" lIns="0" tIns="0" rIns="0" bIns="0" rtlCol="0" anchor="t"/>
          <a:lstStyle/>
          <a:p>
            <a:pPr indent="0" marL="0">
              <a:buNone/>
            </a:pPr>
            <a:r>
              <a:rPr lang="en-US" sz="960" dirty="0">
                <a:solidFill>
                  <a:srgbClr val="5D6B7B"/>
                </a:solidFill>
              </a:rPr>
              <a:t>Every key screen should answer six questions: what this agent does, how it was designed, why the platform chose it, whether it is safe, what changed, and whether it is ready to deploy.</a:t>
            </a:r>
            <a:endParaRPr lang="en-US" sz="960" dirty="0"/>
          </a:p>
        </p:txBody>
      </p:sp>
      <p:sp>
        <p:nvSpPr>
          <p:cNvPr id="68" name="Shape 66"/>
          <p:cNvSpPr/>
          <p:nvPr/>
        </p:nvSpPr>
        <p:spPr>
          <a:xfrm>
            <a:off x="8046720" y="3931920"/>
            <a:ext cx="3520440" cy="1554480"/>
          </a:xfrm>
          <a:prstGeom prst="roundRect">
            <a:avLst>
              <a:gd name="adj" fmla="val 4706"/>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69" name="Text 67"/>
          <p:cNvSpPr/>
          <p:nvPr/>
        </p:nvSpPr>
        <p:spPr>
          <a:xfrm>
            <a:off x="8156448" y="4014216"/>
            <a:ext cx="3300984" cy="128016"/>
          </a:xfrm>
          <a:prstGeom prst="rect">
            <a:avLst/>
          </a:prstGeom>
          <a:noFill/>
          <a:ln/>
        </p:spPr>
        <p:txBody>
          <a:bodyPr wrap="square" lIns="0" tIns="0" rIns="0" bIns="0" rtlCol="0" anchor="ctr"/>
          <a:lstStyle/>
          <a:p>
            <a:pPr indent="0" marL="0">
              <a:buNone/>
            </a:pPr>
            <a:r>
              <a:rPr lang="en-US" sz="1100" b="1" dirty="0">
                <a:solidFill>
                  <a:srgbClr val="2F6BFF"/>
                </a:solidFill>
              </a:rPr>
              <a:t>Product stance</a:t>
            </a:r>
            <a:endParaRPr lang="en-US" sz="1100" dirty="0"/>
          </a:p>
        </p:txBody>
      </p:sp>
      <p:sp>
        <p:nvSpPr>
          <p:cNvPr id="70" name="Text 68"/>
          <p:cNvSpPr/>
          <p:nvPr/>
        </p:nvSpPr>
        <p:spPr>
          <a:xfrm>
            <a:off x="8156448" y="4178808"/>
            <a:ext cx="3300984" cy="1243584"/>
          </a:xfrm>
          <a:prstGeom prst="rect">
            <a:avLst/>
          </a:prstGeom>
          <a:noFill/>
          <a:ln/>
        </p:spPr>
        <p:txBody>
          <a:bodyPr wrap="square" lIns="0" tIns="0" rIns="0" bIns="0" rtlCol="0" anchor="t"/>
          <a:lstStyle/>
          <a:p>
            <a:pPr indent="0" marL="0">
              <a:buNone/>
            </a:pPr>
            <a:r>
              <a:rPr lang="en-US" sz="960" dirty="0">
                <a:solidFill>
                  <a:srgbClr val="5D6B7B"/>
                </a:solidFill>
              </a:rPr>
              <a:t>Do not organize the user experience around backend nouns like Supervisor or Swarm. Those belong in diagnostics and audit views. The main UX should feel like an agent studio with clear lifecycle stages.</a:t>
            </a:r>
            <a:endParaRPr lang="en-US" sz="960" dirty="0"/>
          </a:p>
        </p:txBody>
      </p:sp>
      <p:sp>
        <p:nvSpPr>
          <p:cNvPr id="71" name="Text 69"/>
          <p:cNvSpPr/>
          <p:nvPr/>
        </p:nvSpPr>
        <p:spPr>
          <a:xfrm>
            <a:off x="594360" y="6473952"/>
            <a:ext cx="4389120" cy="164592"/>
          </a:xfrm>
          <a:prstGeom prst="rect">
            <a:avLst/>
          </a:prstGeom>
          <a:noFill/>
          <a:ln/>
        </p:spPr>
        <p:txBody>
          <a:bodyPr wrap="square" lIns="0" tIns="0" rIns="0" bIns="0" rtlCol="0" anchor="ctr"/>
          <a:lstStyle/>
          <a:p>
            <a:pPr indent="0" marL="0">
              <a:buNone/>
            </a:pPr>
            <a:r>
              <a:rPr lang="en-US" sz="900" dirty="0">
                <a:solidFill>
                  <a:srgbClr val="7A8794"/>
                </a:solidFill>
              </a:rPr>
              <a:t>Agent Architect Pro — UX wireframe direction</a:t>
            </a:r>
            <a:endParaRPr lang="en-US" sz="900" dirty="0"/>
          </a:p>
        </p:txBody>
      </p:sp>
      <p:sp>
        <p:nvSpPr>
          <p:cNvPr id="72" name="Text 70"/>
          <p:cNvSpPr/>
          <p:nvPr/>
        </p:nvSpPr>
        <p:spPr>
          <a:xfrm>
            <a:off x="11292840" y="6437376"/>
            <a:ext cx="274320" cy="182880"/>
          </a:xfrm>
          <a:prstGeom prst="rect">
            <a:avLst/>
          </a:prstGeom>
          <a:noFill/>
          <a:ln/>
        </p:spPr>
        <p:txBody>
          <a:bodyPr wrap="square" lIns="0" tIns="0" rIns="0" bIns="0" rtlCol="0" anchor="ctr"/>
          <a:lstStyle/>
          <a:p>
            <a:pPr algn="r" indent="0" marL="0">
              <a:buNone/>
            </a:pPr>
            <a:r>
              <a:rPr lang="en-US" sz="1000" dirty="0">
                <a:solidFill>
                  <a:srgbClr val="7A8794"/>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0040"/>
            <a:ext cx="8046720" cy="384048"/>
          </a:xfrm>
          <a:prstGeom prst="rect">
            <a:avLst/>
          </a:prstGeom>
          <a:noFill/>
          <a:ln/>
        </p:spPr>
        <p:txBody>
          <a:bodyPr wrap="square" lIns="0" tIns="0" rIns="0" bIns="0" rtlCol="0" anchor="ctr"/>
          <a:lstStyle/>
          <a:p>
            <a:pPr indent="0" marL="0">
              <a:buNone/>
            </a:pPr>
            <a:r>
              <a:rPr lang="en-US" sz="2800" b="1" dirty="0">
                <a:solidFill>
                  <a:srgbClr val="19212B"/>
                </a:solidFill>
                <a:latin typeface="Aptos Display" pitchFamily="34" charset="0"/>
                <a:ea typeface="Aptos Display" pitchFamily="34" charset="-122"/>
                <a:cs typeface="Aptos Display" pitchFamily="34" charset="-120"/>
              </a:rPr>
              <a:t>Global information architecture</a:t>
            </a:r>
            <a:endParaRPr lang="en-US" sz="2800" dirty="0"/>
          </a:p>
        </p:txBody>
      </p:sp>
      <p:sp>
        <p:nvSpPr>
          <p:cNvPr id="3" name="Text 1"/>
          <p:cNvSpPr/>
          <p:nvPr/>
        </p:nvSpPr>
        <p:spPr>
          <a:xfrm>
            <a:off x="594360" y="749808"/>
            <a:ext cx="9692640" cy="310896"/>
          </a:xfrm>
          <a:prstGeom prst="rect">
            <a:avLst/>
          </a:prstGeom>
          <a:noFill/>
          <a:ln/>
        </p:spPr>
        <p:txBody>
          <a:bodyPr wrap="square" lIns="0" tIns="0" rIns="0" bIns="0" rtlCol="0" anchor="ctr"/>
          <a:lstStyle/>
          <a:p>
            <a:pPr indent="0" marL="0">
              <a:buNone/>
            </a:pPr>
            <a:r>
              <a:rPr lang="en-US" sz="1250" dirty="0">
                <a:solidFill>
                  <a:srgbClr val="5D6B7B"/>
                </a:solidFill>
              </a:rPr>
              <a:t>One platform, multiple role-centered modes. The app shell stays stable while the primary content shifts by workflow and permission level.</a:t>
            </a:r>
            <a:endParaRPr lang="en-US" sz="1250" dirty="0"/>
          </a:p>
        </p:txBody>
      </p:sp>
      <p:sp>
        <p:nvSpPr>
          <p:cNvPr id="4" name="Shape 2"/>
          <p:cNvSpPr/>
          <p:nvPr/>
        </p:nvSpPr>
        <p:spPr>
          <a:xfrm>
            <a:off x="713232" y="1325880"/>
            <a:ext cx="7040880" cy="4800600"/>
          </a:xfrm>
          <a:prstGeom prst="roundRect">
            <a:avLst>
              <a:gd name="adj" fmla="val 2286"/>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5" name="Text 3"/>
          <p:cNvSpPr/>
          <p:nvPr/>
        </p:nvSpPr>
        <p:spPr>
          <a:xfrm>
            <a:off x="877824" y="1435608"/>
            <a:ext cx="6711696" cy="182880"/>
          </a:xfrm>
          <a:prstGeom prst="rect">
            <a:avLst/>
          </a:prstGeom>
          <a:noFill/>
          <a:ln/>
        </p:spPr>
        <p:txBody>
          <a:bodyPr wrap="square" lIns="0" tIns="0" rIns="0" bIns="0" rtlCol="0" anchor="ctr"/>
          <a:lstStyle/>
          <a:p>
            <a:pPr indent="0" marL="0">
              <a:buNone/>
            </a:pPr>
            <a:r>
              <a:rPr lang="en-US" sz="1200" b="1" dirty="0">
                <a:solidFill>
                  <a:srgbClr val="19212B"/>
                </a:solidFill>
              </a:rPr>
              <a:t>Application shell</a:t>
            </a:r>
            <a:endParaRPr lang="en-US" sz="1200" dirty="0"/>
          </a:p>
        </p:txBody>
      </p:sp>
      <p:sp>
        <p:nvSpPr>
          <p:cNvPr id="6" name="Shape 4"/>
          <p:cNvSpPr/>
          <p:nvPr/>
        </p:nvSpPr>
        <p:spPr>
          <a:xfrm>
            <a:off x="960120" y="1700784"/>
            <a:ext cx="6537960" cy="4069080"/>
          </a:xfrm>
          <a:prstGeom prst="roundRect">
            <a:avLst>
              <a:gd name="adj" fmla="val 2697"/>
            </a:avLst>
          </a:prstGeom>
          <a:solidFill>
            <a:srgbClr val="FCFDFE"/>
          </a:solidFill>
          <a:ln w="12700">
            <a:solidFill>
              <a:srgbClr val="CBD4DF"/>
            </a:solidFill>
            <a:prstDash val="solid"/>
          </a:ln>
        </p:spPr>
      </p:sp>
      <p:sp>
        <p:nvSpPr>
          <p:cNvPr id="7" name="Shape 5"/>
          <p:cNvSpPr/>
          <p:nvPr/>
        </p:nvSpPr>
        <p:spPr>
          <a:xfrm>
            <a:off x="960120" y="1700784"/>
            <a:ext cx="6537960" cy="384048"/>
          </a:xfrm>
          <a:prstGeom prst="roundRect">
            <a:avLst>
              <a:gd name="adj" fmla="val 28571"/>
            </a:avLst>
          </a:prstGeom>
          <a:solidFill>
            <a:srgbClr val="F9FBFD"/>
          </a:solidFill>
          <a:ln w="12700">
            <a:solidFill>
              <a:srgbClr val="CBD4DF"/>
            </a:solidFill>
            <a:prstDash val="solid"/>
          </a:ln>
        </p:spPr>
      </p:sp>
      <p:sp>
        <p:nvSpPr>
          <p:cNvPr id="8" name="Shape 6"/>
          <p:cNvSpPr/>
          <p:nvPr/>
        </p:nvSpPr>
        <p:spPr>
          <a:xfrm>
            <a:off x="1143000" y="1801368"/>
            <a:ext cx="2011680" cy="164592"/>
          </a:xfrm>
          <a:prstGeom prst="roundRect">
            <a:avLst>
              <a:gd name="adj" fmla="val 27778"/>
            </a:avLst>
          </a:prstGeom>
          <a:solidFill>
            <a:srgbClr val="FFFFFF"/>
          </a:solidFill>
          <a:ln w="12700">
            <a:solidFill>
              <a:srgbClr val="E3E8EF"/>
            </a:solidFill>
            <a:prstDash val="solid"/>
          </a:ln>
        </p:spPr>
      </p:sp>
      <p:sp>
        <p:nvSpPr>
          <p:cNvPr id="9" name="Text 7"/>
          <p:cNvSpPr/>
          <p:nvPr/>
        </p:nvSpPr>
        <p:spPr>
          <a:xfrm>
            <a:off x="1271016" y="1828800"/>
            <a:ext cx="1463040" cy="91440"/>
          </a:xfrm>
          <a:prstGeom prst="rect">
            <a:avLst/>
          </a:prstGeom>
          <a:noFill/>
          <a:ln/>
        </p:spPr>
        <p:txBody>
          <a:bodyPr wrap="square" lIns="0" tIns="0" rIns="0" bIns="0" rtlCol="0" anchor="ctr"/>
          <a:lstStyle/>
          <a:p>
            <a:pPr indent="0" marL="0">
              <a:buNone/>
            </a:pPr>
            <a:r>
              <a:rPr lang="en-US" sz="950" dirty="0">
                <a:solidFill>
                  <a:srgbClr val="5D6B7B"/>
                </a:solidFill>
              </a:rPr>
              <a:t>Global command bar</a:t>
            </a:r>
            <a:endParaRPr lang="en-US" sz="950" dirty="0"/>
          </a:p>
        </p:txBody>
      </p:sp>
      <p:sp>
        <p:nvSpPr>
          <p:cNvPr id="10" name="Text 8"/>
          <p:cNvSpPr/>
          <p:nvPr/>
        </p:nvSpPr>
        <p:spPr>
          <a:xfrm>
            <a:off x="5212080" y="1819656"/>
            <a:ext cx="1828800" cy="91440"/>
          </a:xfrm>
          <a:prstGeom prst="rect">
            <a:avLst/>
          </a:prstGeom>
          <a:noFill/>
          <a:ln/>
        </p:spPr>
        <p:txBody>
          <a:bodyPr wrap="square" lIns="0" tIns="0" rIns="0" bIns="0" rtlCol="0" anchor="ctr"/>
          <a:lstStyle/>
          <a:p>
            <a:pPr algn="r" indent="0" marL="0">
              <a:buNone/>
            </a:pPr>
            <a:r>
              <a:rPr lang="en-US" sz="950" dirty="0">
                <a:solidFill>
                  <a:srgbClr val="5D6B7B"/>
                </a:solidFill>
              </a:rPr>
              <a:t>Search  •  Alerts  •  Profile</a:t>
            </a:r>
            <a:endParaRPr lang="en-US" sz="950" dirty="0"/>
          </a:p>
        </p:txBody>
      </p:sp>
      <p:sp>
        <p:nvSpPr>
          <p:cNvPr id="11" name="Shape 9"/>
          <p:cNvSpPr/>
          <p:nvPr/>
        </p:nvSpPr>
        <p:spPr>
          <a:xfrm>
            <a:off x="960120" y="2084832"/>
            <a:ext cx="1097280" cy="3685032"/>
          </a:xfrm>
          <a:prstGeom prst="rect">
            <a:avLst/>
          </a:prstGeom>
          <a:solidFill>
            <a:srgbClr val="FBFCFE"/>
          </a:solidFill>
          <a:ln w="12700">
            <a:solidFill>
              <a:srgbClr val="E3E8EF"/>
            </a:solidFill>
            <a:prstDash val="solid"/>
          </a:ln>
        </p:spPr>
      </p:sp>
      <p:sp>
        <p:nvSpPr>
          <p:cNvPr id="12" name="Text 10"/>
          <p:cNvSpPr/>
          <p:nvPr/>
        </p:nvSpPr>
        <p:spPr>
          <a:xfrm>
            <a:off x="1106424" y="2231136"/>
            <a:ext cx="804672" cy="137160"/>
          </a:xfrm>
          <a:prstGeom prst="rect">
            <a:avLst/>
          </a:prstGeom>
          <a:noFill/>
          <a:ln/>
        </p:spPr>
        <p:txBody>
          <a:bodyPr wrap="square" lIns="0" tIns="0" rIns="0" bIns="0" rtlCol="0" anchor="ctr"/>
          <a:lstStyle/>
          <a:p>
            <a:pPr indent="0" marL="0">
              <a:buNone/>
            </a:pPr>
            <a:r>
              <a:rPr lang="en-US" sz="1050" b="1" dirty="0">
                <a:solidFill>
                  <a:srgbClr val="19212B"/>
                </a:solidFill>
              </a:rPr>
              <a:t>Home</a:t>
            </a:r>
            <a:endParaRPr lang="en-US" sz="1050" dirty="0"/>
          </a:p>
        </p:txBody>
      </p:sp>
      <p:sp>
        <p:nvSpPr>
          <p:cNvPr id="13" name="Shape 11"/>
          <p:cNvSpPr/>
          <p:nvPr/>
        </p:nvSpPr>
        <p:spPr>
          <a:xfrm>
            <a:off x="1060704" y="2496312"/>
            <a:ext cx="896112" cy="237744"/>
          </a:xfrm>
          <a:prstGeom prst="roundRect">
            <a:avLst>
              <a:gd name="adj" fmla="val 19231"/>
            </a:avLst>
          </a:prstGeom>
          <a:solidFill>
            <a:srgbClr val="EAF1FF"/>
          </a:solidFill>
          <a:ln w="12700">
            <a:solidFill>
              <a:srgbClr val="EAF1FF">
                <a:alpha val="0"/>
              </a:srgbClr>
            </a:solidFill>
            <a:prstDash val="solid"/>
          </a:ln>
        </p:spPr>
      </p:sp>
      <p:sp>
        <p:nvSpPr>
          <p:cNvPr id="14" name="Text 12"/>
          <p:cNvSpPr/>
          <p:nvPr/>
        </p:nvSpPr>
        <p:spPr>
          <a:xfrm>
            <a:off x="1161288" y="2542032"/>
            <a:ext cx="640080" cy="91440"/>
          </a:xfrm>
          <a:prstGeom prst="rect">
            <a:avLst/>
          </a:prstGeom>
          <a:noFill/>
          <a:ln/>
        </p:spPr>
        <p:txBody>
          <a:bodyPr wrap="square" lIns="0" tIns="0" rIns="0" bIns="0" rtlCol="0" anchor="ctr"/>
          <a:lstStyle/>
          <a:p>
            <a:pPr indent="0" marL="0">
              <a:buNone/>
            </a:pPr>
            <a:r>
              <a:rPr lang="en-US" sz="950" b="1" dirty="0">
                <a:solidFill>
                  <a:srgbClr val="2F6BFF"/>
                </a:solidFill>
              </a:rPr>
              <a:t>Home</a:t>
            </a:r>
            <a:endParaRPr lang="en-US" sz="950" dirty="0"/>
          </a:p>
        </p:txBody>
      </p:sp>
      <p:sp>
        <p:nvSpPr>
          <p:cNvPr id="15" name="Text 13"/>
          <p:cNvSpPr/>
          <p:nvPr/>
        </p:nvSpPr>
        <p:spPr>
          <a:xfrm>
            <a:off x="1161288" y="2926080"/>
            <a:ext cx="640080" cy="91440"/>
          </a:xfrm>
          <a:prstGeom prst="rect">
            <a:avLst/>
          </a:prstGeom>
          <a:noFill/>
          <a:ln/>
        </p:spPr>
        <p:txBody>
          <a:bodyPr wrap="square" lIns="0" tIns="0" rIns="0" bIns="0" rtlCol="0" anchor="ctr"/>
          <a:lstStyle/>
          <a:p>
            <a:pPr indent="0" marL="0">
              <a:buNone/>
            </a:pPr>
            <a:r>
              <a:rPr lang="en-US" sz="950" dirty="0">
                <a:solidFill>
                  <a:srgbClr val="5D6B7B"/>
                </a:solidFill>
              </a:rPr>
              <a:t>Studio</a:t>
            </a:r>
            <a:endParaRPr lang="en-US" sz="950" dirty="0"/>
          </a:p>
        </p:txBody>
      </p:sp>
      <p:sp>
        <p:nvSpPr>
          <p:cNvPr id="16" name="Text 14"/>
          <p:cNvSpPr/>
          <p:nvPr/>
        </p:nvSpPr>
        <p:spPr>
          <a:xfrm>
            <a:off x="1161288" y="3310128"/>
            <a:ext cx="640080" cy="91440"/>
          </a:xfrm>
          <a:prstGeom prst="rect">
            <a:avLst/>
          </a:prstGeom>
          <a:noFill/>
          <a:ln/>
        </p:spPr>
        <p:txBody>
          <a:bodyPr wrap="square" lIns="0" tIns="0" rIns="0" bIns="0" rtlCol="0" anchor="ctr"/>
          <a:lstStyle/>
          <a:p>
            <a:pPr indent="0" marL="0">
              <a:buNone/>
            </a:pPr>
            <a:r>
              <a:rPr lang="en-US" sz="950" dirty="0">
                <a:solidFill>
                  <a:srgbClr val="5D6B7B"/>
                </a:solidFill>
              </a:rPr>
              <a:t>Runs</a:t>
            </a:r>
            <a:endParaRPr lang="en-US" sz="950" dirty="0"/>
          </a:p>
        </p:txBody>
      </p:sp>
      <p:sp>
        <p:nvSpPr>
          <p:cNvPr id="17" name="Text 15"/>
          <p:cNvSpPr/>
          <p:nvPr/>
        </p:nvSpPr>
        <p:spPr>
          <a:xfrm>
            <a:off x="1161288" y="3694176"/>
            <a:ext cx="640080" cy="91440"/>
          </a:xfrm>
          <a:prstGeom prst="rect">
            <a:avLst/>
          </a:prstGeom>
          <a:noFill/>
          <a:ln/>
        </p:spPr>
        <p:txBody>
          <a:bodyPr wrap="square" lIns="0" tIns="0" rIns="0" bIns="0" rtlCol="0" anchor="ctr"/>
          <a:lstStyle/>
          <a:p>
            <a:pPr indent="0" marL="0">
              <a:buNone/>
            </a:pPr>
            <a:r>
              <a:rPr lang="en-US" sz="950" dirty="0">
                <a:solidFill>
                  <a:srgbClr val="5D6B7B"/>
                </a:solidFill>
              </a:rPr>
              <a:t>Deploy</a:t>
            </a:r>
            <a:endParaRPr lang="en-US" sz="950" dirty="0"/>
          </a:p>
        </p:txBody>
      </p:sp>
      <p:sp>
        <p:nvSpPr>
          <p:cNvPr id="18" name="Text 16"/>
          <p:cNvSpPr/>
          <p:nvPr/>
        </p:nvSpPr>
        <p:spPr>
          <a:xfrm>
            <a:off x="1161288" y="4078224"/>
            <a:ext cx="640080" cy="91440"/>
          </a:xfrm>
          <a:prstGeom prst="rect">
            <a:avLst/>
          </a:prstGeom>
          <a:noFill/>
          <a:ln/>
        </p:spPr>
        <p:txBody>
          <a:bodyPr wrap="square" lIns="0" tIns="0" rIns="0" bIns="0" rtlCol="0" anchor="ctr"/>
          <a:lstStyle/>
          <a:p>
            <a:pPr indent="0" marL="0">
              <a:buNone/>
            </a:pPr>
            <a:r>
              <a:rPr lang="en-US" sz="950" dirty="0">
                <a:solidFill>
                  <a:srgbClr val="5D6B7B"/>
                </a:solidFill>
              </a:rPr>
              <a:t>Observe</a:t>
            </a:r>
            <a:endParaRPr lang="en-US" sz="950" dirty="0"/>
          </a:p>
        </p:txBody>
      </p:sp>
      <p:sp>
        <p:nvSpPr>
          <p:cNvPr id="19" name="Text 17"/>
          <p:cNvSpPr/>
          <p:nvPr/>
        </p:nvSpPr>
        <p:spPr>
          <a:xfrm>
            <a:off x="1161288" y="4462272"/>
            <a:ext cx="640080" cy="91440"/>
          </a:xfrm>
          <a:prstGeom prst="rect">
            <a:avLst/>
          </a:prstGeom>
          <a:noFill/>
          <a:ln/>
        </p:spPr>
        <p:txBody>
          <a:bodyPr wrap="square" lIns="0" tIns="0" rIns="0" bIns="0" rtlCol="0" anchor="ctr"/>
          <a:lstStyle/>
          <a:p>
            <a:pPr indent="0" marL="0">
              <a:buNone/>
            </a:pPr>
            <a:r>
              <a:rPr lang="en-US" sz="950" dirty="0">
                <a:solidFill>
                  <a:srgbClr val="5D6B7B"/>
                </a:solidFill>
              </a:rPr>
              <a:t>Govern</a:t>
            </a:r>
            <a:endParaRPr lang="en-US" sz="950" dirty="0"/>
          </a:p>
        </p:txBody>
      </p:sp>
      <p:sp>
        <p:nvSpPr>
          <p:cNvPr id="20" name="Text 18"/>
          <p:cNvSpPr/>
          <p:nvPr/>
        </p:nvSpPr>
        <p:spPr>
          <a:xfrm>
            <a:off x="2258568" y="2212848"/>
            <a:ext cx="2194560" cy="164592"/>
          </a:xfrm>
          <a:prstGeom prst="rect">
            <a:avLst/>
          </a:prstGeom>
          <a:noFill/>
          <a:ln/>
        </p:spPr>
        <p:txBody>
          <a:bodyPr wrap="square" lIns="0" tIns="0" rIns="0" bIns="0" rtlCol="0" anchor="ctr"/>
          <a:lstStyle/>
          <a:p>
            <a:pPr indent="0" marL="0">
              <a:buNone/>
            </a:pPr>
            <a:r>
              <a:rPr lang="en-US" sz="1300" b="1" dirty="0">
                <a:solidFill>
                  <a:srgbClr val="19212B"/>
                </a:solidFill>
              </a:rPr>
              <a:t>Home dashboard</a:t>
            </a:r>
            <a:endParaRPr lang="en-US" sz="1300" dirty="0"/>
          </a:p>
        </p:txBody>
      </p:sp>
      <p:sp>
        <p:nvSpPr>
          <p:cNvPr id="21" name="Text 19"/>
          <p:cNvSpPr/>
          <p:nvPr/>
        </p:nvSpPr>
        <p:spPr>
          <a:xfrm>
            <a:off x="2258568" y="2414016"/>
            <a:ext cx="2560320" cy="109728"/>
          </a:xfrm>
          <a:prstGeom prst="rect">
            <a:avLst/>
          </a:prstGeom>
          <a:noFill/>
          <a:ln/>
        </p:spPr>
        <p:txBody>
          <a:bodyPr wrap="square" lIns="0" tIns="0" rIns="0" bIns="0" rtlCol="0" anchor="ctr"/>
          <a:lstStyle/>
          <a:p>
            <a:pPr indent="0" marL="0">
              <a:buNone/>
            </a:pPr>
            <a:r>
              <a:rPr lang="en-US" sz="930" dirty="0">
                <a:solidFill>
                  <a:srgbClr val="5D6B7B"/>
                </a:solidFill>
              </a:rPr>
              <a:t>Role-based view with progressive disclosure</a:t>
            </a:r>
            <a:endParaRPr lang="en-US" sz="930" dirty="0"/>
          </a:p>
        </p:txBody>
      </p:sp>
      <p:sp>
        <p:nvSpPr>
          <p:cNvPr id="22" name="Shape 20"/>
          <p:cNvSpPr/>
          <p:nvPr/>
        </p:nvSpPr>
        <p:spPr>
          <a:xfrm>
            <a:off x="8046720" y="1627632"/>
            <a:ext cx="3383280" cy="960120"/>
          </a:xfrm>
          <a:prstGeom prst="roundRect">
            <a:avLst>
              <a:gd name="adj" fmla="val 7619"/>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23" name="Text 21"/>
          <p:cNvSpPr/>
          <p:nvPr/>
        </p:nvSpPr>
        <p:spPr>
          <a:xfrm>
            <a:off x="8156448" y="1709928"/>
            <a:ext cx="3163824" cy="128016"/>
          </a:xfrm>
          <a:prstGeom prst="rect">
            <a:avLst/>
          </a:prstGeom>
          <a:noFill/>
          <a:ln/>
        </p:spPr>
        <p:txBody>
          <a:bodyPr wrap="square" lIns="0" tIns="0" rIns="0" bIns="0" rtlCol="0" anchor="ctr"/>
          <a:lstStyle/>
          <a:p>
            <a:pPr indent="0" marL="0">
              <a:buNone/>
            </a:pPr>
            <a:r>
              <a:rPr lang="en-US" sz="1100" b="1" dirty="0">
                <a:solidFill>
                  <a:srgbClr val="2F6BFF"/>
                </a:solidFill>
              </a:rPr>
              <a:t>Primary navigation</a:t>
            </a:r>
            <a:endParaRPr lang="en-US" sz="1100" dirty="0"/>
          </a:p>
        </p:txBody>
      </p:sp>
      <p:sp>
        <p:nvSpPr>
          <p:cNvPr id="24" name="Text 22"/>
          <p:cNvSpPr/>
          <p:nvPr/>
        </p:nvSpPr>
        <p:spPr>
          <a:xfrm>
            <a:off x="8156448" y="1874520"/>
            <a:ext cx="3163824" cy="649224"/>
          </a:xfrm>
          <a:prstGeom prst="rect">
            <a:avLst/>
          </a:prstGeom>
          <a:noFill/>
          <a:ln/>
        </p:spPr>
        <p:txBody>
          <a:bodyPr wrap="square" lIns="0" tIns="0" rIns="0" bIns="0" rtlCol="0" anchor="t"/>
          <a:lstStyle/>
          <a:p>
            <a:pPr indent="0" marL="0">
              <a:buNone/>
            </a:pPr>
            <a:r>
              <a:rPr lang="en-US" sz="960" dirty="0">
                <a:solidFill>
                  <a:srgbClr val="5D6B7B"/>
                </a:solidFill>
              </a:rPr>
              <a:t>Home, Studio, Runs, Knowledge, Deployments, Observability, Governance, Executive, Settings.</a:t>
            </a:r>
            <a:endParaRPr lang="en-US" sz="960" dirty="0"/>
          </a:p>
        </p:txBody>
      </p:sp>
      <p:sp>
        <p:nvSpPr>
          <p:cNvPr id="25" name="Shape 23"/>
          <p:cNvSpPr/>
          <p:nvPr/>
        </p:nvSpPr>
        <p:spPr>
          <a:xfrm>
            <a:off x="8046720" y="2788920"/>
            <a:ext cx="3383280" cy="914400"/>
          </a:xfrm>
          <a:prstGeom prst="roundRect">
            <a:avLst>
              <a:gd name="adj" fmla="val 8000"/>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26" name="Text 24"/>
          <p:cNvSpPr/>
          <p:nvPr/>
        </p:nvSpPr>
        <p:spPr>
          <a:xfrm>
            <a:off x="8156448" y="2871216"/>
            <a:ext cx="3163824" cy="128016"/>
          </a:xfrm>
          <a:prstGeom prst="rect">
            <a:avLst/>
          </a:prstGeom>
          <a:noFill/>
          <a:ln/>
        </p:spPr>
        <p:txBody>
          <a:bodyPr wrap="square" lIns="0" tIns="0" rIns="0" bIns="0" rtlCol="0" anchor="ctr"/>
          <a:lstStyle/>
          <a:p>
            <a:pPr indent="0" marL="0">
              <a:buNone/>
            </a:pPr>
            <a:r>
              <a:rPr lang="en-US" sz="1100" b="1" dirty="0">
                <a:solidFill>
                  <a:srgbClr val="2F6BFF"/>
                </a:solidFill>
              </a:rPr>
              <a:t>Agent-level navigation</a:t>
            </a:r>
            <a:endParaRPr lang="en-US" sz="1100" dirty="0"/>
          </a:p>
        </p:txBody>
      </p:sp>
      <p:sp>
        <p:nvSpPr>
          <p:cNvPr id="27" name="Text 25"/>
          <p:cNvSpPr/>
          <p:nvPr/>
        </p:nvSpPr>
        <p:spPr>
          <a:xfrm>
            <a:off x="8156448" y="3035808"/>
            <a:ext cx="3163824" cy="603504"/>
          </a:xfrm>
          <a:prstGeom prst="rect">
            <a:avLst/>
          </a:prstGeom>
          <a:noFill/>
          <a:ln/>
        </p:spPr>
        <p:txBody>
          <a:bodyPr wrap="square" lIns="0" tIns="0" rIns="0" bIns="0" rtlCol="0" anchor="t"/>
          <a:lstStyle/>
          <a:p>
            <a:pPr indent="0" marL="0">
              <a:buNone/>
            </a:pPr>
            <a:r>
              <a:rPr lang="en-US" sz="960" dirty="0">
                <a:solidFill>
                  <a:srgbClr val="5D6B7B"/>
                </a:solidFill>
              </a:rPr>
              <a:t>Overview, Brief, Design, Evaluation, Versions, Runtime, Audit. This keeps the lifecycle readable inside each agent.</a:t>
            </a:r>
            <a:endParaRPr lang="en-US" sz="960" dirty="0"/>
          </a:p>
        </p:txBody>
      </p:sp>
      <p:sp>
        <p:nvSpPr>
          <p:cNvPr id="28" name="Shape 26"/>
          <p:cNvSpPr/>
          <p:nvPr/>
        </p:nvSpPr>
        <p:spPr>
          <a:xfrm>
            <a:off x="8046720" y="3913632"/>
            <a:ext cx="3383280" cy="1298448"/>
          </a:xfrm>
          <a:prstGeom prst="roundRect">
            <a:avLst>
              <a:gd name="adj" fmla="val 5634"/>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29" name="Text 27"/>
          <p:cNvSpPr/>
          <p:nvPr/>
        </p:nvSpPr>
        <p:spPr>
          <a:xfrm>
            <a:off x="8156448" y="3995928"/>
            <a:ext cx="3163824" cy="128016"/>
          </a:xfrm>
          <a:prstGeom prst="rect">
            <a:avLst/>
          </a:prstGeom>
          <a:noFill/>
          <a:ln/>
        </p:spPr>
        <p:txBody>
          <a:bodyPr wrap="square" lIns="0" tIns="0" rIns="0" bIns="0" rtlCol="0" anchor="ctr"/>
          <a:lstStyle/>
          <a:p>
            <a:pPr indent="0" marL="0">
              <a:buNone/>
            </a:pPr>
            <a:r>
              <a:rPr lang="en-US" sz="1100" b="1" dirty="0">
                <a:solidFill>
                  <a:srgbClr val="2F6BFF"/>
                </a:solidFill>
              </a:rPr>
              <a:t>Role model</a:t>
            </a:r>
            <a:endParaRPr lang="en-US" sz="1100" dirty="0"/>
          </a:p>
        </p:txBody>
      </p:sp>
      <p:sp>
        <p:nvSpPr>
          <p:cNvPr id="30" name="Text 28"/>
          <p:cNvSpPr/>
          <p:nvPr/>
        </p:nvSpPr>
        <p:spPr>
          <a:xfrm>
            <a:off x="8156448" y="4160520"/>
            <a:ext cx="3163824" cy="987552"/>
          </a:xfrm>
          <a:prstGeom prst="rect">
            <a:avLst/>
          </a:prstGeom>
          <a:noFill/>
          <a:ln/>
        </p:spPr>
        <p:txBody>
          <a:bodyPr wrap="square" lIns="0" tIns="0" rIns="0" bIns="0" rtlCol="0" anchor="t"/>
          <a:lstStyle/>
          <a:p>
            <a:pPr indent="0" marL="0">
              <a:buNone/>
            </a:pPr>
            <a:r>
              <a:rPr lang="en-US" sz="960" dirty="0">
                <a:solidFill>
                  <a:srgbClr val="5D6B7B"/>
                </a:solidFill>
              </a:rPr>
              <a:t>Same system, different entry points: Studio for builders, Ops for runtime teams, Governance for risk and approvals, and Executive for portfolio visibility.</a:t>
            </a:r>
            <a:endParaRPr lang="en-US" sz="960" dirty="0"/>
          </a:p>
        </p:txBody>
      </p:sp>
      <p:sp>
        <p:nvSpPr>
          <p:cNvPr id="31" name="Text 29"/>
          <p:cNvSpPr/>
          <p:nvPr/>
        </p:nvSpPr>
        <p:spPr>
          <a:xfrm>
            <a:off x="594360" y="6473952"/>
            <a:ext cx="4389120" cy="164592"/>
          </a:xfrm>
          <a:prstGeom prst="rect">
            <a:avLst/>
          </a:prstGeom>
          <a:noFill/>
          <a:ln/>
        </p:spPr>
        <p:txBody>
          <a:bodyPr wrap="square" lIns="0" tIns="0" rIns="0" bIns="0" rtlCol="0" anchor="ctr"/>
          <a:lstStyle/>
          <a:p>
            <a:pPr indent="0" marL="0">
              <a:buNone/>
            </a:pPr>
            <a:r>
              <a:rPr lang="en-US" sz="900" dirty="0">
                <a:solidFill>
                  <a:srgbClr val="7A8794"/>
                </a:solidFill>
              </a:rPr>
              <a:t>Agent Architect Pro — UX wireframe direction</a:t>
            </a:r>
            <a:endParaRPr lang="en-US" sz="900" dirty="0"/>
          </a:p>
        </p:txBody>
      </p:sp>
      <p:sp>
        <p:nvSpPr>
          <p:cNvPr id="32" name="Text 30"/>
          <p:cNvSpPr/>
          <p:nvPr/>
        </p:nvSpPr>
        <p:spPr>
          <a:xfrm>
            <a:off x="11292840" y="6437376"/>
            <a:ext cx="274320" cy="182880"/>
          </a:xfrm>
          <a:prstGeom prst="rect">
            <a:avLst/>
          </a:prstGeom>
          <a:noFill/>
          <a:ln/>
        </p:spPr>
        <p:txBody>
          <a:bodyPr wrap="square" lIns="0" tIns="0" rIns="0" bIns="0" rtlCol="0" anchor="ctr"/>
          <a:lstStyle/>
          <a:p>
            <a:pPr algn="r" indent="0" marL="0">
              <a:buNone/>
            </a:pPr>
            <a:r>
              <a:rPr lang="en-US" sz="1000" dirty="0">
                <a:solidFill>
                  <a:srgbClr val="7A8794"/>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0040"/>
            <a:ext cx="8046720" cy="384048"/>
          </a:xfrm>
          <a:prstGeom prst="rect">
            <a:avLst/>
          </a:prstGeom>
          <a:noFill/>
          <a:ln/>
        </p:spPr>
        <p:txBody>
          <a:bodyPr wrap="square" lIns="0" tIns="0" rIns="0" bIns="0" rtlCol="0" anchor="ctr"/>
          <a:lstStyle/>
          <a:p>
            <a:pPr indent="0" marL="0">
              <a:buNone/>
            </a:pPr>
            <a:r>
              <a:rPr lang="en-US" sz="2800" b="1" dirty="0">
                <a:solidFill>
                  <a:srgbClr val="19212B"/>
                </a:solidFill>
                <a:latin typeface="Aptos Display" pitchFamily="34" charset="0"/>
                <a:ea typeface="Aptos Display" pitchFamily="34" charset="-122"/>
                <a:cs typeface="Aptos Display" pitchFamily="34" charset="-120"/>
              </a:rPr>
              <a:t>Wireframe 01 — Home dashboard</a:t>
            </a:r>
            <a:endParaRPr lang="en-US" sz="2800" dirty="0"/>
          </a:p>
        </p:txBody>
      </p:sp>
      <p:sp>
        <p:nvSpPr>
          <p:cNvPr id="3" name="Text 1"/>
          <p:cNvSpPr/>
          <p:nvPr/>
        </p:nvSpPr>
        <p:spPr>
          <a:xfrm>
            <a:off x="594360" y="749808"/>
            <a:ext cx="9692640" cy="310896"/>
          </a:xfrm>
          <a:prstGeom prst="rect">
            <a:avLst/>
          </a:prstGeom>
          <a:noFill/>
          <a:ln/>
        </p:spPr>
        <p:txBody>
          <a:bodyPr wrap="square" lIns="0" tIns="0" rIns="0" bIns="0" rtlCol="0" anchor="ctr"/>
          <a:lstStyle/>
          <a:p>
            <a:pPr indent="0" marL="0">
              <a:buNone/>
            </a:pPr>
            <a:r>
              <a:rPr lang="en-US" sz="1250" dirty="0">
                <a:solidFill>
                  <a:srgbClr val="5D6B7B"/>
                </a:solidFill>
              </a:rPr>
              <a:t>The home view acts as a calm command center: recent work, active runs, approvals, deployment health, and risk alerts without overwhelming the user.</a:t>
            </a:r>
            <a:endParaRPr lang="en-US" sz="1250" dirty="0"/>
          </a:p>
        </p:txBody>
      </p:sp>
      <p:sp>
        <p:nvSpPr>
          <p:cNvPr id="4" name="Shape 2"/>
          <p:cNvSpPr/>
          <p:nvPr/>
        </p:nvSpPr>
        <p:spPr>
          <a:xfrm>
            <a:off x="658368" y="1243584"/>
            <a:ext cx="7680960" cy="4956048"/>
          </a:xfrm>
          <a:prstGeom prst="roundRect">
            <a:avLst>
              <a:gd name="adj" fmla="val 2214"/>
            </a:avLst>
          </a:prstGeom>
          <a:solidFill>
            <a:srgbClr val="FCFDFE"/>
          </a:solidFill>
          <a:ln w="12700">
            <a:solidFill>
              <a:srgbClr val="CBD4DF"/>
            </a:solidFill>
            <a:prstDash val="solid"/>
          </a:ln>
        </p:spPr>
      </p:sp>
      <p:sp>
        <p:nvSpPr>
          <p:cNvPr id="5" name="Shape 3"/>
          <p:cNvSpPr/>
          <p:nvPr/>
        </p:nvSpPr>
        <p:spPr>
          <a:xfrm>
            <a:off x="658368" y="1243584"/>
            <a:ext cx="7680960" cy="384048"/>
          </a:xfrm>
          <a:prstGeom prst="roundRect">
            <a:avLst>
              <a:gd name="adj" fmla="val 28571"/>
            </a:avLst>
          </a:prstGeom>
          <a:solidFill>
            <a:srgbClr val="F9FBFD"/>
          </a:solidFill>
          <a:ln w="12700">
            <a:solidFill>
              <a:srgbClr val="CBD4DF"/>
            </a:solidFill>
            <a:prstDash val="solid"/>
          </a:ln>
        </p:spPr>
      </p:sp>
      <p:sp>
        <p:nvSpPr>
          <p:cNvPr id="6" name="Shape 4"/>
          <p:cNvSpPr/>
          <p:nvPr/>
        </p:nvSpPr>
        <p:spPr>
          <a:xfrm>
            <a:off x="841248" y="1344168"/>
            <a:ext cx="2011680" cy="164592"/>
          </a:xfrm>
          <a:prstGeom prst="roundRect">
            <a:avLst>
              <a:gd name="adj" fmla="val 27778"/>
            </a:avLst>
          </a:prstGeom>
          <a:solidFill>
            <a:srgbClr val="FFFFFF"/>
          </a:solidFill>
          <a:ln w="12700">
            <a:solidFill>
              <a:srgbClr val="E3E8EF"/>
            </a:solidFill>
            <a:prstDash val="solid"/>
          </a:ln>
        </p:spPr>
      </p:sp>
      <p:sp>
        <p:nvSpPr>
          <p:cNvPr id="7" name="Text 5"/>
          <p:cNvSpPr/>
          <p:nvPr/>
        </p:nvSpPr>
        <p:spPr>
          <a:xfrm>
            <a:off x="969264" y="1371600"/>
            <a:ext cx="1463040" cy="91440"/>
          </a:xfrm>
          <a:prstGeom prst="rect">
            <a:avLst/>
          </a:prstGeom>
          <a:noFill/>
          <a:ln/>
        </p:spPr>
        <p:txBody>
          <a:bodyPr wrap="square" lIns="0" tIns="0" rIns="0" bIns="0" rtlCol="0" anchor="ctr"/>
          <a:lstStyle/>
          <a:p>
            <a:pPr indent="0" marL="0">
              <a:buNone/>
            </a:pPr>
            <a:r>
              <a:rPr lang="en-US" sz="950" dirty="0">
                <a:solidFill>
                  <a:srgbClr val="5D6B7B"/>
                </a:solidFill>
              </a:rPr>
              <a:t>Global command bar</a:t>
            </a:r>
            <a:endParaRPr lang="en-US" sz="950" dirty="0"/>
          </a:p>
        </p:txBody>
      </p:sp>
      <p:sp>
        <p:nvSpPr>
          <p:cNvPr id="8" name="Text 6"/>
          <p:cNvSpPr/>
          <p:nvPr/>
        </p:nvSpPr>
        <p:spPr>
          <a:xfrm>
            <a:off x="6053328" y="1362456"/>
            <a:ext cx="1828800" cy="91440"/>
          </a:xfrm>
          <a:prstGeom prst="rect">
            <a:avLst/>
          </a:prstGeom>
          <a:noFill/>
          <a:ln/>
        </p:spPr>
        <p:txBody>
          <a:bodyPr wrap="square" lIns="0" tIns="0" rIns="0" bIns="0" rtlCol="0" anchor="ctr"/>
          <a:lstStyle/>
          <a:p>
            <a:pPr algn="r" indent="0" marL="0">
              <a:buNone/>
            </a:pPr>
            <a:r>
              <a:rPr lang="en-US" sz="950" dirty="0">
                <a:solidFill>
                  <a:srgbClr val="5D6B7B"/>
                </a:solidFill>
              </a:rPr>
              <a:t>Search  •  Alerts  •  Profile</a:t>
            </a:r>
            <a:endParaRPr lang="en-US" sz="950" dirty="0"/>
          </a:p>
        </p:txBody>
      </p:sp>
      <p:sp>
        <p:nvSpPr>
          <p:cNvPr id="9" name="Shape 7"/>
          <p:cNvSpPr/>
          <p:nvPr/>
        </p:nvSpPr>
        <p:spPr>
          <a:xfrm>
            <a:off x="658368" y="1627632"/>
            <a:ext cx="1097280" cy="4572000"/>
          </a:xfrm>
          <a:prstGeom prst="rect">
            <a:avLst/>
          </a:prstGeom>
          <a:solidFill>
            <a:srgbClr val="FBFCFE"/>
          </a:solidFill>
          <a:ln w="12700">
            <a:solidFill>
              <a:srgbClr val="E3E8EF"/>
            </a:solidFill>
            <a:prstDash val="solid"/>
          </a:ln>
        </p:spPr>
      </p:sp>
      <p:sp>
        <p:nvSpPr>
          <p:cNvPr id="10" name="Text 8"/>
          <p:cNvSpPr/>
          <p:nvPr/>
        </p:nvSpPr>
        <p:spPr>
          <a:xfrm>
            <a:off x="804672" y="1773936"/>
            <a:ext cx="804672" cy="137160"/>
          </a:xfrm>
          <a:prstGeom prst="rect">
            <a:avLst/>
          </a:prstGeom>
          <a:noFill/>
          <a:ln/>
        </p:spPr>
        <p:txBody>
          <a:bodyPr wrap="square" lIns="0" tIns="0" rIns="0" bIns="0" rtlCol="0" anchor="ctr"/>
          <a:lstStyle/>
          <a:p>
            <a:pPr indent="0" marL="0">
              <a:buNone/>
            </a:pPr>
            <a:r>
              <a:rPr lang="en-US" sz="1050" b="1" dirty="0">
                <a:solidFill>
                  <a:srgbClr val="19212B"/>
                </a:solidFill>
              </a:rPr>
              <a:t>Home</a:t>
            </a:r>
            <a:endParaRPr lang="en-US" sz="1050" dirty="0"/>
          </a:p>
        </p:txBody>
      </p:sp>
      <p:sp>
        <p:nvSpPr>
          <p:cNvPr id="11" name="Shape 9"/>
          <p:cNvSpPr/>
          <p:nvPr/>
        </p:nvSpPr>
        <p:spPr>
          <a:xfrm>
            <a:off x="758952" y="2039112"/>
            <a:ext cx="896112" cy="237744"/>
          </a:xfrm>
          <a:prstGeom prst="roundRect">
            <a:avLst>
              <a:gd name="adj" fmla="val 19231"/>
            </a:avLst>
          </a:prstGeom>
          <a:solidFill>
            <a:srgbClr val="EAF1FF"/>
          </a:solidFill>
          <a:ln w="12700">
            <a:solidFill>
              <a:srgbClr val="EAF1FF">
                <a:alpha val="0"/>
              </a:srgbClr>
            </a:solidFill>
            <a:prstDash val="solid"/>
          </a:ln>
        </p:spPr>
      </p:sp>
      <p:sp>
        <p:nvSpPr>
          <p:cNvPr id="12" name="Text 10"/>
          <p:cNvSpPr/>
          <p:nvPr/>
        </p:nvSpPr>
        <p:spPr>
          <a:xfrm>
            <a:off x="859536" y="2084832"/>
            <a:ext cx="640080" cy="91440"/>
          </a:xfrm>
          <a:prstGeom prst="rect">
            <a:avLst/>
          </a:prstGeom>
          <a:noFill/>
          <a:ln/>
        </p:spPr>
        <p:txBody>
          <a:bodyPr wrap="square" lIns="0" tIns="0" rIns="0" bIns="0" rtlCol="0" anchor="ctr"/>
          <a:lstStyle/>
          <a:p>
            <a:pPr indent="0" marL="0">
              <a:buNone/>
            </a:pPr>
            <a:r>
              <a:rPr lang="en-US" sz="950" b="1" dirty="0">
                <a:solidFill>
                  <a:srgbClr val="2F6BFF"/>
                </a:solidFill>
              </a:rPr>
              <a:t>Home</a:t>
            </a:r>
            <a:endParaRPr lang="en-US" sz="950" dirty="0"/>
          </a:p>
        </p:txBody>
      </p:sp>
      <p:sp>
        <p:nvSpPr>
          <p:cNvPr id="13" name="Text 11"/>
          <p:cNvSpPr/>
          <p:nvPr/>
        </p:nvSpPr>
        <p:spPr>
          <a:xfrm>
            <a:off x="859536" y="2468880"/>
            <a:ext cx="640080" cy="91440"/>
          </a:xfrm>
          <a:prstGeom prst="rect">
            <a:avLst/>
          </a:prstGeom>
          <a:noFill/>
          <a:ln/>
        </p:spPr>
        <p:txBody>
          <a:bodyPr wrap="square" lIns="0" tIns="0" rIns="0" bIns="0" rtlCol="0" anchor="ctr"/>
          <a:lstStyle/>
          <a:p>
            <a:pPr indent="0" marL="0">
              <a:buNone/>
            </a:pPr>
            <a:r>
              <a:rPr lang="en-US" sz="950" dirty="0">
                <a:solidFill>
                  <a:srgbClr val="5D6B7B"/>
                </a:solidFill>
              </a:rPr>
              <a:t>Studio</a:t>
            </a:r>
            <a:endParaRPr lang="en-US" sz="950" dirty="0"/>
          </a:p>
        </p:txBody>
      </p:sp>
      <p:sp>
        <p:nvSpPr>
          <p:cNvPr id="14" name="Text 12"/>
          <p:cNvSpPr/>
          <p:nvPr/>
        </p:nvSpPr>
        <p:spPr>
          <a:xfrm>
            <a:off x="859536" y="2852928"/>
            <a:ext cx="640080" cy="91440"/>
          </a:xfrm>
          <a:prstGeom prst="rect">
            <a:avLst/>
          </a:prstGeom>
          <a:noFill/>
          <a:ln/>
        </p:spPr>
        <p:txBody>
          <a:bodyPr wrap="square" lIns="0" tIns="0" rIns="0" bIns="0" rtlCol="0" anchor="ctr"/>
          <a:lstStyle/>
          <a:p>
            <a:pPr indent="0" marL="0">
              <a:buNone/>
            </a:pPr>
            <a:r>
              <a:rPr lang="en-US" sz="950" dirty="0">
                <a:solidFill>
                  <a:srgbClr val="5D6B7B"/>
                </a:solidFill>
              </a:rPr>
              <a:t>Runs</a:t>
            </a:r>
            <a:endParaRPr lang="en-US" sz="950" dirty="0"/>
          </a:p>
        </p:txBody>
      </p:sp>
      <p:sp>
        <p:nvSpPr>
          <p:cNvPr id="15" name="Text 13"/>
          <p:cNvSpPr/>
          <p:nvPr/>
        </p:nvSpPr>
        <p:spPr>
          <a:xfrm>
            <a:off x="859536" y="3236976"/>
            <a:ext cx="640080" cy="91440"/>
          </a:xfrm>
          <a:prstGeom prst="rect">
            <a:avLst/>
          </a:prstGeom>
          <a:noFill/>
          <a:ln/>
        </p:spPr>
        <p:txBody>
          <a:bodyPr wrap="square" lIns="0" tIns="0" rIns="0" bIns="0" rtlCol="0" anchor="ctr"/>
          <a:lstStyle/>
          <a:p>
            <a:pPr indent="0" marL="0">
              <a:buNone/>
            </a:pPr>
            <a:r>
              <a:rPr lang="en-US" sz="950" dirty="0">
                <a:solidFill>
                  <a:srgbClr val="5D6B7B"/>
                </a:solidFill>
              </a:rPr>
              <a:t>Deploy</a:t>
            </a:r>
            <a:endParaRPr lang="en-US" sz="950" dirty="0"/>
          </a:p>
        </p:txBody>
      </p:sp>
      <p:sp>
        <p:nvSpPr>
          <p:cNvPr id="16" name="Text 14"/>
          <p:cNvSpPr/>
          <p:nvPr/>
        </p:nvSpPr>
        <p:spPr>
          <a:xfrm>
            <a:off x="859536" y="3621024"/>
            <a:ext cx="640080" cy="91440"/>
          </a:xfrm>
          <a:prstGeom prst="rect">
            <a:avLst/>
          </a:prstGeom>
          <a:noFill/>
          <a:ln/>
        </p:spPr>
        <p:txBody>
          <a:bodyPr wrap="square" lIns="0" tIns="0" rIns="0" bIns="0" rtlCol="0" anchor="ctr"/>
          <a:lstStyle/>
          <a:p>
            <a:pPr indent="0" marL="0">
              <a:buNone/>
            </a:pPr>
            <a:r>
              <a:rPr lang="en-US" sz="950" dirty="0">
                <a:solidFill>
                  <a:srgbClr val="5D6B7B"/>
                </a:solidFill>
              </a:rPr>
              <a:t>Observe</a:t>
            </a:r>
            <a:endParaRPr lang="en-US" sz="950" dirty="0"/>
          </a:p>
        </p:txBody>
      </p:sp>
      <p:sp>
        <p:nvSpPr>
          <p:cNvPr id="17" name="Text 15"/>
          <p:cNvSpPr/>
          <p:nvPr/>
        </p:nvSpPr>
        <p:spPr>
          <a:xfrm>
            <a:off x="859536" y="4005072"/>
            <a:ext cx="640080" cy="91440"/>
          </a:xfrm>
          <a:prstGeom prst="rect">
            <a:avLst/>
          </a:prstGeom>
          <a:noFill/>
          <a:ln/>
        </p:spPr>
        <p:txBody>
          <a:bodyPr wrap="square" lIns="0" tIns="0" rIns="0" bIns="0" rtlCol="0" anchor="ctr"/>
          <a:lstStyle/>
          <a:p>
            <a:pPr indent="0" marL="0">
              <a:buNone/>
            </a:pPr>
            <a:r>
              <a:rPr lang="en-US" sz="950" dirty="0">
                <a:solidFill>
                  <a:srgbClr val="5D6B7B"/>
                </a:solidFill>
              </a:rPr>
              <a:t>Govern</a:t>
            </a:r>
            <a:endParaRPr lang="en-US" sz="950" dirty="0"/>
          </a:p>
        </p:txBody>
      </p:sp>
      <p:sp>
        <p:nvSpPr>
          <p:cNvPr id="18" name="Text 16"/>
          <p:cNvSpPr/>
          <p:nvPr/>
        </p:nvSpPr>
        <p:spPr>
          <a:xfrm>
            <a:off x="1956816" y="1755648"/>
            <a:ext cx="2194560" cy="164592"/>
          </a:xfrm>
          <a:prstGeom prst="rect">
            <a:avLst/>
          </a:prstGeom>
          <a:noFill/>
          <a:ln/>
        </p:spPr>
        <p:txBody>
          <a:bodyPr wrap="square" lIns="0" tIns="0" rIns="0" bIns="0" rtlCol="0" anchor="ctr"/>
          <a:lstStyle/>
          <a:p>
            <a:pPr indent="0" marL="0">
              <a:buNone/>
            </a:pPr>
            <a:r>
              <a:rPr lang="en-US" sz="1300" b="1" dirty="0">
                <a:solidFill>
                  <a:srgbClr val="19212B"/>
                </a:solidFill>
              </a:rPr>
              <a:t>Home dashboard</a:t>
            </a:r>
            <a:endParaRPr lang="en-US" sz="1300" dirty="0"/>
          </a:p>
        </p:txBody>
      </p:sp>
      <p:sp>
        <p:nvSpPr>
          <p:cNvPr id="19" name="Text 17"/>
          <p:cNvSpPr/>
          <p:nvPr/>
        </p:nvSpPr>
        <p:spPr>
          <a:xfrm>
            <a:off x="1956816" y="1956816"/>
            <a:ext cx="2560320" cy="109728"/>
          </a:xfrm>
          <a:prstGeom prst="rect">
            <a:avLst/>
          </a:prstGeom>
          <a:noFill/>
          <a:ln/>
        </p:spPr>
        <p:txBody>
          <a:bodyPr wrap="square" lIns="0" tIns="0" rIns="0" bIns="0" rtlCol="0" anchor="ctr"/>
          <a:lstStyle/>
          <a:p>
            <a:pPr indent="0" marL="0">
              <a:buNone/>
            </a:pPr>
            <a:r>
              <a:rPr lang="en-US" sz="930" dirty="0">
                <a:solidFill>
                  <a:srgbClr val="5D6B7B"/>
                </a:solidFill>
              </a:rPr>
              <a:t>Role-based view with progressive disclosure</a:t>
            </a:r>
            <a:endParaRPr lang="en-US" sz="930" dirty="0"/>
          </a:p>
        </p:txBody>
      </p:sp>
      <p:sp>
        <p:nvSpPr>
          <p:cNvPr id="20" name="Shape 18"/>
          <p:cNvSpPr/>
          <p:nvPr/>
        </p:nvSpPr>
        <p:spPr>
          <a:xfrm>
            <a:off x="2029968" y="2249424"/>
            <a:ext cx="1828800" cy="749808"/>
          </a:xfrm>
          <a:prstGeom prst="roundRect">
            <a:avLst>
              <a:gd name="adj" fmla="val 9756"/>
            </a:avLst>
          </a:prstGeom>
          <a:solidFill>
            <a:srgbClr val="F3F5F8"/>
          </a:solidFill>
          <a:ln w="12700">
            <a:solidFill>
              <a:srgbClr val="D7DEE7"/>
            </a:solidFill>
            <a:prstDash val="solid"/>
          </a:ln>
        </p:spPr>
      </p:sp>
      <p:sp>
        <p:nvSpPr>
          <p:cNvPr id="21" name="Shape 19"/>
          <p:cNvSpPr/>
          <p:nvPr/>
        </p:nvSpPr>
        <p:spPr>
          <a:xfrm>
            <a:off x="2029968" y="2249424"/>
            <a:ext cx="1828800" cy="219456"/>
          </a:xfrm>
          <a:prstGeom prst="rect">
            <a:avLst/>
          </a:prstGeom>
          <a:solidFill>
            <a:srgbClr val="EEF2F7"/>
          </a:solidFill>
          <a:ln w="12700">
            <a:solidFill>
              <a:srgbClr val="D7DEE7"/>
            </a:solidFill>
            <a:prstDash val="solid"/>
          </a:ln>
        </p:spPr>
      </p:sp>
      <p:sp>
        <p:nvSpPr>
          <p:cNvPr id="22" name="Text 20"/>
          <p:cNvSpPr/>
          <p:nvPr/>
        </p:nvSpPr>
        <p:spPr>
          <a:xfrm>
            <a:off x="2139696" y="2304288"/>
            <a:ext cx="1609344" cy="91440"/>
          </a:xfrm>
          <a:prstGeom prst="rect">
            <a:avLst/>
          </a:prstGeom>
          <a:noFill/>
          <a:ln/>
        </p:spPr>
        <p:txBody>
          <a:bodyPr wrap="square" lIns="0" tIns="0" rIns="0" bIns="0" rtlCol="0" anchor="ctr"/>
          <a:lstStyle/>
          <a:p>
            <a:pPr indent="0" marL="0">
              <a:buNone/>
            </a:pPr>
            <a:r>
              <a:rPr lang="en-US" sz="920" b="1" dirty="0">
                <a:solidFill>
                  <a:srgbClr val="19212B"/>
                </a:solidFill>
              </a:rPr>
              <a:t>Recent agents</a:t>
            </a:r>
            <a:endParaRPr lang="en-US" sz="920" dirty="0"/>
          </a:p>
        </p:txBody>
      </p:sp>
      <p:sp>
        <p:nvSpPr>
          <p:cNvPr id="23" name="Text 21"/>
          <p:cNvSpPr/>
          <p:nvPr/>
        </p:nvSpPr>
        <p:spPr>
          <a:xfrm>
            <a:off x="2139696" y="2551176"/>
            <a:ext cx="1609344" cy="146304"/>
          </a:xfrm>
          <a:prstGeom prst="rect">
            <a:avLst/>
          </a:prstGeom>
          <a:noFill/>
          <a:ln/>
        </p:spPr>
        <p:txBody>
          <a:bodyPr wrap="square" lIns="0" tIns="0" rIns="0" bIns="0" rtlCol="0" anchor="ctr"/>
          <a:lstStyle/>
          <a:p>
            <a:pPr algn="ctr" indent="0" marL="0">
              <a:buNone/>
            </a:pPr>
            <a:r>
              <a:rPr lang="en-US" sz="1000" dirty="0">
                <a:solidFill>
                  <a:srgbClr val="5D6B7B"/>
                </a:solidFill>
              </a:rPr>
              <a:t>Continue recent agent</a:t>
            </a:r>
            <a:endParaRPr lang="en-US" sz="1000" dirty="0"/>
          </a:p>
        </p:txBody>
      </p:sp>
      <p:sp>
        <p:nvSpPr>
          <p:cNvPr id="24" name="Shape 22"/>
          <p:cNvSpPr/>
          <p:nvPr/>
        </p:nvSpPr>
        <p:spPr>
          <a:xfrm>
            <a:off x="4041648" y="2249424"/>
            <a:ext cx="1508760" cy="749808"/>
          </a:xfrm>
          <a:prstGeom prst="roundRect">
            <a:avLst>
              <a:gd name="adj" fmla="val 9756"/>
            </a:avLst>
          </a:prstGeom>
          <a:solidFill>
            <a:srgbClr val="F3F5F8"/>
          </a:solidFill>
          <a:ln w="12700">
            <a:solidFill>
              <a:srgbClr val="D7DEE7"/>
            </a:solidFill>
            <a:prstDash val="solid"/>
          </a:ln>
        </p:spPr>
      </p:sp>
      <p:sp>
        <p:nvSpPr>
          <p:cNvPr id="25" name="Shape 23"/>
          <p:cNvSpPr/>
          <p:nvPr/>
        </p:nvSpPr>
        <p:spPr>
          <a:xfrm>
            <a:off x="4041648" y="2249424"/>
            <a:ext cx="1508760" cy="219456"/>
          </a:xfrm>
          <a:prstGeom prst="rect">
            <a:avLst/>
          </a:prstGeom>
          <a:solidFill>
            <a:srgbClr val="EEF2F7"/>
          </a:solidFill>
          <a:ln w="12700">
            <a:solidFill>
              <a:srgbClr val="D7DEE7"/>
            </a:solidFill>
            <a:prstDash val="solid"/>
          </a:ln>
        </p:spPr>
      </p:sp>
      <p:sp>
        <p:nvSpPr>
          <p:cNvPr id="26" name="Text 24"/>
          <p:cNvSpPr/>
          <p:nvPr/>
        </p:nvSpPr>
        <p:spPr>
          <a:xfrm>
            <a:off x="4151376" y="2304288"/>
            <a:ext cx="1289304" cy="91440"/>
          </a:xfrm>
          <a:prstGeom prst="rect">
            <a:avLst/>
          </a:prstGeom>
          <a:noFill/>
          <a:ln/>
        </p:spPr>
        <p:txBody>
          <a:bodyPr wrap="square" lIns="0" tIns="0" rIns="0" bIns="0" rtlCol="0" anchor="ctr"/>
          <a:lstStyle/>
          <a:p>
            <a:pPr indent="0" marL="0">
              <a:buNone/>
            </a:pPr>
            <a:r>
              <a:rPr lang="en-US" sz="920" b="1" dirty="0">
                <a:solidFill>
                  <a:srgbClr val="19212B"/>
                </a:solidFill>
              </a:rPr>
              <a:t>Operations</a:t>
            </a:r>
            <a:endParaRPr lang="en-US" sz="920" dirty="0"/>
          </a:p>
        </p:txBody>
      </p:sp>
      <p:sp>
        <p:nvSpPr>
          <p:cNvPr id="27" name="Text 25"/>
          <p:cNvSpPr/>
          <p:nvPr/>
        </p:nvSpPr>
        <p:spPr>
          <a:xfrm>
            <a:off x="4151376" y="2551176"/>
            <a:ext cx="1289304" cy="146304"/>
          </a:xfrm>
          <a:prstGeom prst="rect">
            <a:avLst/>
          </a:prstGeom>
          <a:noFill/>
          <a:ln/>
        </p:spPr>
        <p:txBody>
          <a:bodyPr wrap="square" lIns="0" tIns="0" rIns="0" bIns="0" rtlCol="0" anchor="ctr"/>
          <a:lstStyle/>
          <a:p>
            <a:pPr algn="ctr" indent="0" marL="0">
              <a:buNone/>
            </a:pPr>
            <a:r>
              <a:rPr lang="en-US" sz="1000" dirty="0">
                <a:solidFill>
                  <a:srgbClr val="5D6B7B"/>
                </a:solidFill>
              </a:rPr>
              <a:t>Active runs</a:t>
            </a:r>
            <a:endParaRPr lang="en-US" sz="1000" dirty="0"/>
          </a:p>
        </p:txBody>
      </p:sp>
      <p:sp>
        <p:nvSpPr>
          <p:cNvPr id="28" name="Shape 26"/>
          <p:cNvSpPr/>
          <p:nvPr/>
        </p:nvSpPr>
        <p:spPr>
          <a:xfrm>
            <a:off x="5733288" y="2249424"/>
            <a:ext cx="1508760" cy="749808"/>
          </a:xfrm>
          <a:prstGeom prst="roundRect">
            <a:avLst>
              <a:gd name="adj" fmla="val 9756"/>
            </a:avLst>
          </a:prstGeom>
          <a:solidFill>
            <a:srgbClr val="F3F5F8"/>
          </a:solidFill>
          <a:ln w="12700">
            <a:solidFill>
              <a:srgbClr val="D7DEE7"/>
            </a:solidFill>
            <a:prstDash val="solid"/>
          </a:ln>
        </p:spPr>
      </p:sp>
      <p:sp>
        <p:nvSpPr>
          <p:cNvPr id="29" name="Shape 27"/>
          <p:cNvSpPr/>
          <p:nvPr/>
        </p:nvSpPr>
        <p:spPr>
          <a:xfrm>
            <a:off x="5733288" y="2249424"/>
            <a:ext cx="1508760" cy="219456"/>
          </a:xfrm>
          <a:prstGeom prst="rect">
            <a:avLst/>
          </a:prstGeom>
          <a:solidFill>
            <a:srgbClr val="EEF2F7"/>
          </a:solidFill>
          <a:ln w="12700">
            <a:solidFill>
              <a:srgbClr val="D7DEE7"/>
            </a:solidFill>
            <a:prstDash val="solid"/>
          </a:ln>
        </p:spPr>
      </p:sp>
      <p:sp>
        <p:nvSpPr>
          <p:cNvPr id="30" name="Text 28"/>
          <p:cNvSpPr/>
          <p:nvPr/>
        </p:nvSpPr>
        <p:spPr>
          <a:xfrm>
            <a:off x="5843016" y="2304288"/>
            <a:ext cx="1289304" cy="91440"/>
          </a:xfrm>
          <a:prstGeom prst="rect">
            <a:avLst/>
          </a:prstGeom>
          <a:noFill/>
          <a:ln/>
        </p:spPr>
        <p:txBody>
          <a:bodyPr wrap="square" lIns="0" tIns="0" rIns="0" bIns="0" rtlCol="0" anchor="ctr"/>
          <a:lstStyle/>
          <a:p>
            <a:pPr indent="0" marL="0">
              <a:buNone/>
            </a:pPr>
            <a:r>
              <a:rPr lang="en-US" sz="920" b="1" dirty="0">
                <a:solidFill>
                  <a:srgbClr val="19212B"/>
                </a:solidFill>
              </a:rPr>
              <a:t>Governance</a:t>
            </a:r>
            <a:endParaRPr lang="en-US" sz="920" dirty="0"/>
          </a:p>
        </p:txBody>
      </p:sp>
      <p:sp>
        <p:nvSpPr>
          <p:cNvPr id="31" name="Text 29"/>
          <p:cNvSpPr/>
          <p:nvPr/>
        </p:nvSpPr>
        <p:spPr>
          <a:xfrm>
            <a:off x="5843016" y="2551176"/>
            <a:ext cx="1289304" cy="146304"/>
          </a:xfrm>
          <a:prstGeom prst="rect">
            <a:avLst/>
          </a:prstGeom>
          <a:noFill/>
          <a:ln/>
        </p:spPr>
        <p:txBody>
          <a:bodyPr wrap="square" lIns="0" tIns="0" rIns="0" bIns="0" rtlCol="0" anchor="ctr"/>
          <a:lstStyle/>
          <a:p>
            <a:pPr algn="ctr" indent="0" marL="0">
              <a:buNone/>
            </a:pPr>
            <a:r>
              <a:rPr lang="en-US" sz="1000" dirty="0">
                <a:solidFill>
                  <a:srgbClr val="5D6B7B"/>
                </a:solidFill>
              </a:rPr>
              <a:t>Pending approvals</a:t>
            </a:r>
            <a:endParaRPr lang="en-US" sz="1000" dirty="0"/>
          </a:p>
        </p:txBody>
      </p:sp>
      <p:sp>
        <p:nvSpPr>
          <p:cNvPr id="32" name="Shape 30"/>
          <p:cNvSpPr/>
          <p:nvPr/>
        </p:nvSpPr>
        <p:spPr>
          <a:xfrm>
            <a:off x="2029968" y="3182112"/>
            <a:ext cx="2962656" cy="1371600"/>
          </a:xfrm>
          <a:prstGeom prst="roundRect">
            <a:avLst>
              <a:gd name="adj" fmla="val 5333"/>
            </a:avLst>
          </a:prstGeom>
          <a:solidFill>
            <a:srgbClr val="F3F5F8"/>
          </a:solidFill>
          <a:ln w="12700">
            <a:solidFill>
              <a:srgbClr val="D7DEE7"/>
            </a:solidFill>
            <a:prstDash val="solid"/>
          </a:ln>
        </p:spPr>
      </p:sp>
      <p:sp>
        <p:nvSpPr>
          <p:cNvPr id="33" name="Shape 31"/>
          <p:cNvSpPr/>
          <p:nvPr/>
        </p:nvSpPr>
        <p:spPr>
          <a:xfrm>
            <a:off x="2029968" y="3182112"/>
            <a:ext cx="2962656" cy="219456"/>
          </a:xfrm>
          <a:prstGeom prst="rect">
            <a:avLst/>
          </a:prstGeom>
          <a:solidFill>
            <a:srgbClr val="EEF2F7"/>
          </a:solidFill>
          <a:ln w="12700">
            <a:solidFill>
              <a:srgbClr val="D7DEE7"/>
            </a:solidFill>
            <a:prstDash val="solid"/>
          </a:ln>
        </p:spPr>
      </p:sp>
      <p:sp>
        <p:nvSpPr>
          <p:cNvPr id="34" name="Text 32"/>
          <p:cNvSpPr/>
          <p:nvPr/>
        </p:nvSpPr>
        <p:spPr>
          <a:xfrm>
            <a:off x="2139696" y="3236976"/>
            <a:ext cx="2743200" cy="91440"/>
          </a:xfrm>
          <a:prstGeom prst="rect">
            <a:avLst/>
          </a:prstGeom>
          <a:noFill/>
          <a:ln/>
        </p:spPr>
        <p:txBody>
          <a:bodyPr wrap="square" lIns="0" tIns="0" rIns="0" bIns="0" rtlCol="0" anchor="ctr"/>
          <a:lstStyle/>
          <a:p>
            <a:pPr indent="0" marL="0">
              <a:buNone/>
            </a:pPr>
            <a:r>
              <a:rPr lang="en-US" sz="920" b="1" dirty="0">
                <a:solidFill>
                  <a:srgbClr val="19212B"/>
                </a:solidFill>
              </a:rPr>
              <a:t>Executive summary</a:t>
            </a:r>
            <a:endParaRPr lang="en-US" sz="920" dirty="0"/>
          </a:p>
        </p:txBody>
      </p:sp>
      <p:sp>
        <p:nvSpPr>
          <p:cNvPr id="35" name="Text 33"/>
          <p:cNvSpPr/>
          <p:nvPr/>
        </p:nvSpPr>
        <p:spPr>
          <a:xfrm>
            <a:off x="2139696" y="3794760"/>
            <a:ext cx="2743200" cy="146304"/>
          </a:xfrm>
          <a:prstGeom prst="rect">
            <a:avLst/>
          </a:prstGeom>
          <a:noFill/>
          <a:ln/>
        </p:spPr>
        <p:txBody>
          <a:bodyPr wrap="square" lIns="0" tIns="0" rIns="0" bIns="0" rtlCol="0" anchor="ctr"/>
          <a:lstStyle/>
          <a:p>
            <a:pPr algn="ctr" indent="0" marL="0">
              <a:buNone/>
            </a:pPr>
            <a:r>
              <a:rPr lang="en-US" sz="1000" dirty="0">
                <a:solidFill>
                  <a:srgbClr val="5D6B7B"/>
                </a:solidFill>
              </a:rPr>
              <a:t>Portfolio health + trend cards</a:t>
            </a:r>
            <a:endParaRPr lang="en-US" sz="1000" dirty="0"/>
          </a:p>
        </p:txBody>
      </p:sp>
      <p:sp>
        <p:nvSpPr>
          <p:cNvPr id="36" name="Shape 34"/>
          <p:cNvSpPr/>
          <p:nvPr/>
        </p:nvSpPr>
        <p:spPr>
          <a:xfrm>
            <a:off x="5193792" y="3182112"/>
            <a:ext cx="2048256" cy="1371600"/>
          </a:xfrm>
          <a:prstGeom prst="roundRect">
            <a:avLst>
              <a:gd name="adj" fmla="val 5333"/>
            </a:avLst>
          </a:prstGeom>
          <a:solidFill>
            <a:srgbClr val="F3F5F8"/>
          </a:solidFill>
          <a:ln w="12700">
            <a:solidFill>
              <a:srgbClr val="D7DEE7"/>
            </a:solidFill>
            <a:prstDash val="solid"/>
          </a:ln>
        </p:spPr>
      </p:sp>
      <p:sp>
        <p:nvSpPr>
          <p:cNvPr id="37" name="Shape 35"/>
          <p:cNvSpPr/>
          <p:nvPr/>
        </p:nvSpPr>
        <p:spPr>
          <a:xfrm>
            <a:off x="5193792" y="3182112"/>
            <a:ext cx="2048256" cy="219456"/>
          </a:xfrm>
          <a:prstGeom prst="rect">
            <a:avLst/>
          </a:prstGeom>
          <a:solidFill>
            <a:srgbClr val="EEF2F7"/>
          </a:solidFill>
          <a:ln w="12700">
            <a:solidFill>
              <a:srgbClr val="D7DEE7"/>
            </a:solidFill>
            <a:prstDash val="solid"/>
          </a:ln>
        </p:spPr>
      </p:sp>
      <p:sp>
        <p:nvSpPr>
          <p:cNvPr id="38" name="Text 36"/>
          <p:cNvSpPr/>
          <p:nvPr/>
        </p:nvSpPr>
        <p:spPr>
          <a:xfrm>
            <a:off x="5303520" y="3236976"/>
            <a:ext cx="1828800" cy="91440"/>
          </a:xfrm>
          <a:prstGeom prst="rect">
            <a:avLst/>
          </a:prstGeom>
          <a:noFill/>
          <a:ln/>
        </p:spPr>
        <p:txBody>
          <a:bodyPr wrap="square" lIns="0" tIns="0" rIns="0" bIns="0" rtlCol="0" anchor="ctr"/>
          <a:lstStyle/>
          <a:p>
            <a:pPr indent="0" marL="0">
              <a:buNone/>
            </a:pPr>
            <a:r>
              <a:rPr lang="en-US" sz="920" b="1" dirty="0">
                <a:solidFill>
                  <a:srgbClr val="19212B"/>
                </a:solidFill>
              </a:rPr>
              <a:t>Attention queue</a:t>
            </a:r>
            <a:endParaRPr lang="en-US" sz="920" dirty="0"/>
          </a:p>
        </p:txBody>
      </p:sp>
      <p:sp>
        <p:nvSpPr>
          <p:cNvPr id="39" name="Text 37"/>
          <p:cNvSpPr/>
          <p:nvPr/>
        </p:nvSpPr>
        <p:spPr>
          <a:xfrm>
            <a:off x="5303520" y="3794760"/>
            <a:ext cx="1828800" cy="146304"/>
          </a:xfrm>
          <a:prstGeom prst="rect">
            <a:avLst/>
          </a:prstGeom>
          <a:noFill/>
          <a:ln/>
        </p:spPr>
        <p:txBody>
          <a:bodyPr wrap="square" lIns="0" tIns="0" rIns="0" bIns="0" rtlCol="0" anchor="ctr"/>
          <a:lstStyle/>
          <a:p>
            <a:pPr algn="ctr" indent="0" marL="0">
              <a:buNone/>
            </a:pPr>
            <a:r>
              <a:rPr lang="en-US" sz="1000" dirty="0">
                <a:solidFill>
                  <a:srgbClr val="5D6B7B"/>
                </a:solidFill>
              </a:rPr>
              <a:t>Risk alerts</a:t>
            </a:r>
            <a:endParaRPr lang="en-US" sz="1000" dirty="0"/>
          </a:p>
          <a:p>
            <a:pPr algn="ctr" indent="0" marL="0">
              <a:buNone/>
            </a:pPr>
            <a:r>
              <a:rPr lang="en-US" sz="1000" dirty="0">
                <a:solidFill>
                  <a:srgbClr val="5D6B7B"/>
                </a:solidFill>
              </a:rPr>
              <a:t>Incidents</a:t>
            </a:r>
            <a:endParaRPr lang="en-US" sz="1000" dirty="0"/>
          </a:p>
          <a:p>
            <a:pPr algn="ctr" indent="0" marL="0">
              <a:buNone/>
            </a:pPr>
            <a:r>
              <a:rPr lang="en-US" sz="1000" dirty="0">
                <a:solidFill>
                  <a:srgbClr val="5D6B7B"/>
                </a:solidFill>
              </a:rPr>
              <a:t>Canary watch</a:t>
            </a:r>
            <a:endParaRPr lang="en-US" sz="1000" dirty="0"/>
          </a:p>
        </p:txBody>
      </p:sp>
      <p:sp>
        <p:nvSpPr>
          <p:cNvPr id="40" name="Shape 38"/>
          <p:cNvSpPr/>
          <p:nvPr/>
        </p:nvSpPr>
        <p:spPr>
          <a:xfrm>
            <a:off x="2029968" y="4736592"/>
            <a:ext cx="1417320" cy="841248"/>
          </a:xfrm>
          <a:prstGeom prst="roundRect">
            <a:avLst>
              <a:gd name="adj" fmla="val 8696"/>
            </a:avLst>
          </a:prstGeom>
          <a:solidFill>
            <a:srgbClr val="F3F5F8"/>
          </a:solidFill>
          <a:ln w="12700">
            <a:solidFill>
              <a:srgbClr val="D7DEE7"/>
            </a:solidFill>
            <a:prstDash val="solid"/>
          </a:ln>
        </p:spPr>
      </p:sp>
      <p:sp>
        <p:nvSpPr>
          <p:cNvPr id="41" name="Shape 39"/>
          <p:cNvSpPr/>
          <p:nvPr/>
        </p:nvSpPr>
        <p:spPr>
          <a:xfrm>
            <a:off x="2029968" y="4736592"/>
            <a:ext cx="1417320" cy="219456"/>
          </a:xfrm>
          <a:prstGeom prst="rect">
            <a:avLst/>
          </a:prstGeom>
          <a:solidFill>
            <a:srgbClr val="EEF2F7"/>
          </a:solidFill>
          <a:ln w="12700">
            <a:solidFill>
              <a:srgbClr val="D7DEE7"/>
            </a:solidFill>
            <a:prstDash val="solid"/>
          </a:ln>
        </p:spPr>
      </p:sp>
      <p:sp>
        <p:nvSpPr>
          <p:cNvPr id="42" name="Text 40"/>
          <p:cNvSpPr/>
          <p:nvPr/>
        </p:nvSpPr>
        <p:spPr>
          <a:xfrm>
            <a:off x="2139696" y="4791456"/>
            <a:ext cx="1197864" cy="91440"/>
          </a:xfrm>
          <a:prstGeom prst="rect">
            <a:avLst/>
          </a:prstGeom>
          <a:noFill/>
          <a:ln/>
        </p:spPr>
        <p:txBody>
          <a:bodyPr wrap="square" lIns="0" tIns="0" rIns="0" bIns="0" rtlCol="0" anchor="ctr"/>
          <a:lstStyle/>
          <a:p>
            <a:pPr indent="0" marL="0">
              <a:buNone/>
            </a:pPr>
            <a:r>
              <a:rPr lang="en-US" sz="920" b="1" dirty="0">
                <a:solidFill>
                  <a:srgbClr val="19212B"/>
                </a:solidFill>
              </a:rPr>
              <a:t>Knowledge</a:t>
            </a:r>
            <a:endParaRPr lang="en-US" sz="920" dirty="0"/>
          </a:p>
        </p:txBody>
      </p:sp>
      <p:sp>
        <p:nvSpPr>
          <p:cNvPr id="43" name="Text 41"/>
          <p:cNvSpPr/>
          <p:nvPr/>
        </p:nvSpPr>
        <p:spPr>
          <a:xfrm>
            <a:off x="2139696" y="5084064"/>
            <a:ext cx="1197864" cy="146304"/>
          </a:xfrm>
          <a:prstGeom prst="rect">
            <a:avLst/>
          </a:prstGeom>
          <a:noFill/>
          <a:ln/>
        </p:spPr>
        <p:txBody>
          <a:bodyPr wrap="square" lIns="0" tIns="0" rIns="0" bIns="0" rtlCol="0" anchor="ctr"/>
          <a:lstStyle/>
          <a:p>
            <a:pPr algn="ctr" indent="0" marL="0">
              <a:buNone/>
            </a:pPr>
            <a:r>
              <a:rPr lang="en-US" sz="1000" dirty="0">
                <a:solidFill>
                  <a:srgbClr val="5D6B7B"/>
                </a:solidFill>
              </a:rPr>
              <a:t>Knowledge growth</a:t>
            </a:r>
            <a:endParaRPr lang="en-US" sz="1000" dirty="0"/>
          </a:p>
        </p:txBody>
      </p:sp>
      <p:sp>
        <p:nvSpPr>
          <p:cNvPr id="44" name="Shape 42"/>
          <p:cNvSpPr/>
          <p:nvPr/>
        </p:nvSpPr>
        <p:spPr>
          <a:xfrm>
            <a:off x="3575304" y="4736592"/>
            <a:ext cx="1417320" cy="841248"/>
          </a:xfrm>
          <a:prstGeom prst="roundRect">
            <a:avLst>
              <a:gd name="adj" fmla="val 8696"/>
            </a:avLst>
          </a:prstGeom>
          <a:solidFill>
            <a:srgbClr val="F3F5F8"/>
          </a:solidFill>
          <a:ln w="12700">
            <a:solidFill>
              <a:srgbClr val="D7DEE7"/>
            </a:solidFill>
            <a:prstDash val="solid"/>
          </a:ln>
        </p:spPr>
      </p:sp>
      <p:sp>
        <p:nvSpPr>
          <p:cNvPr id="45" name="Shape 43"/>
          <p:cNvSpPr/>
          <p:nvPr/>
        </p:nvSpPr>
        <p:spPr>
          <a:xfrm>
            <a:off x="3575304" y="4736592"/>
            <a:ext cx="1417320" cy="219456"/>
          </a:xfrm>
          <a:prstGeom prst="rect">
            <a:avLst/>
          </a:prstGeom>
          <a:solidFill>
            <a:srgbClr val="EEF2F7"/>
          </a:solidFill>
          <a:ln w="12700">
            <a:solidFill>
              <a:srgbClr val="D7DEE7"/>
            </a:solidFill>
            <a:prstDash val="solid"/>
          </a:ln>
        </p:spPr>
      </p:sp>
      <p:sp>
        <p:nvSpPr>
          <p:cNvPr id="46" name="Text 44"/>
          <p:cNvSpPr/>
          <p:nvPr/>
        </p:nvSpPr>
        <p:spPr>
          <a:xfrm>
            <a:off x="3685032" y="4791456"/>
            <a:ext cx="1197864" cy="91440"/>
          </a:xfrm>
          <a:prstGeom prst="rect">
            <a:avLst/>
          </a:prstGeom>
          <a:noFill/>
          <a:ln/>
        </p:spPr>
        <p:txBody>
          <a:bodyPr wrap="square" lIns="0" tIns="0" rIns="0" bIns="0" rtlCol="0" anchor="ctr"/>
          <a:lstStyle/>
          <a:p>
            <a:pPr indent="0" marL="0">
              <a:buNone/>
            </a:pPr>
            <a:r>
              <a:rPr lang="en-US" sz="920" b="1" dirty="0">
                <a:solidFill>
                  <a:srgbClr val="19212B"/>
                </a:solidFill>
              </a:rPr>
              <a:t>Quality</a:t>
            </a:r>
            <a:endParaRPr lang="en-US" sz="920" dirty="0"/>
          </a:p>
        </p:txBody>
      </p:sp>
      <p:sp>
        <p:nvSpPr>
          <p:cNvPr id="47" name="Text 45"/>
          <p:cNvSpPr/>
          <p:nvPr/>
        </p:nvSpPr>
        <p:spPr>
          <a:xfrm>
            <a:off x="3685032" y="5084064"/>
            <a:ext cx="1197864" cy="146304"/>
          </a:xfrm>
          <a:prstGeom prst="rect">
            <a:avLst/>
          </a:prstGeom>
          <a:noFill/>
          <a:ln/>
        </p:spPr>
        <p:txBody>
          <a:bodyPr wrap="square" lIns="0" tIns="0" rIns="0" bIns="0" rtlCol="0" anchor="ctr"/>
          <a:lstStyle/>
          <a:p>
            <a:pPr algn="ctr" indent="0" marL="0">
              <a:buNone/>
            </a:pPr>
            <a:r>
              <a:rPr lang="en-US" sz="1000" dirty="0">
                <a:solidFill>
                  <a:srgbClr val="5D6B7B"/>
                </a:solidFill>
              </a:rPr>
              <a:t>Evaluation status</a:t>
            </a:r>
            <a:endParaRPr lang="en-US" sz="1000" dirty="0"/>
          </a:p>
        </p:txBody>
      </p:sp>
      <p:sp>
        <p:nvSpPr>
          <p:cNvPr id="48" name="Shape 46"/>
          <p:cNvSpPr/>
          <p:nvPr/>
        </p:nvSpPr>
        <p:spPr>
          <a:xfrm>
            <a:off x="5129784" y="4736592"/>
            <a:ext cx="2112264" cy="841248"/>
          </a:xfrm>
          <a:prstGeom prst="roundRect">
            <a:avLst>
              <a:gd name="adj" fmla="val 8696"/>
            </a:avLst>
          </a:prstGeom>
          <a:solidFill>
            <a:srgbClr val="F3F5F8"/>
          </a:solidFill>
          <a:ln w="12700">
            <a:solidFill>
              <a:srgbClr val="D7DEE7"/>
            </a:solidFill>
            <a:prstDash val="solid"/>
          </a:ln>
        </p:spPr>
      </p:sp>
      <p:sp>
        <p:nvSpPr>
          <p:cNvPr id="49" name="Shape 47"/>
          <p:cNvSpPr/>
          <p:nvPr/>
        </p:nvSpPr>
        <p:spPr>
          <a:xfrm>
            <a:off x="5129784" y="4736592"/>
            <a:ext cx="2112264" cy="219456"/>
          </a:xfrm>
          <a:prstGeom prst="rect">
            <a:avLst/>
          </a:prstGeom>
          <a:solidFill>
            <a:srgbClr val="EEF2F7"/>
          </a:solidFill>
          <a:ln w="12700">
            <a:solidFill>
              <a:srgbClr val="D7DEE7"/>
            </a:solidFill>
            <a:prstDash val="solid"/>
          </a:ln>
        </p:spPr>
      </p:sp>
      <p:sp>
        <p:nvSpPr>
          <p:cNvPr id="50" name="Text 48"/>
          <p:cNvSpPr/>
          <p:nvPr/>
        </p:nvSpPr>
        <p:spPr>
          <a:xfrm>
            <a:off x="5239512" y="4791456"/>
            <a:ext cx="1892808" cy="91440"/>
          </a:xfrm>
          <a:prstGeom prst="rect">
            <a:avLst/>
          </a:prstGeom>
          <a:noFill/>
          <a:ln/>
        </p:spPr>
        <p:txBody>
          <a:bodyPr wrap="square" lIns="0" tIns="0" rIns="0" bIns="0" rtlCol="0" anchor="ctr"/>
          <a:lstStyle/>
          <a:p>
            <a:pPr indent="0" marL="0">
              <a:buNone/>
            </a:pPr>
            <a:r>
              <a:rPr lang="en-US" sz="920" b="1" dirty="0">
                <a:solidFill>
                  <a:srgbClr val="19212B"/>
                </a:solidFill>
              </a:rPr>
              <a:t>Create next</a:t>
            </a:r>
            <a:endParaRPr lang="en-US" sz="920" dirty="0"/>
          </a:p>
        </p:txBody>
      </p:sp>
      <p:sp>
        <p:nvSpPr>
          <p:cNvPr id="51" name="Text 49"/>
          <p:cNvSpPr/>
          <p:nvPr/>
        </p:nvSpPr>
        <p:spPr>
          <a:xfrm>
            <a:off x="5239512" y="5084064"/>
            <a:ext cx="1892808" cy="146304"/>
          </a:xfrm>
          <a:prstGeom prst="rect">
            <a:avLst/>
          </a:prstGeom>
          <a:noFill/>
          <a:ln/>
        </p:spPr>
        <p:txBody>
          <a:bodyPr wrap="square" lIns="0" tIns="0" rIns="0" bIns="0" rtlCol="0" anchor="ctr"/>
          <a:lstStyle/>
          <a:p>
            <a:pPr algn="ctr" indent="0" marL="0">
              <a:buNone/>
            </a:pPr>
            <a:r>
              <a:rPr lang="en-US" sz="1000" dirty="0">
                <a:solidFill>
                  <a:srgbClr val="5D6B7B"/>
                </a:solidFill>
              </a:rPr>
              <a:t>Quick actions / templates</a:t>
            </a:r>
            <a:endParaRPr lang="en-US" sz="1000" dirty="0"/>
          </a:p>
        </p:txBody>
      </p:sp>
      <p:sp>
        <p:nvSpPr>
          <p:cNvPr id="52" name="Shape 50"/>
          <p:cNvSpPr/>
          <p:nvPr/>
        </p:nvSpPr>
        <p:spPr>
          <a:xfrm>
            <a:off x="8641080" y="1627632"/>
            <a:ext cx="2926080" cy="960120"/>
          </a:xfrm>
          <a:prstGeom prst="roundRect">
            <a:avLst>
              <a:gd name="adj" fmla="val 7619"/>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53" name="Text 51"/>
          <p:cNvSpPr/>
          <p:nvPr/>
        </p:nvSpPr>
        <p:spPr>
          <a:xfrm>
            <a:off x="8750808" y="1709928"/>
            <a:ext cx="2706624" cy="128016"/>
          </a:xfrm>
          <a:prstGeom prst="rect">
            <a:avLst/>
          </a:prstGeom>
          <a:noFill/>
          <a:ln/>
        </p:spPr>
        <p:txBody>
          <a:bodyPr wrap="square" lIns="0" tIns="0" rIns="0" bIns="0" rtlCol="0" anchor="ctr"/>
          <a:lstStyle/>
          <a:p>
            <a:pPr indent="0" marL="0">
              <a:buNone/>
            </a:pPr>
            <a:r>
              <a:rPr lang="en-US" sz="1100" b="1" dirty="0">
                <a:solidFill>
                  <a:srgbClr val="2F6BFF"/>
                </a:solidFill>
              </a:rPr>
              <a:t>Why this layout works</a:t>
            </a:r>
            <a:endParaRPr lang="en-US" sz="1100" dirty="0"/>
          </a:p>
        </p:txBody>
      </p:sp>
      <p:sp>
        <p:nvSpPr>
          <p:cNvPr id="54" name="Text 52"/>
          <p:cNvSpPr/>
          <p:nvPr/>
        </p:nvSpPr>
        <p:spPr>
          <a:xfrm>
            <a:off x="8750808" y="1874520"/>
            <a:ext cx="2706624" cy="649224"/>
          </a:xfrm>
          <a:prstGeom prst="rect">
            <a:avLst/>
          </a:prstGeom>
          <a:noFill/>
          <a:ln/>
        </p:spPr>
        <p:txBody>
          <a:bodyPr wrap="square" lIns="0" tIns="0" rIns="0" bIns="0" rtlCol="0" anchor="t"/>
          <a:lstStyle/>
          <a:p>
            <a:pPr indent="0" marL="0">
              <a:buNone/>
            </a:pPr>
            <a:r>
              <a:rPr lang="en-US" sz="960" dirty="0">
                <a:solidFill>
                  <a:srgbClr val="5D6B7B"/>
                </a:solidFill>
              </a:rPr>
              <a:t>The top row supports resumption and urgency. The middle row supports portfolio awareness. The bottom row supports next actions.</a:t>
            </a:r>
            <a:endParaRPr lang="en-US" sz="960" dirty="0"/>
          </a:p>
        </p:txBody>
      </p:sp>
      <p:sp>
        <p:nvSpPr>
          <p:cNvPr id="55" name="Shape 53"/>
          <p:cNvSpPr/>
          <p:nvPr/>
        </p:nvSpPr>
        <p:spPr>
          <a:xfrm>
            <a:off x="8641080" y="2834640"/>
            <a:ext cx="2926080" cy="1143000"/>
          </a:xfrm>
          <a:prstGeom prst="roundRect">
            <a:avLst>
              <a:gd name="adj" fmla="val 6400"/>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56" name="Text 54"/>
          <p:cNvSpPr/>
          <p:nvPr/>
        </p:nvSpPr>
        <p:spPr>
          <a:xfrm>
            <a:off x="8750808" y="2916936"/>
            <a:ext cx="2706624" cy="128016"/>
          </a:xfrm>
          <a:prstGeom prst="rect">
            <a:avLst/>
          </a:prstGeom>
          <a:noFill/>
          <a:ln/>
        </p:spPr>
        <p:txBody>
          <a:bodyPr wrap="square" lIns="0" tIns="0" rIns="0" bIns="0" rtlCol="0" anchor="ctr"/>
          <a:lstStyle/>
          <a:p>
            <a:pPr indent="0" marL="0">
              <a:buNone/>
            </a:pPr>
            <a:r>
              <a:rPr lang="en-US" sz="1100" b="1" dirty="0">
                <a:solidFill>
                  <a:srgbClr val="2F6BFF"/>
                </a:solidFill>
              </a:rPr>
              <a:t>Default behavior</a:t>
            </a:r>
            <a:endParaRPr lang="en-US" sz="1100" dirty="0"/>
          </a:p>
        </p:txBody>
      </p:sp>
      <p:sp>
        <p:nvSpPr>
          <p:cNvPr id="57" name="Text 55"/>
          <p:cNvSpPr/>
          <p:nvPr/>
        </p:nvSpPr>
        <p:spPr>
          <a:xfrm>
            <a:off x="8750808" y="3081528"/>
            <a:ext cx="2706624" cy="832104"/>
          </a:xfrm>
          <a:prstGeom prst="rect">
            <a:avLst/>
          </a:prstGeom>
          <a:noFill/>
          <a:ln/>
        </p:spPr>
        <p:txBody>
          <a:bodyPr wrap="square" lIns="0" tIns="0" rIns="0" bIns="0" rtlCol="0" anchor="t"/>
          <a:lstStyle/>
          <a:p>
            <a:pPr indent="0" marL="0">
              <a:buNone/>
            </a:pPr>
            <a:r>
              <a:rPr lang="en-US" sz="960" dirty="0">
                <a:solidFill>
                  <a:srgbClr val="5D6B7B"/>
                </a:solidFill>
              </a:rPr>
              <a:t>Keep this page role-aware. A builder sees unfinished Studio work first. An operator sees incidents and live runs first. An executive sees portfolio outcomes first.</a:t>
            </a:r>
            <a:endParaRPr lang="en-US" sz="960" dirty="0"/>
          </a:p>
        </p:txBody>
      </p:sp>
      <p:sp>
        <p:nvSpPr>
          <p:cNvPr id="58" name="Shape 56"/>
          <p:cNvSpPr/>
          <p:nvPr/>
        </p:nvSpPr>
        <p:spPr>
          <a:xfrm>
            <a:off x="8641080" y="4251960"/>
            <a:ext cx="2926080" cy="1097280"/>
          </a:xfrm>
          <a:prstGeom prst="roundRect">
            <a:avLst>
              <a:gd name="adj" fmla="val 6667"/>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59" name="Text 57"/>
          <p:cNvSpPr/>
          <p:nvPr/>
        </p:nvSpPr>
        <p:spPr>
          <a:xfrm>
            <a:off x="8750808" y="4334256"/>
            <a:ext cx="2706624" cy="128016"/>
          </a:xfrm>
          <a:prstGeom prst="rect">
            <a:avLst/>
          </a:prstGeom>
          <a:noFill/>
          <a:ln/>
        </p:spPr>
        <p:txBody>
          <a:bodyPr wrap="square" lIns="0" tIns="0" rIns="0" bIns="0" rtlCol="0" anchor="ctr"/>
          <a:lstStyle/>
          <a:p>
            <a:pPr indent="0" marL="0">
              <a:buNone/>
            </a:pPr>
            <a:r>
              <a:rPr lang="en-US" sz="1100" b="1" dirty="0">
                <a:solidFill>
                  <a:srgbClr val="2F6BFF"/>
                </a:solidFill>
              </a:rPr>
              <a:t>Interaction pattern</a:t>
            </a:r>
            <a:endParaRPr lang="en-US" sz="1100" dirty="0"/>
          </a:p>
        </p:txBody>
      </p:sp>
      <p:sp>
        <p:nvSpPr>
          <p:cNvPr id="60" name="Text 58"/>
          <p:cNvSpPr/>
          <p:nvPr/>
        </p:nvSpPr>
        <p:spPr>
          <a:xfrm>
            <a:off x="8750808" y="4498848"/>
            <a:ext cx="2706624" cy="786384"/>
          </a:xfrm>
          <a:prstGeom prst="rect">
            <a:avLst/>
          </a:prstGeom>
          <a:noFill/>
          <a:ln/>
        </p:spPr>
        <p:txBody>
          <a:bodyPr wrap="square" lIns="0" tIns="0" rIns="0" bIns="0" rtlCol="0" anchor="t"/>
          <a:lstStyle/>
          <a:p>
            <a:pPr indent="0" marL="0">
              <a:buNone/>
            </a:pPr>
            <a:r>
              <a:rPr lang="en-US" sz="960" dirty="0">
                <a:solidFill>
                  <a:srgbClr val="5D6B7B"/>
                </a:solidFill>
              </a:rPr>
              <a:t>Every module should support a “summary → drill-down” path. No dense raw metrics by default. Let users escalate detail only when they need it.</a:t>
            </a:r>
            <a:endParaRPr lang="en-US" sz="960" dirty="0"/>
          </a:p>
        </p:txBody>
      </p:sp>
      <p:sp>
        <p:nvSpPr>
          <p:cNvPr id="61" name="Text 59"/>
          <p:cNvSpPr/>
          <p:nvPr/>
        </p:nvSpPr>
        <p:spPr>
          <a:xfrm>
            <a:off x="594360" y="6473952"/>
            <a:ext cx="4389120" cy="164592"/>
          </a:xfrm>
          <a:prstGeom prst="rect">
            <a:avLst/>
          </a:prstGeom>
          <a:noFill/>
          <a:ln/>
        </p:spPr>
        <p:txBody>
          <a:bodyPr wrap="square" lIns="0" tIns="0" rIns="0" bIns="0" rtlCol="0" anchor="ctr"/>
          <a:lstStyle/>
          <a:p>
            <a:pPr indent="0" marL="0">
              <a:buNone/>
            </a:pPr>
            <a:r>
              <a:rPr lang="en-US" sz="900" dirty="0">
                <a:solidFill>
                  <a:srgbClr val="7A8794"/>
                </a:solidFill>
              </a:rPr>
              <a:t>Agent Architect Pro — UX wireframe direction</a:t>
            </a:r>
            <a:endParaRPr lang="en-US" sz="900" dirty="0"/>
          </a:p>
        </p:txBody>
      </p:sp>
      <p:sp>
        <p:nvSpPr>
          <p:cNvPr id="62" name="Text 60"/>
          <p:cNvSpPr/>
          <p:nvPr/>
        </p:nvSpPr>
        <p:spPr>
          <a:xfrm>
            <a:off x="11292840" y="6437376"/>
            <a:ext cx="274320" cy="182880"/>
          </a:xfrm>
          <a:prstGeom prst="rect">
            <a:avLst/>
          </a:prstGeom>
          <a:noFill/>
          <a:ln/>
        </p:spPr>
        <p:txBody>
          <a:bodyPr wrap="square" lIns="0" tIns="0" rIns="0" bIns="0" rtlCol="0" anchor="ctr"/>
          <a:lstStyle/>
          <a:p>
            <a:pPr algn="r" indent="0" marL="0">
              <a:buNone/>
            </a:pPr>
            <a:r>
              <a:rPr lang="en-US" sz="1000" dirty="0">
                <a:solidFill>
                  <a:srgbClr val="7A8794"/>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0040"/>
            <a:ext cx="8046720" cy="384048"/>
          </a:xfrm>
          <a:prstGeom prst="rect">
            <a:avLst/>
          </a:prstGeom>
          <a:noFill/>
          <a:ln/>
        </p:spPr>
        <p:txBody>
          <a:bodyPr wrap="square" lIns="0" tIns="0" rIns="0" bIns="0" rtlCol="0" anchor="ctr"/>
          <a:lstStyle/>
          <a:p>
            <a:pPr indent="0" marL="0">
              <a:buNone/>
            </a:pPr>
            <a:r>
              <a:rPr lang="en-US" sz="2800" b="1" dirty="0">
                <a:solidFill>
                  <a:srgbClr val="19212B"/>
                </a:solidFill>
                <a:latin typeface="Aptos Display" pitchFamily="34" charset="0"/>
                <a:ea typeface="Aptos Display" pitchFamily="34" charset="-122"/>
                <a:cs typeface="Aptos Display" pitchFamily="34" charset="-120"/>
              </a:rPr>
              <a:t>Wireframe 02 — Agent Studio</a:t>
            </a:r>
            <a:endParaRPr lang="en-US" sz="2800" dirty="0"/>
          </a:p>
        </p:txBody>
      </p:sp>
      <p:sp>
        <p:nvSpPr>
          <p:cNvPr id="3" name="Text 1"/>
          <p:cNvSpPr/>
          <p:nvPr/>
        </p:nvSpPr>
        <p:spPr>
          <a:xfrm>
            <a:off x="594360" y="749808"/>
            <a:ext cx="9692640" cy="310896"/>
          </a:xfrm>
          <a:prstGeom prst="rect">
            <a:avLst/>
          </a:prstGeom>
          <a:noFill/>
          <a:ln/>
        </p:spPr>
        <p:txBody>
          <a:bodyPr wrap="square" lIns="0" tIns="0" rIns="0" bIns="0" rtlCol="0" anchor="ctr"/>
          <a:lstStyle/>
          <a:p>
            <a:pPr indent="0" marL="0">
              <a:buNone/>
            </a:pPr>
            <a:r>
              <a:rPr lang="en-US" sz="1250" dirty="0">
                <a:solidFill>
                  <a:srgbClr val="5D6B7B"/>
                </a:solidFill>
              </a:rPr>
              <a:t>The Studio is the flagship workspace. It should feel like a guided professional environment for turning a brief into an evaluated, release-ready agent.</a:t>
            </a:r>
            <a:endParaRPr lang="en-US" sz="1250" dirty="0"/>
          </a:p>
        </p:txBody>
      </p:sp>
      <p:sp>
        <p:nvSpPr>
          <p:cNvPr id="4" name="Shape 2"/>
          <p:cNvSpPr/>
          <p:nvPr/>
        </p:nvSpPr>
        <p:spPr>
          <a:xfrm>
            <a:off x="566928" y="1170432"/>
            <a:ext cx="8092440" cy="5074920"/>
          </a:xfrm>
          <a:prstGeom prst="roundRect">
            <a:avLst>
              <a:gd name="adj" fmla="val 2162"/>
            </a:avLst>
          </a:prstGeom>
          <a:solidFill>
            <a:srgbClr val="FCFDFE"/>
          </a:solidFill>
          <a:ln w="12700">
            <a:solidFill>
              <a:srgbClr val="CBD4DF"/>
            </a:solidFill>
            <a:prstDash val="solid"/>
          </a:ln>
        </p:spPr>
      </p:sp>
      <p:sp>
        <p:nvSpPr>
          <p:cNvPr id="5" name="Shape 3"/>
          <p:cNvSpPr/>
          <p:nvPr/>
        </p:nvSpPr>
        <p:spPr>
          <a:xfrm>
            <a:off x="566928" y="1170432"/>
            <a:ext cx="8092440" cy="384048"/>
          </a:xfrm>
          <a:prstGeom prst="roundRect">
            <a:avLst>
              <a:gd name="adj" fmla="val 28571"/>
            </a:avLst>
          </a:prstGeom>
          <a:solidFill>
            <a:srgbClr val="F9FBFD"/>
          </a:solidFill>
          <a:ln w="12700">
            <a:solidFill>
              <a:srgbClr val="CBD4DF"/>
            </a:solidFill>
            <a:prstDash val="solid"/>
          </a:ln>
        </p:spPr>
      </p:sp>
      <p:sp>
        <p:nvSpPr>
          <p:cNvPr id="6" name="Shape 4"/>
          <p:cNvSpPr/>
          <p:nvPr/>
        </p:nvSpPr>
        <p:spPr>
          <a:xfrm>
            <a:off x="749808" y="1271016"/>
            <a:ext cx="2011680" cy="164592"/>
          </a:xfrm>
          <a:prstGeom prst="roundRect">
            <a:avLst>
              <a:gd name="adj" fmla="val 27778"/>
            </a:avLst>
          </a:prstGeom>
          <a:solidFill>
            <a:srgbClr val="FFFFFF"/>
          </a:solidFill>
          <a:ln w="12700">
            <a:solidFill>
              <a:srgbClr val="E3E8EF"/>
            </a:solidFill>
            <a:prstDash val="solid"/>
          </a:ln>
        </p:spPr>
      </p:sp>
      <p:sp>
        <p:nvSpPr>
          <p:cNvPr id="7" name="Text 5"/>
          <p:cNvSpPr/>
          <p:nvPr/>
        </p:nvSpPr>
        <p:spPr>
          <a:xfrm>
            <a:off x="877824" y="1298448"/>
            <a:ext cx="1463040" cy="91440"/>
          </a:xfrm>
          <a:prstGeom prst="rect">
            <a:avLst/>
          </a:prstGeom>
          <a:noFill/>
          <a:ln/>
        </p:spPr>
        <p:txBody>
          <a:bodyPr wrap="square" lIns="0" tIns="0" rIns="0" bIns="0" rtlCol="0" anchor="ctr"/>
          <a:lstStyle/>
          <a:p>
            <a:pPr indent="0" marL="0">
              <a:buNone/>
            </a:pPr>
            <a:r>
              <a:rPr lang="en-US" sz="950" dirty="0">
                <a:solidFill>
                  <a:srgbClr val="5D6B7B"/>
                </a:solidFill>
              </a:rPr>
              <a:t>Global command bar</a:t>
            </a:r>
            <a:endParaRPr lang="en-US" sz="950" dirty="0"/>
          </a:p>
        </p:txBody>
      </p:sp>
      <p:sp>
        <p:nvSpPr>
          <p:cNvPr id="8" name="Text 6"/>
          <p:cNvSpPr/>
          <p:nvPr/>
        </p:nvSpPr>
        <p:spPr>
          <a:xfrm>
            <a:off x="6373368" y="1289304"/>
            <a:ext cx="1828800" cy="91440"/>
          </a:xfrm>
          <a:prstGeom prst="rect">
            <a:avLst/>
          </a:prstGeom>
          <a:noFill/>
          <a:ln/>
        </p:spPr>
        <p:txBody>
          <a:bodyPr wrap="square" lIns="0" tIns="0" rIns="0" bIns="0" rtlCol="0" anchor="ctr"/>
          <a:lstStyle/>
          <a:p>
            <a:pPr algn="r" indent="0" marL="0">
              <a:buNone/>
            </a:pPr>
            <a:r>
              <a:rPr lang="en-US" sz="950" dirty="0">
                <a:solidFill>
                  <a:srgbClr val="5D6B7B"/>
                </a:solidFill>
              </a:rPr>
              <a:t>Search  •  Alerts  •  Profile</a:t>
            </a:r>
            <a:endParaRPr lang="en-US" sz="950" dirty="0"/>
          </a:p>
        </p:txBody>
      </p:sp>
      <p:sp>
        <p:nvSpPr>
          <p:cNvPr id="9" name="Shape 7"/>
          <p:cNvSpPr/>
          <p:nvPr/>
        </p:nvSpPr>
        <p:spPr>
          <a:xfrm>
            <a:off x="566928" y="1554480"/>
            <a:ext cx="1097280" cy="4690872"/>
          </a:xfrm>
          <a:prstGeom prst="rect">
            <a:avLst/>
          </a:prstGeom>
          <a:solidFill>
            <a:srgbClr val="FBFCFE"/>
          </a:solidFill>
          <a:ln w="12700">
            <a:solidFill>
              <a:srgbClr val="E3E8EF"/>
            </a:solidFill>
            <a:prstDash val="solid"/>
          </a:ln>
        </p:spPr>
      </p:sp>
      <p:sp>
        <p:nvSpPr>
          <p:cNvPr id="10" name="Text 8"/>
          <p:cNvSpPr/>
          <p:nvPr/>
        </p:nvSpPr>
        <p:spPr>
          <a:xfrm>
            <a:off x="713232" y="1700784"/>
            <a:ext cx="804672" cy="137160"/>
          </a:xfrm>
          <a:prstGeom prst="rect">
            <a:avLst/>
          </a:prstGeom>
          <a:noFill/>
          <a:ln/>
        </p:spPr>
        <p:txBody>
          <a:bodyPr wrap="square" lIns="0" tIns="0" rIns="0" bIns="0" rtlCol="0" anchor="ctr"/>
          <a:lstStyle/>
          <a:p>
            <a:pPr indent="0" marL="0">
              <a:buNone/>
            </a:pPr>
            <a:r>
              <a:rPr lang="en-US" sz="1050" b="1" dirty="0">
                <a:solidFill>
                  <a:srgbClr val="19212B"/>
                </a:solidFill>
              </a:rPr>
              <a:t>Studio</a:t>
            </a:r>
            <a:endParaRPr lang="en-US" sz="1050" dirty="0"/>
          </a:p>
        </p:txBody>
      </p:sp>
      <p:sp>
        <p:nvSpPr>
          <p:cNvPr id="11" name="Text 9"/>
          <p:cNvSpPr/>
          <p:nvPr/>
        </p:nvSpPr>
        <p:spPr>
          <a:xfrm>
            <a:off x="768096" y="2011680"/>
            <a:ext cx="640080" cy="91440"/>
          </a:xfrm>
          <a:prstGeom prst="rect">
            <a:avLst/>
          </a:prstGeom>
          <a:noFill/>
          <a:ln/>
        </p:spPr>
        <p:txBody>
          <a:bodyPr wrap="square" lIns="0" tIns="0" rIns="0" bIns="0" rtlCol="0" anchor="ctr"/>
          <a:lstStyle/>
          <a:p>
            <a:pPr indent="0" marL="0">
              <a:buNone/>
            </a:pPr>
            <a:r>
              <a:rPr lang="en-US" sz="950" dirty="0">
                <a:solidFill>
                  <a:srgbClr val="5D6B7B"/>
                </a:solidFill>
              </a:rPr>
              <a:t>Home</a:t>
            </a:r>
            <a:endParaRPr lang="en-US" sz="950" dirty="0"/>
          </a:p>
        </p:txBody>
      </p:sp>
      <p:sp>
        <p:nvSpPr>
          <p:cNvPr id="12" name="Shape 10"/>
          <p:cNvSpPr/>
          <p:nvPr/>
        </p:nvSpPr>
        <p:spPr>
          <a:xfrm>
            <a:off x="667512" y="2350008"/>
            <a:ext cx="896112" cy="237744"/>
          </a:xfrm>
          <a:prstGeom prst="roundRect">
            <a:avLst>
              <a:gd name="adj" fmla="val 19231"/>
            </a:avLst>
          </a:prstGeom>
          <a:solidFill>
            <a:srgbClr val="EAF1FF"/>
          </a:solidFill>
          <a:ln w="12700">
            <a:solidFill>
              <a:srgbClr val="EAF1FF">
                <a:alpha val="0"/>
              </a:srgbClr>
            </a:solidFill>
            <a:prstDash val="solid"/>
          </a:ln>
        </p:spPr>
      </p:sp>
      <p:sp>
        <p:nvSpPr>
          <p:cNvPr id="13" name="Text 11"/>
          <p:cNvSpPr/>
          <p:nvPr/>
        </p:nvSpPr>
        <p:spPr>
          <a:xfrm>
            <a:off x="768096" y="2395728"/>
            <a:ext cx="640080" cy="91440"/>
          </a:xfrm>
          <a:prstGeom prst="rect">
            <a:avLst/>
          </a:prstGeom>
          <a:noFill/>
          <a:ln/>
        </p:spPr>
        <p:txBody>
          <a:bodyPr wrap="square" lIns="0" tIns="0" rIns="0" bIns="0" rtlCol="0" anchor="ctr"/>
          <a:lstStyle/>
          <a:p>
            <a:pPr indent="0" marL="0">
              <a:buNone/>
            </a:pPr>
            <a:r>
              <a:rPr lang="en-US" sz="950" b="1" dirty="0">
                <a:solidFill>
                  <a:srgbClr val="2F6BFF"/>
                </a:solidFill>
              </a:rPr>
              <a:t>Studio</a:t>
            </a:r>
            <a:endParaRPr lang="en-US" sz="950" dirty="0"/>
          </a:p>
        </p:txBody>
      </p:sp>
      <p:sp>
        <p:nvSpPr>
          <p:cNvPr id="14" name="Text 12"/>
          <p:cNvSpPr/>
          <p:nvPr/>
        </p:nvSpPr>
        <p:spPr>
          <a:xfrm>
            <a:off x="768096" y="2779776"/>
            <a:ext cx="640080" cy="91440"/>
          </a:xfrm>
          <a:prstGeom prst="rect">
            <a:avLst/>
          </a:prstGeom>
          <a:noFill/>
          <a:ln/>
        </p:spPr>
        <p:txBody>
          <a:bodyPr wrap="square" lIns="0" tIns="0" rIns="0" bIns="0" rtlCol="0" anchor="ctr"/>
          <a:lstStyle/>
          <a:p>
            <a:pPr indent="0" marL="0">
              <a:buNone/>
            </a:pPr>
            <a:r>
              <a:rPr lang="en-US" sz="950" dirty="0">
                <a:solidFill>
                  <a:srgbClr val="5D6B7B"/>
                </a:solidFill>
              </a:rPr>
              <a:t>Runs</a:t>
            </a:r>
            <a:endParaRPr lang="en-US" sz="950" dirty="0"/>
          </a:p>
        </p:txBody>
      </p:sp>
      <p:sp>
        <p:nvSpPr>
          <p:cNvPr id="15" name="Text 13"/>
          <p:cNvSpPr/>
          <p:nvPr/>
        </p:nvSpPr>
        <p:spPr>
          <a:xfrm>
            <a:off x="768096" y="3163824"/>
            <a:ext cx="640080" cy="91440"/>
          </a:xfrm>
          <a:prstGeom prst="rect">
            <a:avLst/>
          </a:prstGeom>
          <a:noFill/>
          <a:ln/>
        </p:spPr>
        <p:txBody>
          <a:bodyPr wrap="square" lIns="0" tIns="0" rIns="0" bIns="0" rtlCol="0" anchor="ctr"/>
          <a:lstStyle/>
          <a:p>
            <a:pPr indent="0" marL="0">
              <a:buNone/>
            </a:pPr>
            <a:r>
              <a:rPr lang="en-US" sz="950" dirty="0">
                <a:solidFill>
                  <a:srgbClr val="5D6B7B"/>
                </a:solidFill>
              </a:rPr>
              <a:t>Deploy</a:t>
            </a:r>
            <a:endParaRPr lang="en-US" sz="950" dirty="0"/>
          </a:p>
        </p:txBody>
      </p:sp>
      <p:sp>
        <p:nvSpPr>
          <p:cNvPr id="16" name="Text 14"/>
          <p:cNvSpPr/>
          <p:nvPr/>
        </p:nvSpPr>
        <p:spPr>
          <a:xfrm>
            <a:off x="768096" y="3547872"/>
            <a:ext cx="640080" cy="91440"/>
          </a:xfrm>
          <a:prstGeom prst="rect">
            <a:avLst/>
          </a:prstGeom>
          <a:noFill/>
          <a:ln/>
        </p:spPr>
        <p:txBody>
          <a:bodyPr wrap="square" lIns="0" tIns="0" rIns="0" bIns="0" rtlCol="0" anchor="ctr"/>
          <a:lstStyle/>
          <a:p>
            <a:pPr indent="0" marL="0">
              <a:buNone/>
            </a:pPr>
            <a:r>
              <a:rPr lang="en-US" sz="950" dirty="0">
                <a:solidFill>
                  <a:srgbClr val="5D6B7B"/>
                </a:solidFill>
              </a:rPr>
              <a:t>Observe</a:t>
            </a:r>
            <a:endParaRPr lang="en-US" sz="950" dirty="0"/>
          </a:p>
        </p:txBody>
      </p:sp>
      <p:sp>
        <p:nvSpPr>
          <p:cNvPr id="17" name="Text 15"/>
          <p:cNvSpPr/>
          <p:nvPr/>
        </p:nvSpPr>
        <p:spPr>
          <a:xfrm>
            <a:off x="768096" y="3931920"/>
            <a:ext cx="640080" cy="91440"/>
          </a:xfrm>
          <a:prstGeom prst="rect">
            <a:avLst/>
          </a:prstGeom>
          <a:noFill/>
          <a:ln/>
        </p:spPr>
        <p:txBody>
          <a:bodyPr wrap="square" lIns="0" tIns="0" rIns="0" bIns="0" rtlCol="0" anchor="ctr"/>
          <a:lstStyle/>
          <a:p>
            <a:pPr indent="0" marL="0">
              <a:buNone/>
            </a:pPr>
            <a:r>
              <a:rPr lang="en-US" sz="950" dirty="0">
                <a:solidFill>
                  <a:srgbClr val="5D6B7B"/>
                </a:solidFill>
              </a:rPr>
              <a:t>Govern</a:t>
            </a:r>
            <a:endParaRPr lang="en-US" sz="950" dirty="0"/>
          </a:p>
        </p:txBody>
      </p:sp>
      <p:sp>
        <p:nvSpPr>
          <p:cNvPr id="18" name="Text 16"/>
          <p:cNvSpPr/>
          <p:nvPr/>
        </p:nvSpPr>
        <p:spPr>
          <a:xfrm>
            <a:off x="1865376" y="1682496"/>
            <a:ext cx="2194560" cy="164592"/>
          </a:xfrm>
          <a:prstGeom prst="rect">
            <a:avLst/>
          </a:prstGeom>
          <a:noFill/>
          <a:ln/>
        </p:spPr>
        <p:txBody>
          <a:bodyPr wrap="square" lIns="0" tIns="0" rIns="0" bIns="0" rtlCol="0" anchor="ctr"/>
          <a:lstStyle/>
          <a:p>
            <a:pPr indent="0" marL="0">
              <a:buNone/>
            </a:pPr>
            <a:r>
              <a:rPr lang="en-US" sz="1300" b="1" dirty="0">
                <a:solidFill>
                  <a:srgbClr val="19212B"/>
                </a:solidFill>
              </a:rPr>
              <a:t>Agent Studio</a:t>
            </a:r>
            <a:endParaRPr lang="en-US" sz="1300" dirty="0"/>
          </a:p>
        </p:txBody>
      </p:sp>
      <p:sp>
        <p:nvSpPr>
          <p:cNvPr id="19" name="Text 17"/>
          <p:cNvSpPr/>
          <p:nvPr/>
        </p:nvSpPr>
        <p:spPr>
          <a:xfrm>
            <a:off x="1865376" y="1883664"/>
            <a:ext cx="2560320" cy="109728"/>
          </a:xfrm>
          <a:prstGeom prst="rect">
            <a:avLst/>
          </a:prstGeom>
          <a:noFill/>
          <a:ln/>
        </p:spPr>
        <p:txBody>
          <a:bodyPr wrap="square" lIns="0" tIns="0" rIns="0" bIns="0" rtlCol="0" anchor="ctr"/>
          <a:lstStyle/>
          <a:p>
            <a:pPr indent="0" marL="0">
              <a:buNone/>
            </a:pPr>
            <a:r>
              <a:rPr lang="en-US" sz="930" dirty="0">
                <a:solidFill>
                  <a:srgbClr val="5D6B7B"/>
                </a:solidFill>
              </a:rPr>
              <a:t>Role-based view with progressive disclosure</a:t>
            </a:r>
            <a:endParaRPr lang="en-US" sz="930" dirty="0"/>
          </a:p>
        </p:txBody>
      </p:sp>
      <p:sp>
        <p:nvSpPr>
          <p:cNvPr id="20" name="Shape 18"/>
          <p:cNvSpPr/>
          <p:nvPr/>
        </p:nvSpPr>
        <p:spPr>
          <a:xfrm>
            <a:off x="1847088" y="2103120"/>
            <a:ext cx="822960" cy="3547872"/>
          </a:xfrm>
          <a:prstGeom prst="roundRect">
            <a:avLst>
              <a:gd name="adj" fmla="val 8889"/>
            </a:avLst>
          </a:prstGeom>
          <a:solidFill>
            <a:srgbClr val="F3F5F8"/>
          </a:solidFill>
          <a:ln w="12700">
            <a:solidFill>
              <a:srgbClr val="D7DEE7"/>
            </a:solidFill>
            <a:prstDash val="solid"/>
          </a:ln>
        </p:spPr>
      </p:sp>
      <p:sp>
        <p:nvSpPr>
          <p:cNvPr id="21" name="Shape 19"/>
          <p:cNvSpPr/>
          <p:nvPr/>
        </p:nvSpPr>
        <p:spPr>
          <a:xfrm>
            <a:off x="1847088" y="2103120"/>
            <a:ext cx="822960" cy="219456"/>
          </a:xfrm>
          <a:prstGeom prst="rect">
            <a:avLst/>
          </a:prstGeom>
          <a:solidFill>
            <a:srgbClr val="EEF2F7"/>
          </a:solidFill>
          <a:ln w="12700">
            <a:solidFill>
              <a:srgbClr val="D7DEE7"/>
            </a:solidFill>
            <a:prstDash val="solid"/>
          </a:ln>
        </p:spPr>
      </p:sp>
      <p:sp>
        <p:nvSpPr>
          <p:cNvPr id="22" name="Text 20"/>
          <p:cNvSpPr/>
          <p:nvPr/>
        </p:nvSpPr>
        <p:spPr>
          <a:xfrm>
            <a:off x="1956816" y="2157984"/>
            <a:ext cx="603504" cy="91440"/>
          </a:xfrm>
          <a:prstGeom prst="rect">
            <a:avLst/>
          </a:prstGeom>
          <a:noFill/>
          <a:ln/>
        </p:spPr>
        <p:txBody>
          <a:bodyPr wrap="square" lIns="0" tIns="0" rIns="0" bIns="0" rtlCol="0" anchor="ctr"/>
          <a:lstStyle/>
          <a:p>
            <a:pPr indent="0" marL="0">
              <a:buNone/>
            </a:pPr>
            <a:r>
              <a:rPr lang="en-US" sz="920" b="1" dirty="0">
                <a:solidFill>
                  <a:srgbClr val="19212B"/>
                </a:solidFill>
              </a:rPr>
              <a:t>Steps</a:t>
            </a:r>
            <a:endParaRPr lang="en-US" sz="920" dirty="0"/>
          </a:p>
        </p:txBody>
      </p:sp>
      <p:sp>
        <p:nvSpPr>
          <p:cNvPr id="23" name="Text 21"/>
          <p:cNvSpPr/>
          <p:nvPr/>
        </p:nvSpPr>
        <p:spPr>
          <a:xfrm>
            <a:off x="1956816" y="3803904"/>
            <a:ext cx="603504" cy="146304"/>
          </a:xfrm>
          <a:prstGeom prst="rect">
            <a:avLst/>
          </a:prstGeom>
          <a:noFill/>
          <a:ln/>
        </p:spPr>
        <p:txBody>
          <a:bodyPr wrap="square" lIns="0" tIns="0" rIns="0" bIns="0" rtlCol="0" anchor="ctr"/>
          <a:lstStyle/>
          <a:p>
            <a:pPr algn="ctr" indent="0" marL="0">
              <a:buNone/>
            </a:pPr>
            <a:r>
              <a:rPr lang="en-US" sz="1000" dirty="0">
                <a:solidFill>
                  <a:srgbClr val="5D6B7B"/>
                </a:solidFill>
              </a:rPr>
              <a:t>Brief</a:t>
            </a:r>
            <a:endParaRPr lang="en-US" sz="1000" dirty="0"/>
          </a:p>
          <a:p>
            <a:pPr algn="ctr" indent="0" marL="0">
              <a:buNone/>
            </a:pPr>
            <a:endParaRPr lang="en-US" sz="1000" dirty="0"/>
          </a:p>
          <a:p>
            <a:pPr algn="ctr" indent="0" marL="0">
              <a:buNone/>
            </a:pPr>
            <a:r>
              <a:rPr lang="en-US" sz="1000" dirty="0">
                <a:solidFill>
                  <a:srgbClr val="5D6B7B"/>
                </a:solidFill>
              </a:rPr>
              <a:t>Research</a:t>
            </a:r>
            <a:endParaRPr lang="en-US" sz="1000" dirty="0"/>
          </a:p>
          <a:p>
            <a:pPr algn="ctr" indent="0" marL="0">
              <a:buNone/>
            </a:pPr>
            <a:endParaRPr lang="en-US" sz="1000" dirty="0"/>
          </a:p>
          <a:p>
            <a:pPr algn="ctr" indent="0" marL="0">
              <a:buNone/>
            </a:pPr>
            <a:r>
              <a:rPr lang="en-US" sz="1000" dirty="0">
                <a:solidFill>
                  <a:srgbClr val="5D6B7B"/>
                </a:solidFill>
              </a:rPr>
              <a:t>Design</a:t>
            </a:r>
            <a:endParaRPr lang="en-US" sz="1000" dirty="0"/>
          </a:p>
          <a:p>
            <a:pPr algn="ctr" indent="0" marL="0">
              <a:buNone/>
            </a:pPr>
            <a:endParaRPr lang="en-US" sz="1000" dirty="0"/>
          </a:p>
          <a:p>
            <a:pPr algn="ctr" indent="0" marL="0">
              <a:buNone/>
            </a:pPr>
            <a:r>
              <a:rPr lang="en-US" sz="1000" dirty="0">
                <a:solidFill>
                  <a:srgbClr val="5D6B7B"/>
                </a:solidFill>
              </a:rPr>
              <a:t>Debate</a:t>
            </a:r>
            <a:endParaRPr lang="en-US" sz="1000" dirty="0"/>
          </a:p>
          <a:p>
            <a:pPr algn="ctr" indent="0" marL="0">
              <a:buNone/>
            </a:pPr>
            <a:endParaRPr lang="en-US" sz="1000" dirty="0"/>
          </a:p>
          <a:p>
            <a:pPr algn="ctr" indent="0" marL="0">
              <a:buNone/>
            </a:pPr>
            <a:r>
              <a:rPr lang="en-US" sz="1000" dirty="0">
                <a:solidFill>
                  <a:srgbClr val="5D6B7B"/>
                </a:solidFill>
              </a:rPr>
              <a:t>Memory</a:t>
            </a:r>
            <a:endParaRPr lang="en-US" sz="1000" dirty="0"/>
          </a:p>
          <a:p>
            <a:pPr algn="ctr" indent="0" marL="0">
              <a:buNone/>
            </a:pPr>
            <a:endParaRPr lang="en-US" sz="1000" dirty="0"/>
          </a:p>
          <a:p>
            <a:pPr algn="ctr" indent="0" marL="0">
              <a:buNone/>
            </a:pPr>
            <a:r>
              <a:rPr lang="en-US" sz="1000" dirty="0">
                <a:solidFill>
                  <a:srgbClr val="5D6B7B"/>
                </a:solidFill>
              </a:rPr>
              <a:t>Tools</a:t>
            </a:r>
            <a:endParaRPr lang="en-US" sz="1000" dirty="0"/>
          </a:p>
          <a:p>
            <a:pPr algn="ctr" indent="0" marL="0">
              <a:buNone/>
            </a:pPr>
            <a:endParaRPr lang="en-US" sz="1000" dirty="0"/>
          </a:p>
          <a:p>
            <a:pPr algn="ctr" indent="0" marL="0">
              <a:buNone/>
            </a:pPr>
            <a:r>
              <a:rPr lang="en-US" sz="1000" dirty="0">
                <a:solidFill>
                  <a:srgbClr val="5D6B7B"/>
                </a:solidFill>
              </a:rPr>
              <a:t>Eval</a:t>
            </a:r>
            <a:endParaRPr lang="en-US" sz="1000" dirty="0"/>
          </a:p>
          <a:p>
            <a:pPr algn="ctr" indent="0" marL="0">
              <a:buNone/>
            </a:pPr>
            <a:endParaRPr lang="en-US" sz="1000" dirty="0"/>
          </a:p>
          <a:p>
            <a:pPr algn="ctr" indent="0" marL="0">
              <a:buNone/>
            </a:pPr>
            <a:r>
              <a:rPr lang="en-US" sz="1000" dirty="0">
                <a:solidFill>
                  <a:srgbClr val="5D6B7B"/>
                </a:solidFill>
              </a:rPr>
              <a:t>Release</a:t>
            </a:r>
            <a:endParaRPr lang="en-US" sz="1000" dirty="0"/>
          </a:p>
        </p:txBody>
      </p:sp>
      <p:sp>
        <p:nvSpPr>
          <p:cNvPr id="24" name="Shape 22"/>
          <p:cNvSpPr/>
          <p:nvPr/>
        </p:nvSpPr>
        <p:spPr>
          <a:xfrm>
            <a:off x="2834640" y="2103120"/>
            <a:ext cx="3584448" cy="3547872"/>
          </a:xfrm>
          <a:prstGeom prst="roundRect">
            <a:avLst>
              <a:gd name="adj" fmla="val 2062"/>
            </a:avLst>
          </a:prstGeom>
          <a:solidFill>
            <a:srgbClr val="F3F5F8"/>
          </a:solidFill>
          <a:ln w="12700">
            <a:solidFill>
              <a:srgbClr val="D7DEE7"/>
            </a:solidFill>
            <a:prstDash val="solid"/>
          </a:ln>
        </p:spPr>
      </p:sp>
      <p:sp>
        <p:nvSpPr>
          <p:cNvPr id="25" name="Shape 23"/>
          <p:cNvSpPr/>
          <p:nvPr/>
        </p:nvSpPr>
        <p:spPr>
          <a:xfrm>
            <a:off x="2834640" y="2103120"/>
            <a:ext cx="3584448" cy="219456"/>
          </a:xfrm>
          <a:prstGeom prst="rect">
            <a:avLst/>
          </a:prstGeom>
          <a:solidFill>
            <a:srgbClr val="EEF2F7"/>
          </a:solidFill>
          <a:ln w="12700">
            <a:solidFill>
              <a:srgbClr val="D7DEE7"/>
            </a:solidFill>
            <a:prstDash val="solid"/>
          </a:ln>
        </p:spPr>
      </p:sp>
      <p:sp>
        <p:nvSpPr>
          <p:cNvPr id="26" name="Text 24"/>
          <p:cNvSpPr/>
          <p:nvPr/>
        </p:nvSpPr>
        <p:spPr>
          <a:xfrm>
            <a:off x="2944368" y="2157984"/>
            <a:ext cx="3364992" cy="91440"/>
          </a:xfrm>
          <a:prstGeom prst="rect">
            <a:avLst/>
          </a:prstGeom>
          <a:noFill/>
          <a:ln/>
        </p:spPr>
        <p:txBody>
          <a:bodyPr wrap="square" lIns="0" tIns="0" rIns="0" bIns="0" rtlCol="0" anchor="ctr"/>
          <a:lstStyle/>
          <a:p>
            <a:pPr indent="0" marL="0">
              <a:buNone/>
            </a:pPr>
            <a:r>
              <a:rPr lang="en-US" sz="920" b="1" dirty="0">
                <a:solidFill>
                  <a:srgbClr val="19212B"/>
                </a:solidFill>
              </a:rPr>
              <a:t>Main workspace</a:t>
            </a:r>
            <a:endParaRPr lang="en-US" sz="920" dirty="0"/>
          </a:p>
        </p:txBody>
      </p:sp>
      <p:sp>
        <p:nvSpPr>
          <p:cNvPr id="27" name="Text 25"/>
          <p:cNvSpPr/>
          <p:nvPr/>
        </p:nvSpPr>
        <p:spPr>
          <a:xfrm>
            <a:off x="2944368" y="3803904"/>
            <a:ext cx="3364992" cy="146304"/>
          </a:xfrm>
          <a:prstGeom prst="rect">
            <a:avLst/>
          </a:prstGeom>
          <a:noFill/>
          <a:ln/>
        </p:spPr>
        <p:txBody>
          <a:bodyPr wrap="square" lIns="0" tIns="0" rIns="0" bIns="0" rtlCol="0" anchor="ctr"/>
          <a:lstStyle/>
          <a:p>
            <a:pPr algn="ctr" indent="0" marL="0">
              <a:buNone/>
            </a:pPr>
            <a:r>
              <a:rPr lang="en-US" sz="1000" dirty="0">
                <a:solidFill>
                  <a:srgbClr val="5D6B7B"/>
                </a:solidFill>
              </a:rPr>
              <a:t>Architecture / brief / comparison canvas</a:t>
            </a:r>
            <a:endParaRPr lang="en-US" sz="1000" dirty="0"/>
          </a:p>
        </p:txBody>
      </p:sp>
      <p:sp>
        <p:nvSpPr>
          <p:cNvPr id="28" name="Shape 26"/>
          <p:cNvSpPr/>
          <p:nvPr/>
        </p:nvSpPr>
        <p:spPr>
          <a:xfrm>
            <a:off x="6601968" y="2103120"/>
            <a:ext cx="1783080" cy="932688"/>
          </a:xfrm>
          <a:prstGeom prst="roundRect">
            <a:avLst>
              <a:gd name="adj" fmla="val 7843"/>
            </a:avLst>
          </a:prstGeom>
          <a:solidFill>
            <a:srgbClr val="F3F5F8"/>
          </a:solidFill>
          <a:ln w="12700">
            <a:solidFill>
              <a:srgbClr val="D7DEE7"/>
            </a:solidFill>
            <a:prstDash val="solid"/>
          </a:ln>
        </p:spPr>
      </p:sp>
      <p:sp>
        <p:nvSpPr>
          <p:cNvPr id="29" name="Shape 27"/>
          <p:cNvSpPr/>
          <p:nvPr/>
        </p:nvSpPr>
        <p:spPr>
          <a:xfrm>
            <a:off x="6601968" y="2103120"/>
            <a:ext cx="1783080" cy="219456"/>
          </a:xfrm>
          <a:prstGeom prst="rect">
            <a:avLst/>
          </a:prstGeom>
          <a:solidFill>
            <a:srgbClr val="EEF2F7"/>
          </a:solidFill>
          <a:ln w="12700">
            <a:solidFill>
              <a:srgbClr val="D7DEE7"/>
            </a:solidFill>
            <a:prstDash val="solid"/>
          </a:ln>
        </p:spPr>
      </p:sp>
      <p:sp>
        <p:nvSpPr>
          <p:cNvPr id="30" name="Text 28"/>
          <p:cNvSpPr/>
          <p:nvPr/>
        </p:nvSpPr>
        <p:spPr>
          <a:xfrm>
            <a:off x="6711696" y="2157984"/>
            <a:ext cx="1563624" cy="91440"/>
          </a:xfrm>
          <a:prstGeom prst="rect">
            <a:avLst/>
          </a:prstGeom>
          <a:noFill/>
          <a:ln/>
        </p:spPr>
        <p:txBody>
          <a:bodyPr wrap="square" lIns="0" tIns="0" rIns="0" bIns="0" rtlCol="0" anchor="ctr"/>
          <a:lstStyle/>
          <a:p>
            <a:pPr indent="0" marL="0">
              <a:buNone/>
            </a:pPr>
            <a:r>
              <a:rPr lang="en-US" sz="920" b="1" dirty="0">
                <a:solidFill>
                  <a:srgbClr val="19212B"/>
                </a:solidFill>
              </a:rPr>
              <a:t>Insights</a:t>
            </a:r>
            <a:endParaRPr lang="en-US" sz="920" dirty="0"/>
          </a:p>
        </p:txBody>
      </p:sp>
      <p:sp>
        <p:nvSpPr>
          <p:cNvPr id="31" name="Text 29"/>
          <p:cNvSpPr/>
          <p:nvPr/>
        </p:nvSpPr>
        <p:spPr>
          <a:xfrm>
            <a:off x="6711696" y="2496312"/>
            <a:ext cx="1563624" cy="146304"/>
          </a:xfrm>
          <a:prstGeom prst="rect">
            <a:avLst/>
          </a:prstGeom>
          <a:noFill/>
          <a:ln/>
        </p:spPr>
        <p:txBody>
          <a:bodyPr wrap="square" lIns="0" tIns="0" rIns="0" bIns="0" rtlCol="0" anchor="ctr"/>
          <a:lstStyle/>
          <a:p>
            <a:pPr algn="ctr" indent="0" marL="0">
              <a:buNone/>
            </a:pPr>
            <a:r>
              <a:rPr lang="en-US" sz="1000" dirty="0">
                <a:solidFill>
                  <a:srgbClr val="5D6B7B"/>
                </a:solidFill>
              </a:rPr>
              <a:t>AI suggestions</a:t>
            </a:r>
            <a:endParaRPr lang="en-US" sz="1000" dirty="0"/>
          </a:p>
          <a:p>
            <a:pPr algn="ctr" indent="0" marL="0">
              <a:buNone/>
            </a:pPr>
            <a:r>
              <a:rPr lang="en-US" sz="1000" dirty="0">
                <a:solidFill>
                  <a:srgbClr val="5D6B7B"/>
                </a:solidFill>
              </a:rPr>
              <a:t>Warnings</a:t>
            </a:r>
            <a:endParaRPr lang="en-US" sz="1000" dirty="0"/>
          </a:p>
          <a:p>
            <a:pPr algn="ctr" indent="0" marL="0">
              <a:buNone/>
            </a:pPr>
            <a:r>
              <a:rPr lang="en-US" sz="1000" dirty="0">
                <a:solidFill>
                  <a:srgbClr val="5D6B7B"/>
                </a:solidFill>
              </a:rPr>
              <a:t>Recommended next action</a:t>
            </a:r>
            <a:endParaRPr lang="en-US" sz="1000" dirty="0"/>
          </a:p>
        </p:txBody>
      </p:sp>
      <p:sp>
        <p:nvSpPr>
          <p:cNvPr id="32" name="Shape 30"/>
          <p:cNvSpPr/>
          <p:nvPr/>
        </p:nvSpPr>
        <p:spPr>
          <a:xfrm>
            <a:off x="6601968" y="3182112"/>
            <a:ext cx="1783080" cy="896112"/>
          </a:xfrm>
          <a:prstGeom prst="roundRect">
            <a:avLst>
              <a:gd name="adj" fmla="val 8163"/>
            </a:avLst>
          </a:prstGeom>
          <a:solidFill>
            <a:srgbClr val="F3F5F8"/>
          </a:solidFill>
          <a:ln w="12700">
            <a:solidFill>
              <a:srgbClr val="D7DEE7"/>
            </a:solidFill>
            <a:prstDash val="solid"/>
          </a:ln>
        </p:spPr>
      </p:sp>
      <p:sp>
        <p:nvSpPr>
          <p:cNvPr id="33" name="Shape 31"/>
          <p:cNvSpPr/>
          <p:nvPr/>
        </p:nvSpPr>
        <p:spPr>
          <a:xfrm>
            <a:off x="6601968" y="3182112"/>
            <a:ext cx="1783080" cy="219456"/>
          </a:xfrm>
          <a:prstGeom prst="rect">
            <a:avLst/>
          </a:prstGeom>
          <a:solidFill>
            <a:srgbClr val="EEF2F7"/>
          </a:solidFill>
          <a:ln w="12700">
            <a:solidFill>
              <a:srgbClr val="D7DEE7"/>
            </a:solidFill>
            <a:prstDash val="solid"/>
          </a:ln>
        </p:spPr>
      </p:sp>
      <p:sp>
        <p:nvSpPr>
          <p:cNvPr id="34" name="Text 32"/>
          <p:cNvSpPr/>
          <p:nvPr/>
        </p:nvSpPr>
        <p:spPr>
          <a:xfrm>
            <a:off x="6711696" y="3236976"/>
            <a:ext cx="1563624" cy="91440"/>
          </a:xfrm>
          <a:prstGeom prst="rect">
            <a:avLst/>
          </a:prstGeom>
          <a:noFill/>
          <a:ln/>
        </p:spPr>
        <p:txBody>
          <a:bodyPr wrap="square" lIns="0" tIns="0" rIns="0" bIns="0" rtlCol="0" anchor="ctr"/>
          <a:lstStyle/>
          <a:p>
            <a:pPr indent="0" marL="0">
              <a:buNone/>
            </a:pPr>
            <a:r>
              <a:rPr lang="en-US" sz="920" b="1" dirty="0">
                <a:solidFill>
                  <a:srgbClr val="19212B"/>
                </a:solidFill>
              </a:rPr>
              <a:t>Checks</a:t>
            </a:r>
            <a:endParaRPr lang="en-US" sz="920" dirty="0"/>
          </a:p>
        </p:txBody>
      </p:sp>
      <p:sp>
        <p:nvSpPr>
          <p:cNvPr id="35" name="Text 33"/>
          <p:cNvSpPr/>
          <p:nvPr/>
        </p:nvSpPr>
        <p:spPr>
          <a:xfrm>
            <a:off x="6711696" y="3557016"/>
            <a:ext cx="1563624" cy="146304"/>
          </a:xfrm>
          <a:prstGeom prst="rect">
            <a:avLst/>
          </a:prstGeom>
          <a:noFill/>
          <a:ln/>
        </p:spPr>
        <p:txBody>
          <a:bodyPr wrap="square" lIns="0" tIns="0" rIns="0" bIns="0" rtlCol="0" anchor="ctr"/>
          <a:lstStyle/>
          <a:p>
            <a:pPr algn="ctr" indent="0" marL="0">
              <a:buNone/>
            </a:pPr>
            <a:r>
              <a:rPr lang="en-US" sz="1000" dirty="0">
                <a:solidFill>
                  <a:srgbClr val="5D6B7B"/>
                </a:solidFill>
              </a:rPr>
              <a:t>Validation status</a:t>
            </a:r>
            <a:endParaRPr lang="en-US" sz="1000" dirty="0"/>
          </a:p>
          <a:p>
            <a:pPr algn="ctr" indent="0" marL="0">
              <a:buNone/>
            </a:pPr>
            <a:r>
              <a:rPr lang="en-US" sz="1000" dirty="0">
                <a:solidFill>
                  <a:srgbClr val="5D6B7B"/>
                </a:solidFill>
              </a:rPr>
              <a:t>Open questions</a:t>
            </a:r>
            <a:endParaRPr lang="en-US" sz="1000" dirty="0"/>
          </a:p>
        </p:txBody>
      </p:sp>
      <p:sp>
        <p:nvSpPr>
          <p:cNvPr id="36" name="Shape 34"/>
          <p:cNvSpPr/>
          <p:nvPr/>
        </p:nvSpPr>
        <p:spPr>
          <a:xfrm>
            <a:off x="6601968" y="4224528"/>
            <a:ext cx="1783080" cy="1426464"/>
          </a:xfrm>
          <a:prstGeom prst="roundRect">
            <a:avLst>
              <a:gd name="adj" fmla="val 5128"/>
            </a:avLst>
          </a:prstGeom>
          <a:solidFill>
            <a:srgbClr val="F3F5F8"/>
          </a:solidFill>
          <a:ln w="12700">
            <a:solidFill>
              <a:srgbClr val="D7DEE7"/>
            </a:solidFill>
            <a:prstDash val="solid"/>
          </a:ln>
        </p:spPr>
      </p:sp>
      <p:sp>
        <p:nvSpPr>
          <p:cNvPr id="37" name="Shape 35"/>
          <p:cNvSpPr/>
          <p:nvPr/>
        </p:nvSpPr>
        <p:spPr>
          <a:xfrm>
            <a:off x="6601968" y="4224528"/>
            <a:ext cx="1783080" cy="219456"/>
          </a:xfrm>
          <a:prstGeom prst="rect">
            <a:avLst/>
          </a:prstGeom>
          <a:solidFill>
            <a:srgbClr val="EEF2F7"/>
          </a:solidFill>
          <a:ln w="12700">
            <a:solidFill>
              <a:srgbClr val="D7DEE7"/>
            </a:solidFill>
            <a:prstDash val="solid"/>
          </a:ln>
        </p:spPr>
      </p:sp>
      <p:sp>
        <p:nvSpPr>
          <p:cNvPr id="38" name="Text 36"/>
          <p:cNvSpPr/>
          <p:nvPr/>
        </p:nvSpPr>
        <p:spPr>
          <a:xfrm>
            <a:off x="6711696" y="4279392"/>
            <a:ext cx="1563624" cy="91440"/>
          </a:xfrm>
          <a:prstGeom prst="rect">
            <a:avLst/>
          </a:prstGeom>
          <a:noFill/>
          <a:ln/>
        </p:spPr>
        <p:txBody>
          <a:bodyPr wrap="square" lIns="0" tIns="0" rIns="0" bIns="0" rtlCol="0" anchor="ctr"/>
          <a:lstStyle/>
          <a:p>
            <a:pPr indent="0" marL="0">
              <a:buNone/>
            </a:pPr>
            <a:r>
              <a:rPr lang="en-US" sz="920" b="1" dirty="0">
                <a:solidFill>
                  <a:srgbClr val="19212B"/>
                </a:solidFill>
              </a:rPr>
              <a:t>Context</a:t>
            </a:r>
            <a:endParaRPr lang="en-US" sz="920" dirty="0"/>
          </a:p>
        </p:txBody>
      </p:sp>
      <p:sp>
        <p:nvSpPr>
          <p:cNvPr id="39" name="Text 37"/>
          <p:cNvSpPr/>
          <p:nvPr/>
        </p:nvSpPr>
        <p:spPr>
          <a:xfrm>
            <a:off x="6711696" y="4864608"/>
            <a:ext cx="1563624" cy="146304"/>
          </a:xfrm>
          <a:prstGeom prst="rect">
            <a:avLst/>
          </a:prstGeom>
          <a:noFill/>
          <a:ln/>
        </p:spPr>
        <p:txBody>
          <a:bodyPr wrap="square" lIns="0" tIns="0" rIns="0" bIns="0" rtlCol="0" anchor="ctr"/>
          <a:lstStyle/>
          <a:p>
            <a:pPr algn="ctr" indent="0" marL="0">
              <a:buNone/>
            </a:pPr>
            <a:r>
              <a:rPr lang="en-US" sz="1000" dirty="0">
                <a:solidFill>
                  <a:srgbClr val="5D6B7B"/>
                </a:solidFill>
              </a:rPr>
              <a:t>Selected tools</a:t>
            </a:r>
            <a:endParaRPr lang="en-US" sz="1000" dirty="0"/>
          </a:p>
          <a:p>
            <a:pPr algn="ctr" indent="0" marL="0">
              <a:buNone/>
            </a:pPr>
            <a:r>
              <a:rPr lang="en-US" sz="1000" dirty="0">
                <a:solidFill>
                  <a:srgbClr val="5D6B7B"/>
                </a:solidFill>
              </a:rPr>
              <a:t>Memory policy</a:t>
            </a:r>
            <a:endParaRPr lang="en-US" sz="1000" dirty="0"/>
          </a:p>
          <a:p>
            <a:pPr algn="ctr" indent="0" marL="0">
              <a:buNone/>
            </a:pPr>
            <a:r>
              <a:rPr lang="en-US" sz="1000" dirty="0">
                <a:solidFill>
                  <a:srgbClr val="5D6B7B"/>
                </a:solidFill>
              </a:rPr>
              <a:t>Risk level</a:t>
            </a:r>
            <a:endParaRPr lang="en-US" sz="1000" dirty="0"/>
          </a:p>
        </p:txBody>
      </p:sp>
      <p:sp>
        <p:nvSpPr>
          <p:cNvPr id="40" name="Shape 38"/>
          <p:cNvSpPr/>
          <p:nvPr/>
        </p:nvSpPr>
        <p:spPr>
          <a:xfrm>
            <a:off x="2999232" y="2414016"/>
            <a:ext cx="914400" cy="256032"/>
          </a:xfrm>
          <a:prstGeom prst="roundRect">
            <a:avLst>
              <a:gd name="adj" fmla="val 28571"/>
            </a:avLst>
          </a:prstGeom>
          <a:solidFill>
            <a:srgbClr val="EAF1FF"/>
          </a:solidFill>
          <a:ln w="12700">
            <a:solidFill>
              <a:srgbClr val="EAF1FF">
                <a:alpha val="0"/>
              </a:srgbClr>
            </a:solidFill>
            <a:prstDash val="solid"/>
          </a:ln>
        </p:spPr>
      </p:sp>
      <p:sp>
        <p:nvSpPr>
          <p:cNvPr id="41" name="Text 39"/>
          <p:cNvSpPr/>
          <p:nvPr/>
        </p:nvSpPr>
        <p:spPr>
          <a:xfrm>
            <a:off x="3090672" y="2459736"/>
            <a:ext cx="731520" cy="146304"/>
          </a:xfrm>
          <a:prstGeom prst="rect">
            <a:avLst/>
          </a:prstGeom>
          <a:noFill/>
          <a:ln/>
        </p:spPr>
        <p:txBody>
          <a:bodyPr wrap="square" lIns="0" tIns="0" rIns="0" bIns="0" rtlCol="0" anchor="ctr"/>
          <a:lstStyle/>
          <a:p>
            <a:pPr algn="ctr" indent="0" marL="0">
              <a:buNone/>
            </a:pPr>
            <a:r>
              <a:rPr lang="en-US" sz="1000" b="1" dirty="0">
                <a:solidFill>
                  <a:srgbClr val="2F6BFF"/>
                </a:solidFill>
              </a:rPr>
              <a:t>Brief mode</a:t>
            </a:r>
            <a:endParaRPr lang="en-US" sz="1000" dirty="0"/>
          </a:p>
        </p:txBody>
      </p:sp>
      <p:sp>
        <p:nvSpPr>
          <p:cNvPr id="42" name="Shape 40"/>
          <p:cNvSpPr/>
          <p:nvPr/>
        </p:nvSpPr>
        <p:spPr>
          <a:xfrm>
            <a:off x="4041648" y="2414016"/>
            <a:ext cx="1078992" cy="256032"/>
          </a:xfrm>
          <a:prstGeom prst="roundRect">
            <a:avLst>
              <a:gd name="adj" fmla="val 28571"/>
            </a:avLst>
          </a:prstGeom>
          <a:solidFill>
            <a:srgbClr val="EEF2F7"/>
          </a:solidFill>
          <a:ln w="12700">
            <a:solidFill>
              <a:srgbClr val="EEF2F7">
                <a:alpha val="0"/>
              </a:srgbClr>
            </a:solidFill>
            <a:prstDash val="solid"/>
          </a:ln>
        </p:spPr>
      </p:sp>
      <p:sp>
        <p:nvSpPr>
          <p:cNvPr id="43" name="Text 41"/>
          <p:cNvSpPr/>
          <p:nvPr/>
        </p:nvSpPr>
        <p:spPr>
          <a:xfrm>
            <a:off x="4133088" y="2459736"/>
            <a:ext cx="896112" cy="146304"/>
          </a:xfrm>
          <a:prstGeom prst="rect">
            <a:avLst/>
          </a:prstGeom>
          <a:noFill/>
          <a:ln/>
        </p:spPr>
        <p:txBody>
          <a:bodyPr wrap="square" lIns="0" tIns="0" rIns="0" bIns="0" rtlCol="0" anchor="ctr"/>
          <a:lstStyle/>
          <a:p>
            <a:pPr algn="ctr" indent="0" marL="0">
              <a:buNone/>
            </a:pPr>
            <a:r>
              <a:rPr lang="en-US" sz="1000" b="1" dirty="0">
                <a:solidFill>
                  <a:srgbClr val="55606E"/>
                </a:solidFill>
              </a:rPr>
              <a:t>Architecture mode</a:t>
            </a:r>
            <a:endParaRPr lang="en-US" sz="1000" dirty="0"/>
          </a:p>
        </p:txBody>
      </p:sp>
      <p:sp>
        <p:nvSpPr>
          <p:cNvPr id="44" name="Shape 42"/>
          <p:cNvSpPr/>
          <p:nvPr/>
        </p:nvSpPr>
        <p:spPr>
          <a:xfrm>
            <a:off x="5248656" y="2414016"/>
            <a:ext cx="896112" cy="256032"/>
          </a:xfrm>
          <a:prstGeom prst="roundRect">
            <a:avLst>
              <a:gd name="adj" fmla="val 28571"/>
            </a:avLst>
          </a:prstGeom>
          <a:solidFill>
            <a:srgbClr val="EEF2F7"/>
          </a:solidFill>
          <a:ln w="12700">
            <a:solidFill>
              <a:srgbClr val="EEF2F7">
                <a:alpha val="0"/>
              </a:srgbClr>
            </a:solidFill>
            <a:prstDash val="solid"/>
          </a:ln>
        </p:spPr>
      </p:sp>
      <p:sp>
        <p:nvSpPr>
          <p:cNvPr id="45" name="Text 43"/>
          <p:cNvSpPr/>
          <p:nvPr/>
        </p:nvSpPr>
        <p:spPr>
          <a:xfrm>
            <a:off x="5340096" y="2459736"/>
            <a:ext cx="713232" cy="146304"/>
          </a:xfrm>
          <a:prstGeom prst="rect">
            <a:avLst/>
          </a:prstGeom>
          <a:noFill/>
          <a:ln/>
        </p:spPr>
        <p:txBody>
          <a:bodyPr wrap="square" lIns="0" tIns="0" rIns="0" bIns="0" rtlCol="0" anchor="ctr"/>
          <a:lstStyle/>
          <a:p>
            <a:pPr algn="ctr" indent="0" marL="0">
              <a:buNone/>
            </a:pPr>
            <a:r>
              <a:rPr lang="en-US" sz="1000" b="1" dirty="0">
                <a:solidFill>
                  <a:srgbClr val="55606E"/>
                </a:solidFill>
              </a:rPr>
              <a:t>Compare</a:t>
            </a:r>
            <a:endParaRPr lang="en-US" sz="1000" dirty="0"/>
          </a:p>
        </p:txBody>
      </p:sp>
      <p:sp>
        <p:nvSpPr>
          <p:cNvPr id="46" name="Shape 44"/>
          <p:cNvSpPr/>
          <p:nvPr/>
        </p:nvSpPr>
        <p:spPr>
          <a:xfrm>
            <a:off x="8924544" y="1572768"/>
            <a:ext cx="2697480" cy="1078992"/>
          </a:xfrm>
          <a:prstGeom prst="roundRect">
            <a:avLst>
              <a:gd name="adj" fmla="val 6780"/>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47" name="Text 45"/>
          <p:cNvSpPr/>
          <p:nvPr/>
        </p:nvSpPr>
        <p:spPr>
          <a:xfrm>
            <a:off x="9034272" y="1655064"/>
            <a:ext cx="2478024" cy="128016"/>
          </a:xfrm>
          <a:prstGeom prst="rect">
            <a:avLst/>
          </a:prstGeom>
          <a:noFill/>
          <a:ln/>
        </p:spPr>
        <p:txBody>
          <a:bodyPr wrap="square" lIns="0" tIns="0" rIns="0" bIns="0" rtlCol="0" anchor="ctr"/>
          <a:lstStyle/>
          <a:p>
            <a:pPr indent="0" marL="0">
              <a:buNone/>
            </a:pPr>
            <a:r>
              <a:rPr lang="en-US" sz="1100" b="1" dirty="0">
                <a:solidFill>
                  <a:srgbClr val="2F6BFF"/>
                </a:solidFill>
              </a:rPr>
              <a:t>Why a three-panel layout</a:t>
            </a:r>
            <a:endParaRPr lang="en-US" sz="1100" dirty="0"/>
          </a:p>
        </p:txBody>
      </p:sp>
      <p:sp>
        <p:nvSpPr>
          <p:cNvPr id="48" name="Text 46"/>
          <p:cNvSpPr/>
          <p:nvPr/>
        </p:nvSpPr>
        <p:spPr>
          <a:xfrm>
            <a:off x="9034272" y="1819656"/>
            <a:ext cx="2478024" cy="768096"/>
          </a:xfrm>
          <a:prstGeom prst="rect">
            <a:avLst/>
          </a:prstGeom>
          <a:noFill/>
          <a:ln/>
        </p:spPr>
        <p:txBody>
          <a:bodyPr wrap="square" lIns="0" tIns="0" rIns="0" bIns="0" rtlCol="0" anchor="t"/>
          <a:lstStyle/>
          <a:p>
            <a:pPr indent="0" marL="0">
              <a:buNone/>
            </a:pPr>
            <a:r>
              <a:rPr lang="en-US" sz="960" dirty="0">
                <a:solidFill>
                  <a:srgbClr val="5D6B7B"/>
                </a:solidFill>
              </a:rPr>
              <a:t>Left = progress and orientation. Center = main artifact. Right = advice, risk, and next-step guidance. This is the most consistent pattern across the product.</a:t>
            </a:r>
            <a:endParaRPr lang="en-US" sz="960" dirty="0"/>
          </a:p>
        </p:txBody>
      </p:sp>
      <p:sp>
        <p:nvSpPr>
          <p:cNvPr id="49" name="Shape 47"/>
          <p:cNvSpPr/>
          <p:nvPr/>
        </p:nvSpPr>
        <p:spPr>
          <a:xfrm>
            <a:off x="8924544" y="2834640"/>
            <a:ext cx="2697480" cy="1051560"/>
          </a:xfrm>
          <a:prstGeom prst="roundRect">
            <a:avLst>
              <a:gd name="adj" fmla="val 6957"/>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50" name="Text 48"/>
          <p:cNvSpPr/>
          <p:nvPr/>
        </p:nvSpPr>
        <p:spPr>
          <a:xfrm>
            <a:off x="9034272" y="2916936"/>
            <a:ext cx="2478024" cy="128016"/>
          </a:xfrm>
          <a:prstGeom prst="rect">
            <a:avLst/>
          </a:prstGeom>
          <a:noFill/>
          <a:ln/>
        </p:spPr>
        <p:txBody>
          <a:bodyPr wrap="square" lIns="0" tIns="0" rIns="0" bIns="0" rtlCol="0" anchor="ctr"/>
          <a:lstStyle/>
          <a:p>
            <a:pPr indent="0" marL="0">
              <a:buNone/>
            </a:pPr>
            <a:r>
              <a:rPr lang="en-US" sz="1100" b="1" dirty="0">
                <a:solidFill>
                  <a:srgbClr val="2F6BFF"/>
                </a:solidFill>
              </a:rPr>
              <a:t>Key UX rule</a:t>
            </a:r>
            <a:endParaRPr lang="en-US" sz="1100" dirty="0"/>
          </a:p>
        </p:txBody>
      </p:sp>
      <p:sp>
        <p:nvSpPr>
          <p:cNvPr id="51" name="Text 49"/>
          <p:cNvSpPr/>
          <p:nvPr/>
        </p:nvSpPr>
        <p:spPr>
          <a:xfrm>
            <a:off x="9034272" y="3081528"/>
            <a:ext cx="2478024" cy="740664"/>
          </a:xfrm>
          <a:prstGeom prst="rect">
            <a:avLst/>
          </a:prstGeom>
          <a:noFill/>
          <a:ln/>
        </p:spPr>
        <p:txBody>
          <a:bodyPr wrap="square" lIns="0" tIns="0" rIns="0" bIns="0" rtlCol="0" anchor="t"/>
          <a:lstStyle/>
          <a:p>
            <a:pPr indent="0" marL="0">
              <a:buNone/>
            </a:pPr>
            <a:r>
              <a:rPr lang="en-US" sz="960" dirty="0">
                <a:solidFill>
                  <a:srgbClr val="5D6B7B"/>
                </a:solidFill>
              </a:rPr>
              <a:t>Do not reduce the Studio to a chat window. Users must be able to inspect architecture, memory, tools, and evaluation as first-class objects.</a:t>
            </a:r>
            <a:endParaRPr lang="en-US" sz="960" dirty="0"/>
          </a:p>
        </p:txBody>
      </p:sp>
      <p:sp>
        <p:nvSpPr>
          <p:cNvPr id="52" name="Shape 50"/>
          <p:cNvSpPr/>
          <p:nvPr/>
        </p:nvSpPr>
        <p:spPr>
          <a:xfrm>
            <a:off x="8924544" y="4096512"/>
            <a:ext cx="2697480" cy="1143000"/>
          </a:xfrm>
          <a:prstGeom prst="roundRect">
            <a:avLst>
              <a:gd name="adj" fmla="val 6400"/>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53" name="Text 51"/>
          <p:cNvSpPr/>
          <p:nvPr/>
        </p:nvSpPr>
        <p:spPr>
          <a:xfrm>
            <a:off x="9034272" y="4178808"/>
            <a:ext cx="2478024" cy="128016"/>
          </a:xfrm>
          <a:prstGeom prst="rect">
            <a:avLst/>
          </a:prstGeom>
          <a:noFill/>
          <a:ln/>
        </p:spPr>
        <p:txBody>
          <a:bodyPr wrap="square" lIns="0" tIns="0" rIns="0" bIns="0" rtlCol="0" anchor="ctr"/>
          <a:lstStyle/>
          <a:p>
            <a:pPr indent="0" marL="0">
              <a:buNone/>
            </a:pPr>
            <a:r>
              <a:rPr lang="en-US" sz="1100" b="1" dirty="0">
                <a:solidFill>
                  <a:srgbClr val="2F6BFF"/>
                </a:solidFill>
              </a:rPr>
              <a:t>Decision support</a:t>
            </a:r>
            <a:endParaRPr lang="en-US" sz="1100" dirty="0"/>
          </a:p>
        </p:txBody>
      </p:sp>
      <p:sp>
        <p:nvSpPr>
          <p:cNvPr id="54" name="Text 52"/>
          <p:cNvSpPr/>
          <p:nvPr/>
        </p:nvSpPr>
        <p:spPr>
          <a:xfrm>
            <a:off x="9034272" y="4343400"/>
            <a:ext cx="2478024" cy="832104"/>
          </a:xfrm>
          <a:prstGeom prst="rect">
            <a:avLst/>
          </a:prstGeom>
          <a:noFill/>
          <a:ln/>
        </p:spPr>
        <p:txBody>
          <a:bodyPr wrap="square" lIns="0" tIns="0" rIns="0" bIns="0" rtlCol="0" anchor="t"/>
          <a:lstStyle/>
          <a:p>
            <a:pPr indent="0" marL="0">
              <a:buNone/>
            </a:pPr>
            <a:r>
              <a:rPr lang="en-US" sz="960" dirty="0">
                <a:solidFill>
                  <a:srgbClr val="5D6B7B"/>
                </a:solidFill>
              </a:rPr>
              <a:t>Keep the right rail persistent. It should always expose AI suggestions, validation state, unresolved questions, and release readiness.</a:t>
            </a:r>
            <a:endParaRPr lang="en-US" sz="960" dirty="0"/>
          </a:p>
        </p:txBody>
      </p:sp>
      <p:sp>
        <p:nvSpPr>
          <p:cNvPr id="55" name="Text 53"/>
          <p:cNvSpPr/>
          <p:nvPr/>
        </p:nvSpPr>
        <p:spPr>
          <a:xfrm>
            <a:off x="594360" y="6473952"/>
            <a:ext cx="4389120" cy="164592"/>
          </a:xfrm>
          <a:prstGeom prst="rect">
            <a:avLst/>
          </a:prstGeom>
          <a:noFill/>
          <a:ln/>
        </p:spPr>
        <p:txBody>
          <a:bodyPr wrap="square" lIns="0" tIns="0" rIns="0" bIns="0" rtlCol="0" anchor="ctr"/>
          <a:lstStyle/>
          <a:p>
            <a:pPr indent="0" marL="0">
              <a:buNone/>
            </a:pPr>
            <a:r>
              <a:rPr lang="en-US" sz="900" dirty="0">
                <a:solidFill>
                  <a:srgbClr val="7A8794"/>
                </a:solidFill>
              </a:rPr>
              <a:t>Agent Architect Pro — UX wireframe direction</a:t>
            </a:r>
            <a:endParaRPr lang="en-US" sz="900" dirty="0"/>
          </a:p>
        </p:txBody>
      </p:sp>
      <p:sp>
        <p:nvSpPr>
          <p:cNvPr id="56" name="Text 54"/>
          <p:cNvSpPr/>
          <p:nvPr/>
        </p:nvSpPr>
        <p:spPr>
          <a:xfrm>
            <a:off x="11292840" y="6437376"/>
            <a:ext cx="274320" cy="182880"/>
          </a:xfrm>
          <a:prstGeom prst="rect">
            <a:avLst/>
          </a:prstGeom>
          <a:noFill/>
          <a:ln/>
        </p:spPr>
        <p:txBody>
          <a:bodyPr wrap="square" lIns="0" tIns="0" rIns="0" bIns="0" rtlCol="0" anchor="ctr"/>
          <a:lstStyle/>
          <a:p>
            <a:pPr algn="r" indent="0" marL="0">
              <a:buNone/>
            </a:pPr>
            <a:r>
              <a:rPr lang="en-US" sz="1000" dirty="0">
                <a:solidFill>
                  <a:srgbClr val="7A8794"/>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0040"/>
            <a:ext cx="8046720" cy="384048"/>
          </a:xfrm>
          <a:prstGeom prst="rect">
            <a:avLst/>
          </a:prstGeom>
          <a:noFill/>
          <a:ln/>
        </p:spPr>
        <p:txBody>
          <a:bodyPr wrap="square" lIns="0" tIns="0" rIns="0" bIns="0" rtlCol="0" anchor="ctr"/>
          <a:lstStyle/>
          <a:p>
            <a:pPr indent="0" marL="0">
              <a:buNone/>
            </a:pPr>
            <a:r>
              <a:rPr lang="en-US" sz="2800" b="1" dirty="0">
                <a:solidFill>
                  <a:srgbClr val="19212B"/>
                </a:solidFill>
                <a:latin typeface="Aptos Display" pitchFamily="34" charset="0"/>
                <a:ea typeface="Aptos Display" pitchFamily="34" charset="-122"/>
                <a:cs typeface="Aptos Display" pitchFamily="34" charset="-120"/>
              </a:rPr>
              <a:t>Wireframe 03 — Architecture compare</a:t>
            </a:r>
            <a:endParaRPr lang="en-US" sz="2800" dirty="0"/>
          </a:p>
        </p:txBody>
      </p:sp>
      <p:sp>
        <p:nvSpPr>
          <p:cNvPr id="3" name="Text 1"/>
          <p:cNvSpPr/>
          <p:nvPr/>
        </p:nvSpPr>
        <p:spPr>
          <a:xfrm>
            <a:off x="594360" y="749808"/>
            <a:ext cx="9692640" cy="310896"/>
          </a:xfrm>
          <a:prstGeom prst="rect">
            <a:avLst/>
          </a:prstGeom>
          <a:noFill/>
          <a:ln/>
        </p:spPr>
        <p:txBody>
          <a:bodyPr wrap="square" lIns="0" tIns="0" rIns="0" bIns="0" rtlCol="0" anchor="ctr"/>
          <a:lstStyle/>
          <a:p>
            <a:pPr indent="0" marL="0">
              <a:buNone/>
            </a:pPr>
            <a:r>
              <a:rPr lang="en-US" sz="1250" dirty="0">
                <a:solidFill>
                  <a:srgbClr val="5D6B7B"/>
                </a:solidFill>
              </a:rPr>
              <a:t>Comparing candidates is a core product behavior. The UX should make tradeoffs visible: safety, quality, maintainability, latency, cost, and governance readiness.</a:t>
            </a:r>
            <a:endParaRPr lang="en-US" sz="1250" dirty="0"/>
          </a:p>
        </p:txBody>
      </p:sp>
      <p:sp>
        <p:nvSpPr>
          <p:cNvPr id="4" name="Shape 2"/>
          <p:cNvSpPr/>
          <p:nvPr/>
        </p:nvSpPr>
        <p:spPr>
          <a:xfrm>
            <a:off x="640080" y="1298448"/>
            <a:ext cx="10972800" cy="5074920"/>
          </a:xfrm>
          <a:prstGeom prst="roundRect">
            <a:avLst>
              <a:gd name="adj" fmla="val 2162"/>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5" name="Text 3"/>
          <p:cNvSpPr/>
          <p:nvPr/>
        </p:nvSpPr>
        <p:spPr>
          <a:xfrm>
            <a:off x="804672" y="1408176"/>
            <a:ext cx="10643616" cy="182880"/>
          </a:xfrm>
          <a:prstGeom prst="rect">
            <a:avLst/>
          </a:prstGeom>
          <a:noFill/>
          <a:ln/>
        </p:spPr>
        <p:txBody>
          <a:bodyPr wrap="square" lIns="0" tIns="0" rIns="0" bIns="0" rtlCol="0" anchor="ctr"/>
          <a:lstStyle/>
          <a:p>
            <a:pPr indent="0" marL="0">
              <a:buNone/>
            </a:pPr>
            <a:r>
              <a:rPr lang="en-US" sz="1200" b="1" dirty="0">
                <a:solidFill>
                  <a:srgbClr val="19212B"/>
                </a:solidFill>
              </a:rPr>
              <a:t>Candidate comparison</a:t>
            </a:r>
            <a:endParaRPr lang="en-US" sz="1200" dirty="0"/>
          </a:p>
        </p:txBody>
      </p:sp>
      <p:sp>
        <p:nvSpPr>
          <p:cNvPr id="6" name="Shape 4"/>
          <p:cNvSpPr/>
          <p:nvPr/>
        </p:nvSpPr>
        <p:spPr>
          <a:xfrm>
            <a:off x="841248" y="1618488"/>
            <a:ext cx="1783080" cy="256032"/>
          </a:xfrm>
          <a:prstGeom prst="roundRect">
            <a:avLst>
              <a:gd name="adj" fmla="val 28571"/>
            </a:avLst>
          </a:prstGeom>
          <a:solidFill>
            <a:srgbClr val="EAF1FF"/>
          </a:solidFill>
          <a:ln w="12700">
            <a:solidFill>
              <a:srgbClr val="EAF1FF">
                <a:alpha val="0"/>
              </a:srgbClr>
            </a:solidFill>
            <a:prstDash val="solid"/>
          </a:ln>
        </p:spPr>
      </p:sp>
      <p:sp>
        <p:nvSpPr>
          <p:cNvPr id="7" name="Text 5"/>
          <p:cNvSpPr/>
          <p:nvPr/>
        </p:nvSpPr>
        <p:spPr>
          <a:xfrm>
            <a:off x="932688" y="1664208"/>
            <a:ext cx="1600200" cy="146304"/>
          </a:xfrm>
          <a:prstGeom prst="rect">
            <a:avLst/>
          </a:prstGeom>
          <a:noFill/>
          <a:ln/>
        </p:spPr>
        <p:txBody>
          <a:bodyPr wrap="square" lIns="0" tIns="0" rIns="0" bIns="0" rtlCol="0" anchor="ctr"/>
          <a:lstStyle/>
          <a:p>
            <a:pPr algn="ctr" indent="0" marL="0">
              <a:buNone/>
            </a:pPr>
            <a:r>
              <a:rPr lang="en-US" sz="1000" b="1" dirty="0">
                <a:solidFill>
                  <a:srgbClr val="2F6BFF"/>
                </a:solidFill>
              </a:rPr>
              <a:t>Recommended: Candidate B</a:t>
            </a:r>
            <a:endParaRPr lang="en-US" sz="1000" dirty="0"/>
          </a:p>
        </p:txBody>
      </p:sp>
      <p:sp>
        <p:nvSpPr>
          <p:cNvPr id="8" name="Shape 6"/>
          <p:cNvSpPr/>
          <p:nvPr/>
        </p:nvSpPr>
        <p:spPr>
          <a:xfrm>
            <a:off x="914400" y="1920240"/>
            <a:ext cx="2423160" cy="3108960"/>
          </a:xfrm>
          <a:prstGeom prst="roundRect">
            <a:avLst>
              <a:gd name="adj" fmla="val 4528"/>
            </a:avLst>
          </a:prstGeom>
          <a:solidFill>
            <a:srgbClr val="FCFDFE"/>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9" name="Text 7"/>
          <p:cNvSpPr/>
          <p:nvPr/>
        </p:nvSpPr>
        <p:spPr>
          <a:xfrm>
            <a:off x="1078992" y="2029968"/>
            <a:ext cx="2093976" cy="182880"/>
          </a:xfrm>
          <a:prstGeom prst="rect">
            <a:avLst/>
          </a:prstGeom>
          <a:noFill/>
          <a:ln/>
        </p:spPr>
        <p:txBody>
          <a:bodyPr wrap="square" lIns="0" tIns="0" rIns="0" bIns="0" rtlCol="0" anchor="ctr"/>
          <a:lstStyle/>
          <a:p>
            <a:pPr indent="0" marL="0">
              <a:buNone/>
            </a:pPr>
            <a:r>
              <a:rPr lang="en-US" sz="1200" b="1" dirty="0">
                <a:solidFill>
                  <a:srgbClr val="19212B"/>
                </a:solidFill>
              </a:rPr>
              <a:t>Candidate A</a:t>
            </a:r>
            <a:endParaRPr lang="en-US" sz="1200" dirty="0"/>
          </a:p>
        </p:txBody>
      </p:sp>
      <p:sp>
        <p:nvSpPr>
          <p:cNvPr id="10" name="Shape 8"/>
          <p:cNvSpPr/>
          <p:nvPr/>
        </p:nvSpPr>
        <p:spPr>
          <a:xfrm>
            <a:off x="2542032" y="2194560"/>
            <a:ext cx="640080" cy="256032"/>
          </a:xfrm>
          <a:prstGeom prst="roundRect">
            <a:avLst>
              <a:gd name="adj" fmla="val 28571"/>
            </a:avLst>
          </a:prstGeom>
          <a:solidFill>
            <a:srgbClr val="EEF2F7"/>
          </a:solidFill>
          <a:ln w="12700">
            <a:solidFill>
              <a:srgbClr val="EEF2F7">
                <a:alpha val="0"/>
              </a:srgbClr>
            </a:solidFill>
            <a:prstDash val="solid"/>
          </a:ln>
        </p:spPr>
      </p:sp>
      <p:sp>
        <p:nvSpPr>
          <p:cNvPr id="11" name="Text 9"/>
          <p:cNvSpPr/>
          <p:nvPr/>
        </p:nvSpPr>
        <p:spPr>
          <a:xfrm>
            <a:off x="2633472" y="2240280"/>
            <a:ext cx="457200" cy="146304"/>
          </a:xfrm>
          <a:prstGeom prst="rect">
            <a:avLst/>
          </a:prstGeom>
          <a:noFill/>
          <a:ln/>
        </p:spPr>
        <p:txBody>
          <a:bodyPr wrap="square" lIns="0" tIns="0" rIns="0" bIns="0" rtlCol="0" anchor="ctr"/>
          <a:lstStyle/>
          <a:p>
            <a:pPr algn="ctr" indent="0" marL="0">
              <a:buNone/>
            </a:pPr>
            <a:r>
              <a:rPr lang="en-US" sz="1000" b="1" dirty="0">
                <a:solidFill>
                  <a:srgbClr val="5D6B7B"/>
                </a:solidFill>
              </a:rPr>
              <a:t>74 /100</a:t>
            </a:r>
            <a:endParaRPr lang="en-US" sz="1000" dirty="0"/>
          </a:p>
        </p:txBody>
      </p:sp>
      <p:sp>
        <p:nvSpPr>
          <p:cNvPr id="12" name="Shape 10"/>
          <p:cNvSpPr/>
          <p:nvPr/>
        </p:nvSpPr>
        <p:spPr>
          <a:xfrm>
            <a:off x="1078992" y="2542032"/>
            <a:ext cx="2084832" cy="676656"/>
          </a:xfrm>
          <a:prstGeom prst="roundRect">
            <a:avLst>
              <a:gd name="adj" fmla="val 10811"/>
            </a:avLst>
          </a:prstGeom>
          <a:solidFill>
            <a:srgbClr val="F3F5F8"/>
          </a:solidFill>
          <a:ln w="12700">
            <a:solidFill>
              <a:srgbClr val="D7DEE7"/>
            </a:solidFill>
            <a:prstDash val="solid"/>
          </a:ln>
        </p:spPr>
      </p:sp>
      <p:sp>
        <p:nvSpPr>
          <p:cNvPr id="13" name="Shape 11"/>
          <p:cNvSpPr/>
          <p:nvPr/>
        </p:nvSpPr>
        <p:spPr>
          <a:xfrm>
            <a:off x="1078992" y="2542032"/>
            <a:ext cx="2084832" cy="219456"/>
          </a:xfrm>
          <a:prstGeom prst="rect">
            <a:avLst/>
          </a:prstGeom>
          <a:solidFill>
            <a:srgbClr val="EEF2F7"/>
          </a:solidFill>
          <a:ln w="12700">
            <a:solidFill>
              <a:srgbClr val="D7DEE7"/>
            </a:solidFill>
            <a:prstDash val="solid"/>
          </a:ln>
        </p:spPr>
      </p:sp>
      <p:sp>
        <p:nvSpPr>
          <p:cNvPr id="14" name="Text 12"/>
          <p:cNvSpPr/>
          <p:nvPr/>
        </p:nvSpPr>
        <p:spPr>
          <a:xfrm>
            <a:off x="1188720" y="2596896"/>
            <a:ext cx="1865376" cy="91440"/>
          </a:xfrm>
          <a:prstGeom prst="rect">
            <a:avLst/>
          </a:prstGeom>
          <a:noFill/>
          <a:ln/>
        </p:spPr>
        <p:txBody>
          <a:bodyPr wrap="square" lIns="0" tIns="0" rIns="0" bIns="0" rtlCol="0" anchor="ctr"/>
          <a:lstStyle/>
          <a:p>
            <a:pPr indent="0" marL="0">
              <a:buNone/>
            </a:pPr>
            <a:r>
              <a:rPr lang="en-US" sz="920" b="1" dirty="0">
                <a:solidFill>
                  <a:srgbClr val="19212B"/>
                </a:solidFill>
              </a:rPr>
              <a:t>Structure</a:t>
            </a:r>
            <a:endParaRPr lang="en-US" sz="920" dirty="0"/>
          </a:p>
        </p:txBody>
      </p:sp>
      <p:sp>
        <p:nvSpPr>
          <p:cNvPr id="15" name="Text 13"/>
          <p:cNvSpPr/>
          <p:nvPr/>
        </p:nvSpPr>
        <p:spPr>
          <a:xfrm>
            <a:off x="1188720" y="2807208"/>
            <a:ext cx="1865376" cy="146304"/>
          </a:xfrm>
          <a:prstGeom prst="rect">
            <a:avLst/>
          </a:prstGeom>
          <a:noFill/>
          <a:ln/>
        </p:spPr>
        <p:txBody>
          <a:bodyPr wrap="square" lIns="0" tIns="0" rIns="0" bIns="0" rtlCol="0" anchor="ctr"/>
          <a:lstStyle/>
          <a:p>
            <a:pPr algn="ctr" indent="0" marL="0">
              <a:buNone/>
            </a:pPr>
            <a:r>
              <a:rPr lang="en-US" sz="1000" dirty="0">
                <a:solidFill>
                  <a:srgbClr val="5D6B7B"/>
                </a:solidFill>
              </a:rPr>
              <a:t>Architecture summary</a:t>
            </a:r>
            <a:endParaRPr lang="en-US" sz="1000" dirty="0"/>
          </a:p>
        </p:txBody>
      </p:sp>
      <p:sp>
        <p:nvSpPr>
          <p:cNvPr id="16" name="Shape 14"/>
          <p:cNvSpPr/>
          <p:nvPr/>
        </p:nvSpPr>
        <p:spPr>
          <a:xfrm>
            <a:off x="1078992" y="3328416"/>
            <a:ext cx="2084832" cy="786384"/>
          </a:xfrm>
          <a:prstGeom prst="roundRect">
            <a:avLst>
              <a:gd name="adj" fmla="val 9302"/>
            </a:avLst>
          </a:prstGeom>
          <a:solidFill>
            <a:srgbClr val="F3F5F8"/>
          </a:solidFill>
          <a:ln w="12700">
            <a:solidFill>
              <a:srgbClr val="D7DEE7"/>
            </a:solidFill>
            <a:prstDash val="solid"/>
          </a:ln>
        </p:spPr>
      </p:sp>
      <p:sp>
        <p:nvSpPr>
          <p:cNvPr id="17" name="Shape 15"/>
          <p:cNvSpPr/>
          <p:nvPr/>
        </p:nvSpPr>
        <p:spPr>
          <a:xfrm>
            <a:off x="1078992" y="3328416"/>
            <a:ext cx="2084832" cy="219456"/>
          </a:xfrm>
          <a:prstGeom prst="rect">
            <a:avLst/>
          </a:prstGeom>
          <a:solidFill>
            <a:srgbClr val="EEF2F7"/>
          </a:solidFill>
          <a:ln w="12700">
            <a:solidFill>
              <a:srgbClr val="D7DEE7"/>
            </a:solidFill>
            <a:prstDash val="solid"/>
          </a:ln>
        </p:spPr>
      </p:sp>
      <p:sp>
        <p:nvSpPr>
          <p:cNvPr id="18" name="Text 16"/>
          <p:cNvSpPr/>
          <p:nvPr/>
        </p:nvSpPr>
        <p:spPr>
          <a:xfrm>
            <a:off x="1188720" y="3383280"/>
            <a:ext cx="1865376" cy="91440"/>
          </a:xfrm>
          <a:prstGeom prst="rect">
            <a:avLst/>
          </a:prstGeom>
          <a:noFill/>
          <a:ln/>
        </p:spPr>
        <p:txBody>
          <a:bodyPr wrap="square" lIns="0" tIns="0" rIns="0" bIns="0" rtlCol="0" anchor="ctr"/>
          <a:lstStyle/>
          <a:p>
            <a:pPr indent="0" marL="0">
              <a:buNone/>
            </a:pPr>
            <a:r>
              <a:rPr lang="en-US" sz="920" b="1" dirty="0">
                <a:solidFill>
                  <a:srgbClr val="19212B"/>
                </a:solidFill>
              </a:rPr>
              <a:t>Scores</a:t>
            </a:r>
            <a:endParaRPr lang="en-US" sz="920" dirty="0"/>
          </a:p>
        </p:txBody>
      </p:sp>
      <p:sp>
        <p:nvSpPr>
          <p:cNvPr id="19" name="Text 17"/>
          <p:cNvSpPr/>
          <p:nvPr/>
        </p:nvSpPr>
        <p:spPr>
          <a:xfrm>
            <a:off x="1188720" y="3648456"/>
            <a:ext cx="1865376" cy="146304"/>
          </a:xfrm>
          <a:prstGeom prst="rect">
            <a:avLst/>
          </a:prstGeom>
          <a:noFill/>
          <a:ln/>
        </p:spPr>
        <p:txBody>
          <a:bodyPr wrap="square" lIns="0" tIns="0" rIns="0" bIns="0" rtlCol="0" anchor="ctr"/>
          <a:lstStyle/>
          <a:p>
            <a:pPr algn="ctr" indent="0" marL="0">
              <a:buNone/>
            </a:pPr>
            <a:r>
              <a:rPr lang="en-US" sz="1000" dirty="0">
                <a:solidFill>
                  <a:srgbClr val="5D6B7B"/>
                </a:solidFill>
              </a:rPr>
              <a:t>Safety • Cost • Latency • Quality</a:t>
            </a:r>
            <a:endParaRPr lang="en-US" sz="1000" dirty="0"/>
          </a:p>
        </p:txBody>
      </p:sp>
      <p:sp>
        <p:nvSpPr>
          <p:cNvPr id="20" name="Shape 18"/>
          <p:cNvSpPr/>
          <p:nvPr/>
        </p:nvSpPr>
        <p:spPr>
          <a:xfrm>
            <a:off x="1078992" y="4224528"/>
            <a:ext cx="2084832" cy="512064"/>
          </a:xfrm>
          <a:prstGeom prst="roundRect">
            <a:avLst>
              <a:gd name="adj" fmla="val 14286"/>
            </a:avLst>
          </a:prstGeom>
          <a:solidFill>
            <a:srgbClr val="F3F5F8"/>
          </a:solidFill>
          <a:ln w="12700">
            <a:solidFill>
              <a:srgbClr val="D7DEE7"/>
            </a:solidFill>
            <a:prstDash val="solid"/>
          </a:ln>
        </p:spPr>
      </p:sp>
      <p:sp>
        <p:nvSpPr>
          <p:cNvPr id="21" name="Shape 19"/>
          <p:cNvSpPr/>
          <p:nvPr/>
        </p:nvSpPr>
        <p:spPr>
          <a:xfrm>
            <a:off x="1078992" y="4224528"/>
            <a:ext cx="2084832" cy="219456"/>
          </a:xfrm>
          <a:prstGeom prst="rect">
            <a:avLst/>
          </a:prstGeom>
          <a:solidFill>
            <a:srgbClr val="EEF2F7"/>
          </a:solidFill>
          <a:ln w="12700">
            <a:solidFill>
              <a:srgbClr val="D7DEE7"/>
            </a:solidFill>
            <a:prstDash val="solid"/>
          </a:ln>
        </p:spPr>
      </p:sp>
      <p:sp>
        <p:nvSpPr>
          <p:cNvPr id="22" name="Text 20"/>
          <p:cNvSpPr/>
          <p:nvPr/>
        </p:nvSpPr>
        <p:spPr>
          <a:xfrm>
            <a:off x="1188720" y="4279392"/>
            <a:ext cx="1865376" cy="91440"/>
          </a:xfrm>
          <a:prstGeom prst="rect">
            <a:avLst/>
          </a:prstGeom>
          <a:noFill/>
          <a:ln/>
        </p:spPr>
        <p:txBody>
          <a:bodyPr wrap="square" lIns="0" tIns="0" rIns="0" bIns="0" rtlCol="0" anchor="ctr"/>
          <a:lstStyle/>
          <a:p>
            <a:pPr indent="0" marL="0">
              <a:buNone/>
            </a:pPr>
            <a:r>
              <a:rPr lang="en-US" sz="920" b="1" dirty="0">
                <a:solidFill>
                  <a:srgbClr val="19212B"/>
                </a:solidFill>
              </a:rPr>
              <a:t>Decision notes</a:t>
            </a:r>
            <a:endParaRPr lang="en-US" sz="920" dirty="0"/>
          </a:p>
        </p:txBody>
      </p:sp>
      <p:sp>
        <p:nvSpPr>
          <p:cNvPr id="23" name="Text 21"/>
          <p:cNvSpPr/>
          <p:nvPr/>
        </p:nvSpPr>
        <p:spPr>
          <a:xfrm>
            <a:off x="1188720" y="4407408"/>
            <a:ext cx="1865376" cy="146304"/>
          </a:xfrm>
          <a:prstGeom prst="rect">
            <a:avLst/>
          </a:prstGeom>
          <a:noFill/>
          <a:ln/>
        </p:spPr>
        <p:txBody>
          <a:bodyPr wrap="square" lIns="0" tIns="0" rIns="0" bIns="0" rtlCol="0" anchor="ctr"/>
          <a:lstStyle/>
          <a:p>
            <a:pPr algn="ctr" indent="0" marL="0">
              <a:buNone/>
            </a:pPr>
            <a:r>
              <a:rPr lang="en-US" sz="1000" dirty="0">
                <a:solidFill>
                  <a:srgbClr val="5D6B7B"/>
                </a:solidFill>
              </a:rPr>
              <a:t>Key risks + assumptions</a:t>
            </a:r>
            <a:endParaRPr lang="en-US" sz="1000" dirty="0"/>
          </a:p>
        </p:txBody>
      </p:sp>
      <p:sp>
        <p:nvSpPr>
          <p:cNvPr id="24" name="Shape 22"/>
          <p:cNvSpPr/>
          <p:nvPr/>
        </p:nvSpPr>
        <p:spPr>
          <a:xfrm>
            <a:off x="3794760" y="1920240"/>
            <a:ext cx="2423160" cy="3108960"/>
          </a:xfrm>
          <a:prstGeom prst="roundRect">
            <a:avLst>
              <a:gd name="adj" fmla="val 4528"/>
            </a:avLst>
          </a:prstGeom>
          <a:solidFill>
            <a:srgbClr val="FCFDFE"/>
          </a:solidFill>
          <a:ln w="12700">
            <a:solidFill>
              <a:srgbClr val="2F6BFF"/>
            </a:solidFill>
            <a:prstDash val="solid"/>
          </a:ln>
          <a:effectLst>
            <a:outerShdw sx="100000" sy="100000" kx="0" ky="0" algn="bl" rotWithShape="0" blurRad="12700" dist="6350" dir="2700000">
              <a:srgbClr val="000000">
                <a:alpha val="8000"/>
              </a:srgbClr>
            </a:outerShdw>
          </a:effectLst>
        </p:spPr>
      </p:sp>
      <p:sp>
        <p:nvSpPr>
          <p:cNvPr id="25" name="Text 23"/>
          <p:cNvSpPr/>
          <p:nvPr/>
        </p:nvSpPr>
        <p:spPr>
          <a:xfrm>
            <a:off x="3959352" y="2029968"/>
            <a:ext cx="2093976" cy="182880"/>
          </a:xfrm>
          <a:prstGeom prst="rect">
            <a:avLst/>
          </a:prstGeom>
          <a:noFill/>
          <a:ln/>
        </p:spPr>
        <p:txBody>
          <a:bodyPr wrap="square" lIns="0" tIns="0" rIns="0" bIns="0" rtlCol="0" anchor="ctr"/>
          <a:lstStyle/>
          <a:p>
            <a:pPr indent="0" marL="0">
              <a:buNone/>
            </a:pPr>
            <a:r>
              <a:rPr lang="en-US" sz="1200" b="1" dirty="0">
                <a:solidFill>
                  <a:srgbClr val="2F6BFF"/>
                </a:solidFill>
              </a:rPr>
              <a:t>Candidate B</a:t>
            </a:r>
            <a:endParaRPr lang="en-US" sz="1200" dirty="0"/>
          </a:p>
        </p:txBody>
      </p:sp>
      <p:sp>
        <p:nvSpPr>
          <p:cNvPr id="26" name="Shape 24"/>
          <p:cNvSpPr/>
          <p:nvPr/>
        </p:nvSpPr>
        <p:spPr>
          <a:xfrm>
            <a:off x="5422392" y="2194560"/>
            <a:ext cx="640080" cy="256032"/>
          </a:xfrm>
          <a:prstGeom prst="roundRect">
            <a:avLst>
              <a:gd name="adj" fmla="val 28571"/>
            </a:avLst>
          </a:prstGeom>
          <a:solidFill>
            <a:srgbClr val="EAF7F0"/>
          </a:solidFill>
          <a:ln w="12700">
            <a:solidFill>
              <a:srgbClr val="EAF7F0">
                <a:alpha val="0"/>
              </a:srgbClr>
            </a:solidFill>
            <a:prstDash val="solid"/>
          </a:ln>
        </p:spPr>
      </p:sp>
      <p:sp>
        <p:nvSpPr>
          <p:cNvPr id="27" name="Text 25"/>
          <p:cNvSpPr/>
          <p:nvPr/>
        </p:nvSpPr>
        <p:spPr>
          <a:xfrm>
            <a:off x="5513832" y="2240280"/>
            <a:ext cx="457200" cy="146304"/>
          </a:xfrm>
          <a:prstGeom prst="rect">
            <a:avLst/>
          </a:prstGeom>
          <a:noFill/>
          <a:ln/>
        </p:spPr>
        <p:txBody>
          <a:bodyPr wrap="square" lIns="0" tIns="0" rIns="0" bIns="0" rtlCol="0" anchor="ctr"/>
          <a:lstStyle/>
          <a:p>
            <a:pPr algn="ctr" indent="0" marL="0">
              <a:buNone/>
            </a:pPr>
            <a:r>
              <a:rPr lang="en-US" sz="1000" b="1" dirty="0">
                <a:solidFill>
                  <a:srgbClr val="1F9D6C"/>
                </a:solidFill>
              </a:rPr>
              <a:t>88 /100</a:t>
            </a:r>
            <a:endParaRPr lang="en-US" sz="1000" dirty="0"/>
          </a:p>
        </p:txBody>
      </p:sp>
      <p:sp>
        <p:nvSpPr>
          <p:cNvPr id="28" name="Shape 26"/>
          <p:cNvSpPr/>
          <p:nvPr/>
        </p:nvSpPr>
        <p:spPr>
          <a:xfrm>
            <a:off x="3959352" y="2542032"/>
            <a:ext cx="2084832" cy="676656"/>
          </a:xfrm>
          <a:prstGeom prst="roundRect">
            <a:avLst>
              <a:gd name="adj" fmla="val 10811"/>
            </a:avLst>
          </a:prstGeom>
          <a:solidFill>
            <a:srgbClr val="F3F5F8"/>
          </a:solidFill>
          <a:ln w="12700">
            <a:solidFill>
              <a:srgbClr val="D7DEE7"/>
            </a:solidFill>
            <a:prstDash val="solid"/>
          </a:ln>
        </p:spPr>
      </p:sp>
      <p:sp>
        <p:nvSpPr>
          <p:cNvPr id="29" name="Shape 27"/>
          <p:cNvSpPr/>
          <p:nvPr/>
        </p:nvSpPr>
        <p:spPr>
          <a:xfrm>
            <a:off x="3959352" y="2542032"/>
            <a:ext cx="2084832" cy="219456"/>
          </a:xfrm>
          <a:prstGeom prst="rect">
            <a:avLst/>
          </a:prstGeom>
          <a:solidFill>
            <a:srgbClr val="EEF2F7"/>
          </a:solidFill>
          <a:ln w="12700">
            <a:solidFill>
              <a:srgbClr val="D7DEE7"/>
            </a:solidFill>
            <a:prstDash val="solid"/>
          </a:ln>
        </p:spPr>
      </p:sp>
      <p:sp>
        <p:nvSpPr>
          <p:cNvPr id="30" name="Text 28"/>
          <p:cNvSpPr/>
          <p:nvPr/>
        </p:nvSpPr>
        <p:spPr>
          <a:xfrm>
            <a:off x="4069080" y="2596896"/>
            <a:ext cx="1865376" cy="91440"/>
          </a:xfrm>
          <a:prstGeom prst="rect">
            <a:avLst/>
          </a:prstGeom>
          <a:noFill/>
          <a:ln/>
        </p:spPr>
        <p:txBody>
          <a:bodyPr wrap="square" lIns="0" tIns="0" rIns="0" bIns="0" rtlCol="0" anchor="ctr"/>
          <a:lstStyle/>
          <a:p>
            <a:pPr indent="0" marL="0">
              <a:buNone/>
            </a:pPr>
            <a:r>
              <a:rPr lang="en-US" sz="920" b="1" dirty="0">
                <a:solidFill>
                  <a:srgbClr val="19212B"/>
                </a:solidFill>
              </a:rPr>
              <a:t>Structure</a:t>
            </a:r>
            <a:endParaRPr lang="en-US" sz="920" dirty="0"/>
          </a:p>
        </p:txBody>
      </p:sp>
      <p:sp>
        <p:nvSpPr>
          <p:cNvPr id="31" name="Text 29"/>
          <p:cNvSpPr/>
          <p:nvPr/>
        </p:nvSpPr>
        <p:spPr>
          <a:xfrm>
            <a:off x="4069080" y="2807208"/>
            <a:ext cx="1865376" cy="146304"/>
          </a:xfrm>
          <a:prstGeom prst="rect">
            <a:avLst/>
          </a:prstGeom>
          <a:noFill/>
          <a:ln/>
        </p:spPr>
        <p:txBody>
          <a:bodyPr wrap="square" lIns="0" tIns="0" rIns="0" bIns="0" rtlCol="0" anchor="ctr"/>
          <a:lstStyle/>
          <a:p>
            <a:pPr algn="ctr" indent="0" marL="0">
              <a:buNone/>
            </a:pPr>
            <a:r>
              <a:rPr lang="en-US" sz="1000" dirty="0">
                <a:solidFill>
                  <a:srgbClr val="5D6B7B"/>
                </a:solidFill>
              </a:rPr>
              <a:t>Architecture summary</a:t>
            </a:r>
            <a:endParaRPr lang="en-US" sz="1000" dirty="0"/>
          </a:p>
        </p:txBody>
      </p:sp>
      <p:sp>
        <p:nvSpPr>
          <p:cNvPr id="32" name="Shape 30"/>
          <p:cNvSpPr/>
          <p:nvPr/>
        </p:nvSpPr>
        <p:spPr>
          <a:xfrm>
            <a:off x="3959352" y="3328416"/>
            <a:ext cx="2084832" cy="786384"/>
          </a:xfrm>
          <a:prstGeom prst="roundRect">
            <a:avLst>
              <a:gd name="adj" fmla="val 9302"/>
            </a:avLst>
          </a:prstGeom>
          <a:solidFill>
            <a:srgbClr val="F3F5F8"/>
          </a:solidFill>
          <a:ln w="12700">
            <a:solidFill>
              <a:srgbClr val="D7DEE7"/>
            </a:solidFill>
            <a:prstDash val="solid"/>
          </a:ln>
        </p:spPr>
      </p:sp>
      <p:sp>
        <p:nvSpPr>
          <p:cNvPr id="33" name="Shape 31"/>
          <p:cNvSpPr/>
          <p:nvPr/>
        </p:nvSpPr>
        <p:spPr>
          <a:xfrm>
            <a:off x="3959352" y="3328416"/>
            <a:ext cx="2084832" cy="219456"/>
          </a:xfrm>
          <a:prstGeom prst="rect">
            <a:avLst/>
          </a:prstGeom>
          <a:solidFill>
            <a:srgbClr val="EEF2F7"/>
          </a:solidFill>
          <a:ln w="12700">
            <a:solidFill>
              <a:srgbClr val="D7DEE7"/>
            </a:solidFill>
            <a:prstDash val="solid"/>
          </a:ln>
        </p:spPr>
      </p:sp>
      <p:sp>
        <p:nvSpPr>
          <p:cNvPr id="34" name="Text 32"/>
          <p:cNvSpPr/>
          <p:nvPr/>
        </p:nvSpPr>
        <p:spPr>
          <a:xfrm>
            <a:off x="4069080" y="3383280"/>
            <a:ext cx="1865376" cy="91440"/>
          </a:xfrm>
          <a:prstGeom prst="rect">
            <a:avLst/>
          </a:prstGeom>
          <a:noFill/>
          <a:ln/>
        </p:spPr>
        <p:txBody>
          <a:bodyPr wrap="square" lIns="0" tIns="0" rIns="0" bIns="0" rtlCol="0" anchor="ctr"/>
          <a:lstStyle/>
          <a:p>
            <a:pPr indent="0" marL="0">
              <a:buNone/>
            </a:pPr>
            <a:r>
              <a:rPr lang="en-US" sz="920" b="1" dirty="0">
                <a:solidFill>
                  <a:srgbClr val="19212B"/>
                </a:solidFill>
              </a:rPr>
              <a:t>Scores</a:t>
            </a:r>
            <a:endParaRPr lang="en-US" sz="920" dirty="0"/>
          </a:p>
        </p:txBody>
      </p:sp>
      <p:sp>
        <p:nvSpPr>
          <p:cNvPr id="35" name="Text 33"/>
          <p:cNvSpPr/>
          <p:nvPr/>
        </p:nvSpPr>
        <p:spPr>
          <a:xfrm>
            <a:off x="4069080" y="3648456"/>
            <a:ext cx="1865376" cy="146304"/>
          </a:xfrm>
          <a:prstGeom prst="rect">
            <a:avLst/>
          </a:prstGeom>
          <a:noFill/>
          <a:ln/>
        </p:spPr>
        <p:txBody>
          <a:bodyPr wrap="square" lIns="0" tIns="0" rIns="0" bIns="0" rtlCol="0" anchor="ctr"/>
          <a:lstStyle/>
          <a:p>
            <a:pPr algn="ctr" indent="0" marL="0">
              <a:buNone/>
            </a:pPr>
            <a:r>
              <a:rPr lang="en-US" sz="1000" dirty="0">
                <a:solidFill>
                  <a:srgbClr val="5D6B7B"/>
                </a:solidFill>
              </a:rPr>
              <a:t>Safety • Cost • Latency • Quality</a:t>
            </a:r>
            <a:endParaRPr lang="en-US" sz="1000" dirty="0"/>
          </a:p>
        </p:txBody>
      </p:sp>
      <p:sp>
        <p:nvSpPr>
          <p:cNvPr id="36" name="Shape 34"/>
          <p:cNvSpPr/>
          <p:nvPr/>
        </p:nvSpPr>
        <p:spPr>
          <a:xfrm>
            <a:off x="3959352" y="4224528"/>
            <a:ext cx="2084832" cy="512064"/>
          </a:xfrm>
          <a:prstGeom prst="roundRect">
            <a:avLst>
              <a:gd name="adj" fmla="val 14286"/>
            </a:avLst>
          </a:prstGeom>
          <a:solidFill>
            <a:srgbClr val="F3F5F8"/>
          </a:solidFill>
          <a:ln w="12700">
            <a:solidFill>
              <a:srgbClr val="D7DEE7"/>
            </a:solidFill>
            <a:prstDash val="solid"/>
          </a:ln>
        </p:spPr>
      </p:sp>
      <p:sp>
        <p:nvSpPr>
          <p:cNvPr id="37" name="Shape 35"/>
          <p:cNvSpPr/>
          <p:nvPr/>
        </p:nvSpPr>
        <p:spPr>
          <a:xfrm>
            <a:off x="3959352" y="4224528"/>
            <a:ext cx="2084832" cy="219456"/>
          </a:xfrm>
          <a:prstGeom prst="rect">
            <a:avLst/>
          </a:prstGeom>
          <a:solidFill>
            <a:srgbClr val="EEF2F7"/>
          </a:solidFill>
          <a:ln w="12700">
            <a:solidFill>
              <a:srgbClr val="D7DEE7"/>
            </a:solidFill>
            <a:prstDash val="solid"/>
          </a:ln>
        </p:spPr>
      </p:sp>
      <p:sp>
        <p:nvSpPr>
          <p:cNvPr id="38" name="Text 36"/>
          <p:cNvSpPr/>
          <p:nvPr/>
        </p:nvSpPr>
        <p:spPr>
          <a:xfrm>
            <a:off x="4069080" y="4279392"/>
            <a:ext cx="1865376" cy="91440"/>
          </a:xfrm>
          <a:prstGeom prst="rect">
            <a:avLst/>
          </a:prstGeom>
          <a:noFill/>
          <a:ln/>
        </p:spPr>
        <p:txBody>
          <a:bodyPr wrap="square" lIns="0" tIns="0" rIns="0" bIns="0" rtlCol="0" anchor="ctr"/>
          <a:lstStyle/>
          <a:p>
            <a:pPr indent="0" marL="0">
              <a:buNone/>
            </a:pPr>
            <a:r>
              <a:rPr lang="en-US" sz="920" b="1" dirty="0">
                <a:solidFill>
                  <a:srgbClr val="19212B"/>
                </a:solidFill>
              </a:rPr>
              <a:t>Decision notes</a:t>
            </a:r>
            <a:endParaRPr lang="en-US" sz="920" dirty="0"/>
          </a:p>
        </p:txBody>
      </p:sp>
      <p:sp>
        <p:nvSpPr>
          <p:cNvPr id="39" name="Text 37"/>
          <p:cNvSpPr/>
          <p:nvPr/>
        </p:nvSpPr>
        <p:spPr>
          <a:xfrm>
            <a:off x="4069080" y="4407408"/>
            <a:ext cx="1865376" cy="146304"/>
          </a:xfrm>
          <a:prstGeom prst="rect">
            <a:avLst/>
          </a:prstGeom>
          <a:noFill/>
          <a:ln/>
        </p:spPr>
        <p:txBody>
          <a:bodyPr wrap="square" lIns="0" tIns="0" rIns="0" bIns="0" rtlCol="0" anchor="ctr"/>
          <a:lstStyle/>
          <a:p>
            <a:pPr algn="ctr" indent="0" marL="0">
              <a:buNone/>
            </a:pPr>
            <a:r>
              <a:rPr lang="en-US" sz="1000" dirty="0">
                <a:solidFill>
                  <a:srgbClr val="5D6B7B"/>
                </a:solidFill>
              </a:rPr>
              <a:t>Key risks + assumptions</a:t>
            </a:r>
            <a:endParaRPr lang="en-US" sz="1000" dirty="0"/>
          </a:p>
        </p:txBody>
      </p:sp>
      <p:sp>
        <p:nvSpPr>
          <p:cNvPr id="40" name="Shape 38"/>
          <p:cNvSpPr/>
          <p:nvPr/>
        </p:nvSpPr>
        <p:spPr>
          <a:xfrm>
            <a:off x="6675120" y="1920240"/>
            <a:ext cx="2423160" cy="3108960"/>
          </a:xfrm>
          <a:prstGeom prst="roundRect">
            <a:avLst>
              <a:gd name="adj" fmla="val 4528"/>
            </a:avLst>
          </a:prstGeom>
          <a:solidFill>
            <a:srgbClr val="FCFDFE"/>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41" name="Text 39"/>
          <p:cNvSpPr/>
          <p:nvPr/>
        </p:nvSpPr>
        <p:spPr>
          <a:xfrm>
            <a:off x="6839712" y="2029968"/>
            <a:ext cx="2093976" cy="182880"/>
          </a:xfrm>
          <a:prstGeom prst="rect">
            <a:avLst/>
          </a:prstGeom>
          <a:noFill/>
          <a:ln/>
        </p:spPr>
        <p:txBody>
          <a:bodyPr wrap="square" lIns="0" tIns="0" rIns="0" bIns="0" rtlCol="0" anchor="ctr"/>
          <a:lstStyle/>
          <a:p>
            <a:pPr indent="0" marL="0">
              <a:buNone/>
            </a:pPr>
            <a:r>
              <a:rPr lang="en-US" sz="1200" b="1" dirty="0">
                <a:solidFill>
                  <a:srgbClr val="19212B"/>
                </a:solidFill>
              </a:rPr>
              <a:t>Candidate C</a:t>
            </a:r>
            <a:endParaRPr lang="en-US" sz="1200" dirty="0"/>
          </a:p>
        </p:txBody>
      </p:sp>
      <p:sp>
        <p:nvSpPr>
          <p:cNvPr id="42" name="Shape 40"/>
          <p:cNvSpPr/>
          <p:nvPr/>
        </p:nvSpPr>
        <p:spPr>
          <a:xfrm>
            <a:off x="8302752" y="2194560"/>
            <a:ext cx="640080" cy="256032"/>
          </a:xfrm>
          <a:prstGeom prst="roundRect">
            <a:avLst>
              <a:gd name="adj" fmla="val 28571"/>
            </a:avLst>
          </a:prstGeom>
          <a:solidFill>
            <a:srgbClr val="EEF2F7"/>
          </a:solidFill>
          <a:ln w="12700">
            <a:solidFill>
              <a:srgbClr val="EEF2F7">
                <a:alpha val="0"/>
              </a:srgbClr>
            </a:solidFill>
            <a:prstDash val="solid"/>
          </a:ln>
        </p:spPr>
      </p:sp>
      <p:sp>
        <p:nvSpPr>
          <p:cNvPr id="43" name="Text 41"/>
          <p:cNvSpPr/>
          <p:nvPr/>
        </p:nvSpPr>
        <p:spPr>
          <a:xfrm>
            <a:off x="8394192" y="2240280"/>
            <a:ext cx="457200" cy="146304"/>
          </a:xfrm>
          <a:prstGeom prst="rect">
            <a:avLst/>
          </a:prstGeom>
          <a:noFill/>
          <a:ln/>
        </p:spPr>
        <p:txBody>
          <a:bodyPr wrap="square" lIns="0" tIns="0" rIns="0" bIns="0" rtlCol="0" anchor="ctr"/>
          <a:lstStyle/>
          <a:p>
            <a:pPr algn="ctr" indent="0" marL="0">
              <a:buNone/>
            </a:pPr>
            <a:r>
              <a:rPr lang="en-US" sz="1000" b="1" dirty="0">
                <a:solidFill>
                  <a:srgbClr val="5D6B7B"/>
                </a:solidFill>
              </a:rPr>
              <a:t>79 /100</a:t>
            </a:r>
            <a:endParaRPr lang="en-US" sz="1000" dirty="0"/>
          </a:p>
        </p:txBody>
      </p:sp>
      <p:sp>
        <p:nvSpPr>
          <p:cNvPr id="44" name="Shape 42"/>
          <p:cNvSpPr/>
          <p:nvPr/>
        </p:nvSpPr>
        <p:spPr>
          <a:xfrm>
            <a:off x="6839712" y="2542032"/>
            <a:ext cx="2084832" cy="676656"/>
          </a:xfrm>
          <a:prstGeom prst="roundRect">
            <a:avLst>
              <a:gd name="adj" fmla="val 10811"/>
            </a:avLst>
          </a:prstGeom>
          <a:solidFill>
            <a:srgbClr val="F3F5F8"/>
          </a:solidFill>
          <a:ln w="12700">
            <a:solidFill>
              <a:srgbClr val="D7DEE7"/>
            </a:solidFill>
            <a:prstDash val="solid"/>
          </a:ln>
        </p:spPr>
      </p:sp>
      <p:sp>
        <p:nvSpPr>
          <p:cNvPr id="45" name="Shape 43"/>
          <p:cNvSpPr/>
          <p:nvPr/>
        </p:nvSpPr>
        <p:spPr>
          <a:xfrm>
            <a:off x="6839712" y="2542032"/>
            <a:ext cx="2084832" cy="219456"/>
          </a:xfrm>
          <a:prstGeom prst="rect">
            <a:avLst/>
          </a:prstGeom>
          <a:solidFill>
            <a:srgbClr val="EEF2F7"/>
          </a:solidFill>
          <a:ln w="12700">
            <a:solidFill>
              <a:srgbClr val="D7DEE7"/>
            </a:solidFill>
            <a:prstDash val="solid"/>
          </a:ln>
        </p:spPr>
      </p:sp>
      <p:sp>
        <p:nvSpPr>
          <p:cNvPr id="46" name="Text 44"/>
          <p:cNvSpPr/>
          <p:nvPr/>
        </p:nvSpPr>
        <p:spPr>
          <a:xfrm>
            <a:off x="6949440" y="2596896"/>
            <a:ext cx="1865376" cy="91440"/>
          </a:xfrm>
          <a:prstGeom prst="rect">
            <a:avLst/>
          </a:prstGeom>
          <a:noFill/>
          <a:ln/>
        </p:spPr>
        <p:txBody>
          <a:bodyPr wrap="square" lIns="0" tIns="0" rIns="0" bIns="0" rtlCol="0" anchor="ctr"/>
          <a:lstStyle/>
          <a:p>
            <a:pPr indent="0" marL="0">
              <a:buNone/>
            </a:pPr>
            <a:r>
              <a:rPr lang="en-US" sz="920" b="1" dirty="0">
                <a:solidFill>
                  <a:srgbClr val="19212B"/>
                </a:solidFill>
              </a:rPr>
              <a:t>Structure</a:t>
            </a:r>
            <a:endParaRPr lang="en-US" sz="920" dirty="0"/>
          </a:p>
        </p:txBody>
      </p:sp>
      <p:sp>
        <p:nvSpPr>
          <p:cNvPr id="47" name="Text 45"/>
          <p:cNvSpPr/>
          <p:nvPr/>
        </p:nvSpPr>
        <p:spPr>
          <a:xfrm>
            <a:off x="6949440" y="2807208"/>
            <a:ext cx="1865376" cy="146304"/>
          </a:xfrm>
          <a:prstGeom prst="rect">
            <a:avLst/>
          </a:prstGeom>
          <a:noFill/>
          <a:ln/>
        </p:spPr>
        <p:txBody>
          <a:bodyPr wrap="square" lIns="0" tIns="0" rIns="0" bIns="0" rtlCol="0" anchor="ctr"/>
          <a:lstStyle/>
          <a:p>
            <a:pPr algn="ctr" indent="0" marL="0">
              <a:buNone/>
            </a:pPr>
            <a:r>
              <a:rPr lang="en-US" sz="1000" dirty="0">
                <a:solidFill>
                  <a:srgbClr val="5D6B7B"/>
                </a:solidFill>
              </a:rPr>
              <a:t>Architecture summary</a:t>
            </a:r>
            <a:endParaRPr lang="en-US" sz="1000" dirty="0"/>
          </a:p>
        </p:txBody>
      </p:sp>
      <p:sp>
        <p:nvSpPr>
          <p:cNvPr id="48" name="Shape 46"/>
          <p:cNvSpPr/>
          <p:nvPr/>
        </p:nvSpPr>
        <p:spPr>
          <a:xfrm>
            <a:off x="6839712" y="3328416"/>
            <a:ext cx="2084832" cy="786384"/>
          </a:xfrm>
          <a:prstGeom prst="roundRect">
            <a:avLst>
              <a:gd name="adj" fmla="val 9302"/>
            </a:avLst>
          </a:prstGeom>
          <a:solidFill>
            <a:srgbClr val="F3F5F8"/>
          </a:solidFill>
          <a:ln w="12700">
            <a:solidFill>
              <a:srgbClr val="D7DEE7"/>
            </a:solidFill>
            <a:prstDash val="solid"/>
          </a:ln>
        </p:spPr>
      </p:sp>
      <p:sp>
        <p:nvSpPr>
          <p:cNvPr id="49" name="Shape 47"/>
          <p:cNvSpPr/>
          <p:nvPr/>
        </p:nvSpPr>
        <p:spPr>
          <a:xfrm>
            <a:off x="6839712" y="3328416"/>
            <a:ext cx="2084832" cy="219456"/>
          </a:xfrm>
          <a:prstGeom prst="rect">
            <a:avLst/>
          </a:prstGeom>
          <a:solidFill>
            <a:srgbClr val="EEF2F7"/>
          </a:solidFill>
          <a:ln w="12700">
            <a:solidFill>
              <a:srgbClr val="D7DEE7"/>
            </a:solidFill>
            <a:prstDash val="solid"/>
          </a:ln>
        </p:spPr>
      </p:sp>
      <p:sp>
        <p:nvSpPr>
          <p:cNvPr id="50" name="Text 48"/>
          <p:cNvSpPr/>
          <p:nvPr/>
        </p:nvSpPr>
        <p:spPr>
          <a:xfrm>
            <a:off x="6949440" y="3383280"/>
            <a:ext cx="1865376" cy="91440"/>
          </a:xfrm>
          <a:prstGeom prst="rect">
            <a:avLst/>
          </a:prstGeom>
          <a:noFill/>
          <a:ln/>
        </p:spPr>
        <p:txBody>
          <a:bodyPr wrap="square" lIns="0" tIns="0" rIns="0" bIns="0" rtlCol="0" anchor="ctr"/>
          <a:lstStyle/>
          <a:p>
            <a:pPr indent="0" marL="0">
              <a:buNone/>
            </a:pPr>
            <a:r>
              <a:rPr lang="en-US" sz="920" b="1" dirty="0">
                <a:solidFill>
                  <a:srgbClr val="19212B"/>
                </a:solidFill>
              </a:rPr>
              <a:t>Scores</a:t>
            </a:r>
            <a:endParaRPr lang="en-US" sz="920" dirty="0"/>
          </a:p>
        </p:txBody>
      </p:sp>
      <p:sp>
        <p:nvSpPr>
          <p:cNvPr id="51" name="Text 49"/>
          <p:cNvSpPr/>
          <p:nvPr/>
        </p:nvSpPr>
        <p:spPr>
          <a:xfrm>
            <a:off x="6949440" y="3648456"/>
            <a:ext cx="1865376" cy="146304"/>
          </a:xfrm>
          <a:prstGeom prst="rect">
            <a:avLst/>
          </a:prstGeom>
          <a:noFill/>
          <a:ln/>
        </p:spPr>
        <p:txBody>
          <a:bodyPr wrap="square" lIns="0" tIns="0" rIns="0" bIns="0" rtlCol="0" anchor="ctr"/>
          <a:lstStyle/>
          <a:p>
            <a:pPr algn="ctr" indent="0" marL="0">
              <a:buNone/>
            </a:pPr>
            <a:r>
              <a:rPr lang="en-US" sz="1000" dirty="0">
                <a:solidFill>
                  <a:srgbClr val="5D6B7B"/>
                </a:solidFill>
              </a:rPr>
              <a:t>Safety • Cost • Latency • Quality</a:t>
            </a:r>
            <a:endParaRPr lang="en-US" sz="1000" dirty="0"/>
          </a:p>
        </p:txBody>
      </p:sp>
      <p:sp>
        <p:nvSpPr>
          <p:cNvPr id="52" name="Shape 50"/>
          <p:cNvSpPr/>
          <p:nvPr/>
        </p:nvSpPr>
        <p:spPr>
          <a:xfrm>
            <a:off x="6839712" y="4224528"/>
            <a:ext cx="2084832" cy="512064"/>
          </a:xfrm>
          <a:prstGeom prst="roundRect">
            <a:avLst>
              <a:gd name="adj" fmla="val 14286"/>
            </a:avLst>
          </a:prstGeom>
          <a:solidFill>
            <a:srgbClr val="F3F5F8"/>
          </a:solidFill>
          <a:ln w="12700">
            <a:solidFill>
              <a:srgbClr val="D7DEE7"/>
            </a:solidFill>
            <a:prstDash val="solid"/>
          </a:ln>
        </p:spPr>
      </p:sp>
      <p:sp>
        <p:nvSpPr>
          <p:cNvPr id="53" name="Shape 51"/>
          <p:cNvSpPr/>
          <p:nvPr/>
        </p:nvSpPr>
        <p:spPr>
          <a:xfrm>
            <a:off x="6839712" y="4224528"/>
            <a:ext cx="2084832" cy="219456"/>
          </a:xfrm>
          <a:prstGeom prst="rect">
            <a:avLst/>
          </a:prstGeom>
          <a:solidFill>
            <a:srgbClr val="EEF2F7"/>
          </a:solidFill>
          <a:ln w="12700">
            <a:solidFill>
              <a:srgbClr val="D7DEE7"/>
            </a:solidFill>
            <a:prstDash val="solid"/>
          </a:ln>
        </p:spPr>
      </p:sp>
      <p:sp>
        <p:nvSpPr>
          <p:cNvPr id="54" name="Text 52"/>
          <p:cNvSpPr/>
          <p:nvPr/>
        </p:nvSpPr>
        <p:spPr>
          <a:xfrm>
            <a:off x="6949440" y="4279392"/>
            <a:ext cx="1865376" cy="91440"/>
          </a:xfrm>
          <a:prstGeom prst="rect">
            <a:avLst/>
          </a:prstGeom>
          <a:noFill/>
          <a:ln/>
        </p:spPr>
        <p:txBody>
          <a:bodyPr wrap="square" lIns="0" tIns="0" rIns="0" bIns="0" rtlCol="0" anchor="ctr"/>
          <a:lstStyle/>
          <a:p>
            <a:pPr indent="0" marL="0">
              <a:buNone/>
            </a:pPr>
            <a:r>
              <a:rPr lang="en-US" sz="920" b="1" dirty="0">
                <a:solidFill>
                  <a:srgbClr val="19212B"/>
                </a:solidFill>
              </a:rPr>
              <a:t>Decision notes</a:t>
            </a:r>
            <a:endParaRPr lang="en-US" sz="920" dirty="0"/>
          </a:p>
        </p:txBody>
      </p:sp>
      <p:sp>
        <p:nvSpPr>
          <p:cNvPr id="55" name="Text 53"/>
          <p:cNvSpPr/>
          <p:nvPr/>
        </p:nvSpPr>
        <p:spPr>
          <a:xfrm>
            <a:off x="6949440" y="4407408"/>
            <a:ext cx="1865376" cy="146304"/>
          </a:xfrm>
          <a:prstGeom prst="rect">
            <a:avLst/>
          </a:prstGeom>
          <a:noFill/>
          <a:ln/>
        </p:spPr>
        <p:txBody>
          <a:bodyPr wrap="square" lIns="0" tIns="0" rIns="0" bIns="0" rtlCol="0" anchor="ctr"/>
          <a:lstStyle/>
          <a:p>
            <a:pPr algn="ctr" indent="0" marL="0">
              <a:buNone/>
            </a:pPr>
            <a:r>
              <a:rPr lang="en-US" sz="1000" dirty="0">
                <a:solidFill>
                  <a:srgbClr val="5D6B7B"/>
                </a:solidFill>
              </a:rPr>
              <a:t>Key risks + assumptions</a:t>
            </a:r>
            <a:endParaRPr lang="en-US" sz="1000" dirty="0"/>
          </a:p>
        </p:txBody>
      </p:sp>
      <p:sp>
        <p:nvSpPr>
          <p:cNvPr id="56" name="Shape 54"/>
          <p:cNvSpPr/>
          <p:nvPr/>
        </p:nvSpPr>
        <p:spPr>
          <a:xfrm>
            <a:off x="9281160" y="1920240"/>
            <a:ext cx="2057400" cy="1097280"/>
          </a:xfrm>
          <a:prstGeom prst="roundRect">
            <a:avLst>
              <a:gd name="adj" fmla="val 6667"/>
            </a:avLst>
          </a:prstGeom>
          <a:solidFill>
            <a:srgbClr val="F3F5F8"/>
          </a:solidFill>
          <a:ln w="12700">
            <a:solidFill>
              <a:srgbClr val="D7DEE7"/>
            </a:solidFill>
            <a:prstDash val="solid"/>
          </a:ln>
        </p:spPr>
      </p:sp>
      <p:sp>
        <p:nvSpPr>
          <p:cNvPr id="57" name="Shape 55"/>
          <p:cNvSpPr/>
          <p:nvPr/>
        </p:nvSpPr>
        <p:spPr>
          <a:xfrm>
            <a:off x="9281160" y="1920240"/>
            <a:ext cx="2057400" cy="219456"/>
          </a:xfrm>
          <a:prstGeom prst="rect">
            <a:avLst/>
          </a:prstGeom>
          <a:solidFill>
            <a:srgbClr val="EEF2F7"/>
          </a:solidFill>
          <a:ln w="12700">
            <a:solidFill>
              <a:srgbClr val="D7DEE7"/>
            </a:solidFill>
            <a:prstDash val="solid"/>
          </a:ln>
        </p:spPr>
      </p:sp>
      <p:sp>
        <p:nvSpPr>
          <p:cNvPr id="58" name="Text 56"/>
          <p:cNvSpPr/>
          <p:nvPr/>
        </p:nvSpPr>
        <p:spPr>
          <a:xfrm>
            <a:off x="9390888" y="1975104"/>
            <a:ext cx="1837944" cy="91440"/>
          </a:xfrm>
          <a:prstGeom prst="rect">
            <a:avLst/>
          </a:prstGeom>
          <a:noFill/>
          <a:ln/>
        </p:spPr>
        <p:txBody>
          <a:bodyPr wrap="square" lIns="0" tIns="0" rIns="0" bIns="0" rtlCol="0" anchor="ctr"/>
          <a:lstStyle/>
          <a:p>
            <a:pPr indent="0" marL="0">
              <a:buNone/>
            </a:pPr>
            <a:r>
              <a:rPr lang="en-US" sz="920" b="1" dirty="0">
                <a:solidFill>
                  <a:srgbClr val="19212B"/>
                </a:solidFill>
              </a:rPr>
              <a:t>Decision view</a:t>
            </a:r>
            <a:endParaRPr lang="en-US" sz="920" dirty="0"/>
          </a:p>
        </p:txBody>
      </p:sp>
      <p:sp>
        <p:nvSpPr>
          <p:cNvPr id="59" name="Text 57"/>
          <p:cNvSpPr/>
          <p:nvPr/>
        </p:nvSpPr>
        <p:spPr>
          <a:xfrm>
            <a:off x="9390888" y="2395728"/>
            <a:ext cx="1837944" cy="146304"/>
          </a:xfrm>
          <a:prstGeom prst="rect">
            <a:avLst/>
          </a:prstGeom>
          <a:noFill/>
          <a:ln/>
        </p:spPr>
        <p:txBody>
          <a:bodyPr wrap="square" lIns="0" tIns="0" rIns="0" bIns="0" rtlCol="0" anchor="ctr"/>
          <a:lstStyle/>
          <a:p>
            <a:pPr algn="ctr" indent="0" marL="0">
              <a:buNone/>
            </a:pPr>
            <a:r>
              <a:rPr lang="en-US" sz="1000" dirty="0">
                <a:solidFill>
                  <a:srgbClr val="5D6B7B"/>
                </a:solidFill>
              </a:rPr>
              <a:t>Why B won</a:t>
            </a:r>
            <a:endParaRPr lang="en-US" sz="1000" dirty="0"/>
          </a:p>
          <a:p>
            <a:pPr algn="ctr" indent="0" marL="0">
              <a:buNone/>
            </a:pPr>
            <a:r>
              <a:rPr lang="en-US" sz="1000" dirty="0">
                <a:solidFill>
                  <a:srgbClr val="5D6B7B"/>
                </a:solidFill>
              </a:rPr>
              <a:t>Critic objections</a:t>
            </a:r>
            <a:endParaRPr lang="en-US" sz="1000" dirty="0"/>
          </a:p>
          <a:p>
            <a:pPr algn="ctr" indent="0" marL="0">
              <a:buNone/>
            </a:pPr>
            <a:r>
              <a:rPr lang="en-US" sz="1000" dirty="0">
                <a:solidFill>
                  <a:srgbClr val="5D6B7B"/>
                </a:solidFill>
              </a:rPr>
              <a:t>Rationale summary</a:t>
            </a:r>
            <a:endParaRPr lang="en-US" sz="1000" dirty="0"/>
          </a:p>
        </p:txBody>
      </p:sp>
      <p:sp>
        <p:nvSpPr>
          <p:cNvPr id="60" name="Shape 58"/>
          <p:cNvSpPr/>
          <p:nvPr/>
        </p:nvSpPr>
        <p:spPr>
          <a:xfrm>
            <a:off x="9281160" y="3218688"/>
            <a:ext cx="2057400" cy="1810512"/>
          </a:xfrm>
          <a:prstGeom prst="roundRect">
            <a:avLst>
              <a:gd name="adj" fmla="val 4040"/>
            </a:avLst>
          </a:prstGeom>
          <a:solidFill>
            <a:srgbClr val="F3F5F8"/>
          </a:solidFill>
          <a:ln w="12700">
            <a:solidFill>
              <a:srgbClr val="D7DEE7"/>
            </a:solidFill>
            <a:prstDash val="solid"/>
          </a:ln>
        </p:spPr>
      </p:sp>
      <p:sp>
        <p:nvSpPr>
          <p:cNvPr id="61" name="Shape 59"/>
          <p:cNvSpPr/>
          <p:nvPr/>
        </p:nvSpPr>
        <p:spPr>
          <a:xfrm>
            <a:off x="9281160" y="3218688"/>
            <a:ext cx="2057400" cy="219456"/>
          </a:xfrm>
          <a:prstGeom prst="rect">
            <a:avLst/>
          </a:prstGeom>
          <a:solidFill>
            <a:srgbClr val="EEF2F7"/>
          </a:solidFill>
          <a:ln w="12700">
            <a:solidFill>
              <a:srgbClr val="D7DEE7"/>
            </a:solidFill>
            <a:prstDash val="solid"/>
          </a:ln>
        </p:spPr>
      </p:sp>
      <p:sp>
        <p:nvSpPr>
          <p:cNvPr id="62" name="Text 60"/>
          <p:cNvSpPr/>
          <p:nvPr/>
        </p:nvSpPr>
        <p:spPr>
          <a:xfrm>
            <a:off x="9390888" y="3273552"/>
            <a:ext cx="1837944" cy="91440"/>
          </a:xfrm>
          <a:prstGeom prst="rect">
            <a:avLst/>
          </a:prstGeom>
          <a:noFill/>
          <a:ln/>
        </p:spPr>
        <p:txBody>
          <a:bodyPr wrap="square" lIns="0" tIns="0" rIns="0" bIns="0" rtlCol="0" anchor="ctr"/>
          <a:lstStyle/>
          <a:p>
            <a:pPr indent="0" marL="0">
              <a:buNone/>
            </a:pPr>
            <a:r>
              <a:rPr lang="en-US" sz="920" b="1" dirty="0">
                <a:solidFill>
                  <a:srgbClr val="19212B"/>
                </a:solidFill>
              </a:rPr>
              <a:t>Tradeoff matrix</a:t>
            </a:r>
            <a:endParaRPr lang="en-US" sz="920" dirty="0"/>
          </a:p>
        </p:txBody>
      </p:sp>
      <p:sp>
        <p:nvSpPr>
          <p:cNvPr id="63" name="Text 61"/>
          <p:cNvSpPr/>
          <p:nvPr/>
        </p:nvSpPr>
        <p:spPr>
          <a:xfrm>
            <a:off x="9390888" y="4050792"/>
            <a:ext cx="1837944" cy="146304"/>
          </a:xfrm>
          <a:prstGeom prst="rect">
            <a:avLst/>
          </a:prstGeom>
          <a:noFill/>
          <a:ln/>
        </p:spPr>
        <p:txBody>
          <a:bodyPr wrap="square" lIns="0" tIns="0" rIns="0" bIns="0" rtlCol="0" anchor="ctr"/>
          <a:lstStyle/>
          <a:p>
            <a:pPr algn="ctr" indent="0" marL="0">
              <a:buNone/>
            </a:pPr>
            <a:r>
              <a:rPr lang="en-US" sz="1000" dirty="0">
                <a:solidFill>
                  <a:srgbClr val="5D6B7B"/>
                </a:solidFill>
              </a:rPr>
              <a:t>A vs B vs C diff matrix</a:t>
            </a:r>
            <a:endParaRPr lang="en-US" sz="1000" dirty="0"/>
          </a:p>
        </p:txBody>
      </p:sp>
      <p:sp>
        <p:nvSpPr>
          <p:cNvPr id="64" name="Shape 62"/>
          <p:cNvSpPr/>
          <p:nvPr/>
        </p:nvSpPr>
        <p:spPr>
          <a:xfrm>
            <a:off x="1005840" y="5340096"/>
            <a:ext cx="2880360" cy="713232"/>
          </a:xfrm>
          <a:prstGeom prst="roundRect">
            <a:avLst>
              <a:gd name="adj" fmla="val 10256"/>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65" name="Text 63"/>
          <p:cNvSpPr/>
          <p:nvPr/>
        </p:nvSpPr>
        <p:spPr>
          <a:xfrm>
            <a:off x="1115568" y="5422392"/>
            <a:ext cx="2660904" cy="128016"/>
          </a:xfrm>
          <a:prstGeom prst="rect">
            <a:avLst/>
          </a:prstGeom>
          <a:noFill/>
          <a:ln/>
        </p:spPr>
        <p:txBody>
          <a:bodyPr wrap="square" lIns="0" tIns="0" rIns="0" bIns="0" rtlCol="0" anchor="ctr"/>
          <a:lstStyle/>
          <a:p>
            <a:pPr indent="0" marL="0">
              <a:buNone/>
            </a:pPr>
            <a:r>
              <a:rPr lang="en-US" sz="1100" b="1" dirty="0">
                <a:solidFill>
                  <a:srgbClr val="2F6BFF"/>
                </a:solidFill>
              </a:rPr>
              <a:t>Compare, don’t bury</a:t>
            </a:r>
            <a:endParaRPr lang="en-US" sz="1100" dirty="0"/>
          </a:p>
        </p:txBody>
      </p:sp>
      <p:sp>
        <p:nvSpPr>
          <p:cNvPr id="66" name="Text 64"/>
          <p:cNvSpPr/>
          <p:nvPr/>
        </p:nvSpPr>
        <p:spPr>
          <a:xfrm>
            <a:off x="1115568" y="5586984"/>
            <a:ext cx="2660904" cy="402336"/>
          </a:xfrm>
          <a:prstGeom prst="rect">
            <a:avLst/>
          </a:prstGeom>
          <a:noFill/>
          <a:ln/>
        </p:spPr>
        <p:txBody>
          <a:bodyPr wrap="square" lIns="0" tIns="0" rIns="0" bIns="0" rtlCol="0" anchor="t"/>
          <a:lstStyle/>
          <a:p>
            <a:pPr indent="0" marL="0">
              <a:buNone/>
            </a:pPr>
            <a:r>
              <a:rPr lang="en-US" sz="960" dirty="0">
                <a:solidFill>
                  <a:srgbClr val="5D6B7B"/>
                </a:solidFill>
              </a:rPr>
              <a:t>This screen should surface the tradeoff itself — not just declare a winner.</a:t>
            </a:r>
            <a:endParaRPr lang="en-US" sz="960" dirty="0"/>
          </a:p>
        </p:txBody>
      </p:sp>
      <p:sp>
        <p:nvSpPr>
          <p:cNvPr id="67" name="Shape 65"/>
          <p:cNvSpPr/>
          <p:nvPr/>
        </p:nvSpPr>
        <p:spPr>
          <a:xfrm>
            <a:off x="4069080" y="5340096"/>
            <a:ext cx="3017520" cy="713232"/>
          </a:xfrm>
          <a:prstGeom prst="roundRect">
            <a:avLst>
              <a:gd name="adj" fmla="val 10256"/>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68" name="Text 66"/>
          <p:cNvSpPr/>
          <p:nvPr/>
        </p:nvSpPr>
        <p:spPr>
          <a:xfrm>
            <a:off x="4178808" y="5422392"/>
            <a:ext cx="2798064" cy="128016"/>
          </a:xfrm>
          <a:prstGeom prst="rect">
            <a:avLst/>
          </a:prstGeom>
          <a:noFill/>
          <a:ln/>
        </p:spPr>
        <p:txBody>
          <a:bodyPr wrap="square" lIns="0" tIns="0" rIns="0" bIns="0" rtlCol="0" anchor="ctr"/>
          <a:lstStyle/>
          <a:p>
            <a:pPr indent="0" marL="0">
              <a:buNone/>
            </a:pPr>
            <a:r>
              <a:rPr lang="en-US" sz="1100" b="1" dirty="0">
                <a:solidFill>
                  <a:srgbClr val="2F6BFF"/>
                </a:solidFill>
              </a:rPr>
              <a:t>Trust-building detail</a:t>
            </a:r>
            <a:endParaRPr lang="en-US" sz="1100" dirty="0"/>
          </a:p>
        </p:txBody>
      </p:sp>
      <p:sp>
        <p:nvSpPr>
          <p:cNvPr id="69" name="Text 67"/>
          <p:cNvSpPr/>
          <p:nvPr/>
        </p:nvSpPr>
        <p:spPr>
          <a:xfrm>
            <a:off x="4178808" y="5586984"/>
            <a:ext cx="2798064" cy="402336"/>
          </a:xfrm>
          <a:prstGeom prst="rect">
            <a:avLst/>
          </a:prstGeom>
          <a:noFill/>
          <a:ln/>
        </p:spPr>
        <p:txBody>
          <a:bodyPr wrap="square" lIns="0" tIns="0" rIns="0" bIns="0" rtlCol="0" anchor="t"/>
          <a:lstStyle/>
          <a:p>
            <a:pPr indent="0" marL="0">
              <a:buNone/>
            </a:pPr>
            <a:r>
              <a:rPr lang="en-US" sz="960" dirty="0">
                <a:solidFill>
                  <a:srgbClr val="5D6B7B"/>
                </a:solidFill>
              </a:rPr>
              <a:t>Every score should open the underlying rationale, evidence, and unresolved risk.</a:t>
            </a:r>
            <a:endParaRPr lang="en-US" sz="960" dirty="0"/>
          </a:p>
        </p:txBody>
      </p:sp>
      <p:sp>
        <p:nvSpPr>
          <p:cNvPr id="70" name="Shape 68"/>
          <p:cNvSpPr/>
          <p:nvPr/>
        </p:nvSpPr>
        <p:spPr>
          <a:xfrm>
            <a:off x="7269480" y="5340096"/>
            <a:ext cx="3657600" cy="713232"/>
          </a:xfrm>
          <a:prstGeom prst="roundRect">
            <a:avLst>
              <a:gd name="adj" fmla="val 10256"/>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71" name="Text 69"/>
          <p:cNvSpPr/>
          <p:nvPr/>
        </p:nvSpPr>
        <p:spPr>
          <a:xfrm>
            <a:off x="7379208" y="5422392"/>
            <a:ext cx="3438144" cy="128016"/>
          </a:xfrm>
          <a:prstGeom prst="rect">
            <a:avLst/>
          </a:prstGeom>
          <a:noFill/>
          <a:ln/>
        </p:spPr>
        <p:txBody>
          <a:bodyPr wrap="square" lIns="0" tIns="0" rIns="0" bIns="0" rtlCol="0" anchor="ctr"/>
          <a:lstStyle/>
          <a:p>
            <a:pPr indent="0" marL="0">
              <a:buNone/>
            </a:pPr>
            <a:r>
              <a:rPr lang="en-US" sz="1100" b="1" dirty="0">
                <a:solidFill>
                  <a:srgbClr val="2F6BFF"/>
                </a:solidFill>
              </a:rPr>
              <a:t>Interaction model</a:t>
            </a:r>
            <a:endParaRPr lang="en-US" sz="1100" dirty="0"/>
          </a:p>
        </p:txBody>
      </p:sp>
      <p:sp>
        <p:nvSpPr>
          <p:cNvPr id="72" name="Text 70"/>
          <p:cNvSpPr/>
          <p:nvPr/>
        </p:nvSpPr>
        <p:spPr>
          <a:xfrm>
            <a:off x="7379208" y="5586984"/>
            <a:ext cx="3438144" cy="402336"/>
          </a:xfrm>
          <a:prstGeom prst="rect">
            <a:avLst/>
          </a:prstGeom>
          <a:noFill/>
          <a:ln/>
        </p:spPr>
        <p:txBody>
          <a:bodyPr wrap="square" lIns="0" tIns="0" rIns="0" bIns="0" rtlCol="0" anchor="t"/>
          <a:lstStyle/>
          <a:p>
            <a:pPr indent="0" marL="0">
              <a:buNone/>
            </a:pPr>
            <a:r>
              <a:rPr lang="en-US" sz="960" dirty="0">
                <a:solidFill>
                  <a:srgbClr val="5D6B7B"/>
                </a:solidFill>
              </a:rPr>
              <a:t>Let users select a winner, request a revision, merge traits, or send a candidate back to evaluation.</a:t>
            </a:r>
            <a:endParaRPr lang="en-US" sz="960" dirty="0"/>
          </a:p>
        </p:txBody>
      </p:sp>
      <p:sp>
        <p:nvSpPr>
          <p:cNvPr id="73" name="Text 71"/>
          <p:cNvSpPr/>
          <p:nvPr/>
        </p:nvSpPr>
        <p:spPr>
          <a:xfrm>
            <a:off x="594360" y="6473952"/>
            <a:ext cx="4389120" cy="164592"/>
          </a:xfrm>
          <a:prstGeom prst="rect">
            <a:avLst/>
          </a:prstGeom>
          <a:noFill/>
          <a:ln/>
        </p:spPr>
        <p:txBody>
          <a:bodyPr wrap="square" lIns="0" tIns="0" rIns="0" bIns="0" rtlCol="0" anchor="ctr"/>
          <a:lstStyle/>
          <a:p>
            <a:pPr indent="0" marL="0">
              <a:buNone/>
            </a:pPr>
            <a:r>
              <a:rPr lang="en-US" sz="900" dirty="0">
                <a:solidFill>
                  <a:srgbClr val="7A8794"/>
                </a:solidFill>
              </a:rPr>
              <a:t>Agent Architect Pro — UX wireframe direction</a:t>
            </a:r>
            <a:endParaRPr lang="en-US" sz="900" dirty="0"/>
          </a:p>
        </p:txBody>
      </p:sp>
      <p:sp>
        <p:nvSpPr>
          <p:cNvPr id="74" name="Text 72"/>
          <p:cNvSpPr/>
          <p:nvPr/>
        </p:nvSpPr>
        <p:spPr>
          <a:xfrm>
            <a:off x="11292840" y="6437376"/>
            <a:ext cx="274320" cy="182880"/>
          </a:xfrm>
          <a:prstGeom prst="rect">
            <a:avLst/>
          </a:prstGeom>
          <a:noFill/>
          <a:ln/>
        </p:spPr>
        <p:txBody>
          <a:bodyPr wrap="square" lIns="0" tIns="0" rIns="0" bIns="0" rtlCol="0" anchor="ctr"/>
          <a:lstStyle/>
          <a:p>
            <a:pPr algn="r" indent="0" marL="0">
              <a:buNone/>
            </a:pPr>
            <a:r>
              <a:rPr lang="en-US" sz="1000" dirty="0">
                <a:solidFill>
                  <a:srgbClr val="7A8794"/>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0040"/>
            <a:ext cx="8046720" cy="384048"/>
          </a:xfrm>
          <a:prstGeom prst="rect">
            <a:avLst/>
          </a:prstGeom>
          <a:noFill/>
          <a:ln/>
        </p:spPr>
        <p:txBody>
          <a:bodyPr wrap="square" lIns="0" tIns="0" rIns="0" bIns="0" rtlCol="0" anchor="ctr"/>
          <a:lstStyle/>
          <a:p>
            <a:pPr indent="0" marL="0">
              <a:buNone/>
            </a:pPr>
            <a:r>
              <a:rPr lang="en-US" sz="2800" b="1" dirty="0">
                <a:solidFill>
                  <a:srgbClr val="19212B"/>
                </a:solidFill>
                <a:latin typeface="Aptos Display" pitchFamily="34" charset="0"/>
                <a:ea typeface="Aptos Display" pitchFamily="34" charset="-122"/>
                <a:cs typeface="Aptos Display" pitchFamily="34" charset="-120"/>
              </a:rPr>
              <a:t>Wireframe 04 — Evaluation Lab</a:t>
            </a:r>
            <a:endParaRPr lang="en-US" sz="2800" dirty="0"/>
          </a:p>
        </p:txBody>
      </p:sp>
      <p:sp>
        <p:nvSpPr>
          <p:cNvPr id="3" name="Text 1"/>
          <p:cNvSpPr/>
          <p:nvPr/>
        </p:nvSpPr>
        <p:spPr>
          <a:xfrm>
            <a:off x="594360" y="749808"/>
            <a:ext cx="9692640" cy="310896"/>
          </a:xfrm>
          <a:prstGeom prst="rect">
            <a:avLst/>
          </a:prstGeom>
          <a:noFill/>
          <a:ln/>
        </p:spPr>
        <p:txBody>
          <a:bodyPr wrap="square" lIns="0" tIns="0" rIns="0" bIns="0" rtlCol="0" anchor="ctr"/>
          <a:lstStyle/>
          <a:p>
            <a:pPr indent="0" marL="0">
              <a:buNone/>
            </a:pPr>
            <a:r>
              <a:rPr lang="en-US" sz="1250" dirty="0">
                <a:solidFill>
                  <a:srgbClr val="5D6B7B"/>
                </a:solidFill>
              </a:rPr>
              <a:t>Evaluation must be more than a pass/fail table. Users need a clear verdict, scenario coverage, clustered failures, and release recommendations.</a:t>
            </a:r>
            <a:endParaRPr lang="en-US" sz="1250" dirty="0"/>
          </a:p>
        </p:txBody>
      </p:sp>
      <p:sp>
        <p:nvSpPr>
          <p:cNvPr id="4" name="Shape 2"/>
          <p:cNvSpPr/>
          <p:nvPr/>
        </p:nvSpPr>
        <p:spPr>
          <a:xfrm>
            <a:off x="585216" y="1207008"/>
            <a:ext cx="7955280" cy="5084064"/>
          </a:xfrm>
          <a:prstGeom prst="roundRect">
            <a:avLst>
              <a:gd name="adj" fmla="val 2158"/>
            </a:avLst>
          </a:prstGeom>
          <a:solidFill>
            <a:srgbClr val="FCFDFE"/>
          </a:solidFill>
          <a:ln w="12700">
            <a:solidFill>
              <a:srgbClr val="CBD4DF"/>
            </a:solidFill>
            <a:prstDash val="solid"/>
          </a:ln>
        </p:spPr>
      </p:sp>
      <p:sp>
        <p:nvSpPr>
          <p:cNvPr id="5" name="Shape 3"/>
          <p:cNvSpPr/>
          <p:nvPr/>
        </p:nvSpPr>
        <p:spPr>
          <a:xfrm>
            <a:off x="585216" y="1207008"/>
            <a:ext cx="7955280" cy="384048"/>
          </a:xfrm>
          <a:prstGeom prst="roundRect">
            <a:avLst>
              <a:gd name="adj" fmla="val 28571"/>
            </a:avLst>
          </a:prstGeom>
          <a:solidFill>
            <a:srgbClr val="F9FBFD"/>
          </a:solidFill>
          <a:ln w="12700">
            <a:solidFill>
              <a:srgbClr val="CBD4DF"/>
            </a:solidFill>
            <a:prstDash val="solid"/>
          </a:ln>
        </p:spPr>
      </p:sp>
      <p:sp>
        <p:nvSpPr>
          <p:cNvPr id="6" name="Shape 4"/>
          <p:cNvSpPr/>
          <p:nvPr/>
        </p:nvSpPr>
        <p:spPr>
          <a:xfrm>
            <a:off x="768096" y="1307592"/>
            <a:ext cx="2011680" cy="164592"/>
          </a:xfrm>
          <a:prstGeom prst="roundRect">
            <a:avLst>
              <a:gd name="adj" fmla="val 27778"/>
            </a:avLst>
          </a:prstGeom>
          <a:solidFill>
            <a:srgbClr val="FFFFFF"/>
          </a:solidFill>
          <a:ln w="12700">
            <a:solidFill>
              <a:srgbClr val="E3E8EF"/>
            </a:solidFill>
            <a:prstDash val="solid"/>
          </a:ln>
        </p:spPr>
      </p:sp>
      <p:sp>
        <p:nvSpPr>
          <p:cNvPr id="7" name="Text 5"/>
          <p:cNvSpPr/>
          <p:nvPr/>
        </p:nvSpPr>
        <p:spPr>
          <a:xfrm>
            <a:off x="896112" y="1335024"/>
            <a:ext cx="1463040" cy="91440"/>
          </a:xfrm>
          <a:prstGeom prst="rect">
            <a:avLst/>
          </a:prstGeom>
          <a:noFill/>
          <a:ln/>
        </p:spPr>
        <p:txBody>
          <a:bodyPr wrap="square" lIns="0" tIns="0" rIns="0" bIns="0" rtlCol="0" anchor="ctr"/>
          <a:lstStyle/>
          <a:p>
            <a:pPr indent="0" marL="0">
              <a:buNone/>
            </a:pPr>
            <a:r>
              <a:rPr lang="en-US" sz="950" dirty="0">
                <a:solidFill>
                  <a:srgbClr val="5D6B7B"/>
                </a:solidFill>
              </a:rPr>
              <a:t>Global command bar</a:t>
            </a:r>
            <a:endParaRPr lang="en-US" sz="950" dirty="0"/>
          </a:p>
        </p:txBody>
      </p:sp>
      <p:sp>
        <p:nvSpPr>
          <p:cNvPr id="8" name="Text 6"/>
          <p:cNvSpPr/>
          <p:nvPr/>
        </p:nvSpPr>
        <p:spPr>
          <a:xfrm>
            <a:off x="6254496" y="1325880"/>
            <a:ext cx="1828800" cy="91440"/>
          </a:xfrm>
          <a:prstGeom prst="rect">
            <a:avLst/>
          </a:prstGeom>
          <a:noFill/>
          <a:ln/>
        </p:spPr>
        <p:txBody>
          <a:bodyPr wrap="square" lIns="0" tIns="0" rIns="0" bIns="0" rtlCol="0" anchor="ctr"/>
          <a:lstStyle/>
          <a:p>
            <a:pPr algn="r" indent="0" marL="0">
              <a:buNone/>
            </a:pPr>
            <a:r>
              <a:rPr lang="en-US" sz="950" dirty="0">
                <a:solidFill>
                  <a:srgbClr val="5D6B7B"/>
                </a:solidFill>
              </a:rPr>
              <a:t>Search  •  Alerts  •  Profile</a:t>
            </a:r>
            <a:endParaRPr lang="en-US" sz="950" dirty="0"/>
          </a:p>
        </p:txBody>
      </p:sp>
      <p:sp>
        <p:nvSpPr>
          <p:cNvPr id="9" name="Shape 7"/>
          <p:cNvSpPr/>
          <p:nvPr/>
        </p:nvSpPr>
        <p:spPr>
          <a:xfrm>
            <a:off x="585216" y="1591056"/>
            <a:ext cx="1097280" cy="4700016"/>
          </a:xfrm>
          <a:prstGeom prst="rect">
            <a:avLst/>
          </a:prstGeom>
          <a:solidFill>
            <a:srgbClr val="FBFCFE"/>
          </a:solidFill>
          <a:ln w="12700">
            <a:solidFill>
              <a:srgbClr val="E3E8EF"/>
            </a:solidFill>
            <a:prstDash val="solid"/>
          </a:ln>
        </p:spPr>
      </p:sp>
      <p:sp>
        <p:nvSpPr>
          <p:cNvPr id="10" name="Text 8"/>
          <p:cNvSpPr/>
          <p:nvPr/>
        </p:nvSpPr>
        <p:spPr>
          <a:xfrm>
            <a:off x="731520" y="1737360"/>
            <a:ext cx="804672" cy="137160"/>
          </a:xfrm>
          <a:prstGeom prst="rect">
            <a:avLst/>
          </a:prstGeom>
          <a:noFill/>
          <a:ln/>
        </p:spPr>
        <p:txBody>
          <a:bodyPr wrap="square" lIns="0" tIns="0" rIns="0" bIns="0" rtlCol="0" anchor="ctr"/>
          <a:lstStyle/>
          <a:p>
            <a:pPr indent="0" marL="0">
              <a:buNone/>
            </a:pPr>
            <a:r>
              <a:rPr lang="en-US" sz="1050" b="1" dirty="0">
                <a:solidFill>
                  <a:srgbClr val="19212B"/>
                </a:solidFill>
              </a:rPr>
              <a:t>Studio</a:t>
            </a:r>
            <a:endParaRPr lang="en-US" sz="1050" dirty="0"/>
          </a:p>
        </p:txBody>
      </p:sp>
      <p:sp>
        <p:nvSpPr>
          <p:cNvPr id="11" name="Text 9"/>
          <p:cNvSpPr/>
          <p:nvPr/>
        </p:nvSpPr>
        <p:spPr>
          <a:xfrm>
            <a:off x="786384" y="2048256"/>
            <a:ext cx="640080" cy="91440"/>
          </a:xfrm>
          <a:prstGeom prst="rect">
            <a:avLst/>
          </a:prstGeom>
          <a:noFill/>
          <a:ln/>
        </p:spPr>
        <p:txBody>
          <a:bodyPr wrap="square" lIns="0" tIns="0" rIns="0" bIns="0" rtlCol="0" anchor="ctr"/>
          <a:lstStyle/>
          <a:p>
            <a:pPr indent="0" marL="0">
              <a:buNone/>
            </a:pPr>
            <a:r>
              <a:rPr lang="en-US" sz="950" dirty="0">
                <a:solidFill>
                  <a:srgbClr val="5D6B7B"/>
                </a:solidFill>
              </a:rPr>
              <a:t>Home</a:t>
            </a:r>
            <a:endParaRPr lang="en-US" sz="950" dirty="0"/>
          </a:p>
        </p:txBody>
      </p:sp>
      <p:sp>
        <p:nvSpPr>
          <p:cNvPr id="12" name="Shape 10"/>
          <p:cNvSpPr/>
          <p:nvPr/>
        </p:nvSpPr>
        <p:spPr>
          <a:xfrm>
            <a:off x="685800" y="2386584"/>
            <a:ext cx="896112" cy="237744"/>
          </a:xfrm>
          <a:prstGeom prst="roundRect">
            <a:avLst>
              <a:gd name="adj" fmla="val 19231"/>
            </a:avLst>
          </a:prstGeom>
          <a:solidFill>
            <a:srgbClr val="EAF1FF"/>
          </a:solidFill>
          <a:ln w="12700">
            <a:solidFill>
              <a:srgbClr val="EAF1FF">
                <a:alpha val="0"/>
              </a:srgbClr>
            </a:solidFill>
            <a:prstDash val="solid"/>
          </a:ln>
        </p:spPr>
      </p:sp>
      <p:sp>
        <p:nvSpPr>
          <p:cNvPr id="13" name="Text 11"/>
          <p:cNvSpPr/>
          <p:nvPr/>
        </p:nvSpPr>
        <p:spPr>
          <a:xfrm>
            <a:off x="786384" y="2432304"/>
            <a:ext cx="640080" cy="91440"/>
          </a:xfrm>
          <a:prstGeom prst="rect">
            <a:avLst/>
          </a:prstGeom>
          <a:noFill/>
          <a:ln/>
        </p:spPr>
        <p:txBody>
          <a:bodyPr wrap="square" lIns="0" tIns="0" rIns="0" bIns="0" rtlCol="0" anchor="ctr"/>
          <a:lstStyle/>
          <a:p>
            <a:pPr indent="0" marL="0">
              <a:buNone/>
            </a:pPr>
            <a:r>
              <a:rPr lang="en-US" sz="950" b="1" dirty="0">
                <a:solidFill>
                  <a:srgbClr val="2F6BFF"/>
                </a:solidFill>
              </a:rPr>
              <a:t>Studio</a:t>
            </a:r>
            <a:endParaRPr lang="en-US" sz="950" dirty="0"/>
          </a:p>
        </p:txBody>
      </p:sp>
      <p:sp>
        <p:nvSpPr>
          <p:cNvPr id="14" name="Text 12"/>
          <p:cNvSpPr/>
          <p:nvPr/>
        </p:nvSpPr>
        <p:spPr>
          <a:xfrm>
            <a:off x="786384" y="2816352"/>
            <a:ext cx="640080" cy="91440"/>
          </a:xfrm>
          <a:prstGeom prst="rect">
            <a:avLst/>
          </a:prstGeom>
          <a:noFill/>
          <a:ln/>
        </p:spPr>
        <p:txBody>
          <a:bodyPr wrap="square" lIns="0" tIns="0" rIns="0" bIns="0" rtlCol="0" anchor="ctr"/>
          <a:lstStyle/>
          <a:p>
            <a:pPr indent="0" marL="0">
              <a:buNone/>
            </a:pPr>
            <a:r>
              <a:rPr lang="en-US" sz="950" dirty="0">
                <a:solidFill>
                  <a:srgbClr val="5D6B7B"/>
                </a:solidFill>
              </a:rPr>
              <a:t>Runs</a:t>
            </a:r>
            <a:endParaRPr lang="en-US" sz="950" dirty="0"/>
          </a:p>
        </p:txBody>
      </p:sp>
      <p:sp>
        <p:nvSpPr>
          <p:cNvPr id="15" name="Text 13"/>
          <p:cNvSpPr/>
          <p:nvPr/>
        </p:nvSpPr>
        <p:spPr>
          <a:xfrm>
            <a:off x="786384" y="3200400"/>
            <a:ext cx="640080" cy="91440"/>
          </a:xfrm>
          <a:prstGeom prst="rect">
            <a:avLst/>
          </a:prstGeom>
          <a:noFill/>
          <a:ln/>
        </p:spPr>
        <p:txBody>
          <a:bodyPr wrap="square" lIns="0" tIns="0" rIns="0" bIns="0" rtlCol="0" anchor="ctr"/>
          <a:lstStyle/>
          <a:p>
            <a:pPr indent="0" marL="0">
              <a:buNone/>
            </a:pPr>
            <a:r>
              <a:rPr lang="en-US" sz="950" dirty="0">
                <a:solidFill>
                  <a:srgbClr val="5D6B7B"/>
                </a:solidFill>
              </a:rPr>
              <a:t>Deploy</a:t>
            </a:r>
            <a:endParaRPr lang="en-US" sz="950" dirty="0"/>
          </a:p>
        </p:txBody>
      </p:sp>
      <p:sp>
        <p:nvSpPr>
          <p:cNvPr id="16" name="Text 14"/>
          <p:cNvSpPr/>
          <p:nvPr/>
        </p:nvSpPr>
        <p:spPr>
          <a:xfrm>
            <a:off x="786384" y="3584448"/>
            <a:ext cx="640080" cy="91440"/>
          </a:xfrm>
          <a:prstGeom prst="rect">
            <a:avLst/>
          </a:prstGeom>
          <a:noFill/>
          <a:ln/>
        </p:spPr>
        <p:txBody>
          <a:bodyPr wrap="square" lIns="0" tIns="0" rIns="0" bIns="0" rtlCol="0" anchor="ctr"/>
          <a:lstStyle/>
          <a:p>
            <a:pPr indent="0" marL="0">
              <a:buNone/>
            </a:pPr>
            <a:r>
              <a:rPr lang="en-US" sz="950" dirty="0">
                <a:solidFill>
                  <a:srgbClr val="5D6B7B"/>
                </a:solidFill>
              </a:rPr>
              <a:t>Observe</a:t>
            </a:r>
            <a:endParaRPr lang="en-US" sz="950" dirty="0"/>
          </a:p>
        </p:txBody>
      </p:sp>
      <p:sp>
        <p:nvSpPr>
          <p:cNvPr id="17" name="Text 15"/>
          <p:cNvSpPr/>
          <p:nvPr/>
        </p:nvSpPr>
        <p:spPr>
          <a:xfrm>
            <a:off x="786384" y="3968496"/>
            <a:ext cx="640080" cy="91440"/>
          </a:xfrm>
          <a:prstGeom prst="rect">
            <a:avLst/>
          </a:prstGeom>
          <a:noFill/>
          <a:ln/>
        </p:spPr>
        <p:txBody>
          <a:bodyPr wrap="square" lIns="0" tIns="0" rIns="0" bIns="0" rtlCol="0" anchor="ctr"/>
          <a:lstStyle/>
          <a:p>
            <a:pPr indent="0" marL="0">
              <a:buNone/>
            </a:pPr>
            <a:r>
              <a:rPr lang="en-US" sz="950" dirty="0">
                <a:solidFill>
                  <a:srgbClr val="5D6B7B"/>
                </a:solidFill>
              </a:rPr>
              <a:t>Govern</a:t>
            </a:r>
            <a:endParaRPr lang="en-US" sz="950" dirty="0"/>
          </a:p>
        </p:txBody>
      </p:sp>
      <p:sp>
        <p:nvSpPr>
          <p:cNvPr id="18" name="Text 16"/>
          <p:cNvSpPr/>
          <p:nvPr/>
        </p:nvSpPr>
        <p:spPr>
          <a:xfrm>
            <a:off x="1883664" y="1719072"/>
            <a:ext cx="2194560" cy="164592"/>
          </a:xfrm>
          <a:prstGeom prst="rect">
            <a:avLst/>
          </a:prstGeom>
          <a:noFill/>
          <a:ln/>
        </p:spPr>
        <p:txBody>
          <a:bodyPr wrap="square" lIns="0" tIns="0" rIns="0" bIns="0" rtlCol="0" anchor="ctr"/>
          <a:lstStyle/>
          <a:p>
            <a:pPr indent="0" marL="0">
              <a:buNone/>
            </a:pPr>
            <a:r>
              <a:rPr lang="en-US" sz="1300" b="1" dirty="0">
                <a:solidFill>
                  <a:srgbClr val="19212B"/>
                </a:solidFill>
              </a:rPr>
              <a:t>Evaluation Lab</a:t>
            </a:r>
            <a:endParaRPr lang="en-US" sz="1300" dirty="0"/>
          </a:p>
        </p:txBody>
      </p:sp>
      <p:sp>
        <p:nvSpPr>
          <p:cNvPr id="19" name="Text 17"/>
          <p:cNvSpPr/>
          <p:nvPr/>
        </p:nvSpPr>
        <p:spPr>
          <a:xfrm>
            <a:off x="1883664" y="1920240"/>
            <a:ext cx="2560320" cy="109728"/>
          </a:xfrm>
          <a:prstGeom prst="rect">
            <a:avLst/>
          </a:prstGeom>
          <a:noFill/>
          <a:ln/>
        </p:spPr>
        <p:txBody>
          <a:bodyPr wrap="square" lIns="0" tIns="0" rIns="0" bIns="0" rtlCol="0" anchor="ctr"/>
          <a:lstStyle/>
          <a:p>
            <a:pPr indent="0" marL="0">
              <a:buNone/>
            </a:pPr>
            <a:r>
              <a:rPr lang="en-US" sz="930" dirty="0">
                <a:solidFill>
                  <a:srgbClr val="5D6B7B"/>
                </a:solidFill>
              </a:rPr>
              <a:t>Role-based view with progressive disclosure</a:t>
            </a:r>
            <a:endParaRPr lang="en-US" sz="930" dirty="0"/>
          </a:p>
        </p:txBody>
      </p:sp>
      <p:sp>
        <p:nvSpPr>
          <p:cNvPr id="20" name="Shape 18"/>
          <p:cNvSpPr/>
          <p:nvPr/>
        </p:nvSpPr>
        <p:spPr>
          <a:xfrm>
            <a:off x="1938528" y="2029968"/>
            <a:ext cx="1051560" cy="256032"/>
          </a:xfrm>
          <a:prstGeom prst="roundRect">
            <a:avLst>
              <a:gd name="adj" fmla="val 28571"/>
            </a:avLst>
          </a:prstGeom>
          <a:solidFill>
            <a:srgbClr val="FFF4DA"/>
          </a:solidFill>
          <a:ln w="12700">
            <a:solidFill>
              <a:srgbClr val="FFF4DA">
                <a:alpha val="0"/>
              </a:srgbClr>
            </a:solidFill>
            <a:prstDash val="solid"/>
          </a:ln>
        </p:spPr>
      </p:sp>
      <p:sp>
        <p:nvSpPr>
          <p:cNvPr id="21" name="Text 19"/>
          <p:cNvSpPr/>
          <p:nvPr/>
        </p:nvSpPr>
        <p:spPr>
          <a:xfrm>
            <a:off x="2029968" y="2075688"/>
            <a:ext cx="868680" cy="146304"/>
          </a:xfrm>
          <a:prstGeom prst="rect">
            <a:avLst/>
          </a:prstGeom>
          <a:noFill/>
          <a:ln/>
        </p:spPr>
        <p:txBody>
          <a:bodyPr wrap="square" lIns="0" tIns="0" rIns="0" bIns="0" rtlCol="0" anchor="ctr"/>
          <a:lstStyle/>
          <a:p>
            <a:pPr algn="ctr" indent="0" marL="0">
              <a:buNone/>
            </a:pPr>
            <a:r>
              <a:rPr lang="en-US" sz="1000" b="1" dirty="0">
                <a:solidFill>
                  <a:srgbClr val="EAA31A"/>
                </a:solidFill>
              </a:rPr>
              <a:t>Verdict: revise</a:t>
            </a:r>
            <a:endParaRPr lang="en-US" sz="1000" dirty="0"/>
          </a:p>
        </p:txBody>
      </p:sp>
      <p:sp>
        <p:nvSpPr>
          <p:cNvPr id="22" name="Shape 20"/>
          <p:cNvSpPr/>
          <p:nvPr/>
        </p:nvSpPr>
        <p:spPr>
          <a:xfrm>
            <a:off x="1847088" y="2340864"/>
            <a:ext cx="1965960" cy="822960"/>
          </a:xfrm>
          <a:prstGeom prst="roundRect">
            <a:avLst>
              <a:gd name="adj" fmla="val 8889"/>
            </a:avLst>
          </a:prstGeom>
          <a:solidFill>
            <a:srgbClr val="F3F5F8"/>
          </a:solidFill>
          <a:ln w="12700">
            <a:solidFill>
              <a:srgbClr val="D7DEE7"/>
            </a:solidFill>
            <a:prstDash val="solid"/>
          </a:ln>
        </p:spPr>
      </p:sp>
      <p:sp>
        <p:nvSpPr>
          <p:cNvPr id="23" name="Shape 21"/>
          <p:cNvSpPr/>
          <p:nvPr/>
        </p:nvSpPr>
        <p:spPr>
          <a:xfrm>
            <a:off x="1847088" y="2340864"/>
            <a:ext cx="1965960" cy="219456"/>
          </a:xfrm>
          <a:prstGeom prst="rect">
            <a:avLst/>
          </a:prstGeom>
          <a:solidFill>
            <a:srgbClr val="EEF2F7"/>
          </a:solidFill>
          <a:ln w="12700">
            <a:solidFill>
              <a:srgbClr val="D7DEE7"/>
            </a:solidFill>
            <a:prstDash val="solid"/>
          </a:ln>
        </p:spPr>
      </p:sp>
      <p:sp>
        <p:nvSpPr>
          <p:cNvPr id="24" name="Text 22"/>
          <p:cNvSpPr/>
          <p:nvPr/>
        </p:nvSpPr>
        <p:spPr>
          <a:xfrm>
            <a:off x="1956816" y="2395728"/>
            <a:ext cx="1746504" cy="91440"/>
          </a:xfrm>
          <a:prstGeom prst="rect">
            <a:avLst/>
          </a:prstGeom>
          <a:noFill/>
          <a:ln/>
        </p:spPr>
        <p:txBody>
          <a:bodyPr wrap="square" lIns="0" tIns="0" rIns="0" bIns="0" rtlCol="0" anchor="ctr"/>
          <a:lstStyle/>
          <a:p>
            <a:pPr indent="0" marL="0">
              <a:buNone/>
            </a:pPr>
            <a:r>
              <a:rPr lang="en-US" sz="920" b="1" dirty="0">
                <a:solidFill>
                  <a:srgbClr val="19212B"/>
                </a:solidFill>
              </a:rPr>
              <a:t>Scorecards</a:t>
            </a:r>
            <a:endParaRPr lang="en-US" sz="920" dirty="0"/>
          </a:p>
        </p:txBody>
      </p:sp>
      <p:sp>
        <p:nvSpPr>
          <p:cNvPr id="25" name="Text 23"/>
          <p:cNvSpPr/>
          <p:nvPr/>
        </p:nvSpPr>
        <p:spPr>
          <a:xfrm>
            <a:off x="1956816" y="2679192"/>
            <a:ext cx="1746504" cy="146304"/>
          </a:xfrm>
          <a:prstGeom prst="rect">
            <a:avLst/>
          </a:prstGeom>
          <a:noFill/>
          <a:ln/>
        </p:spPr>
        <p:txBody>
          <a:bodyPr wrap="square" lIns="0" tIns="0" rIns="0" bIns="0" rtlCol="0" anchor="ctr"/>
          <a:lstStyle/>
          <a:p>
            <a:pPr algn="ctr" indent="0" marL="0">
              <a:buNone/>
            </a:pPr>
            <a:r>
              <a:rPr lang="en-US" sz="1000" dirty="0">
                <a:solidFill>
                  <a:srgbClr val="5D6B7B"/>
                </a:solidFill>
              </a:rPr>
              <a:t>Overall quality</a:t>
            </a:r>
            <a:endParaRPr lang="en-US" sz="1000" dirty="0"/>
          </a:p>
          <a:p>
            <a:pPr algn="ctr" indent="0" marL="0">
              <a:buNone/>
            </a:pPr>
            <a:r>
              <a:rPr lang="en-US" sz="1000" dirty="0">
                <a:solidFill>
                  <a:srgbClr val="5D6B7B"/>
                </a:solidFill>
              </a:rPr>
              <a:t>Safety</a:t>
            </a:r>
            <a:endParaRPr lang="en-US" sz="1000" dirty="0"/>
          </a:p>
          <a:p>
            <a:pPr algn="ctr" indent="0" marL="0">
              <a:buNone/>
            </a:pPr>
            <a:r>
              <a:rPr lang="en-US" sz="1000" dirty="0">
                <a:solidFill>
                  <a:srgbClr val="5D6B7B"/>
                </a:solidFill>
              </a:rPr>
              <a:t>Reliability</a:t>
            </a:r>
            <a:endParaRPr lang="en-US" sz="1000" dirty="0"/>
          </a:p>
        </p:txBody>
      </p:sp>
      <p:sp>
        <p:nvSpPr>
          <p:cNvPr id="26" name="Shape 24"/>
          <p:cNvSpPr/>
          <p:nvPr/>
        </p:nvSpPr>
        <p:spPr>
          <a:xfrm>
            <a:off x="3950208" y="2340864"/>
            <a:ext cx="1965960" cy="822960"/>
          </a:xfrm>
          <a:prstGeom prst="roundRect">
            <a:avLst>
              <a:gd name="adj" fmla="val 8889"/>
            </a:avLst>
          </a:prstGeom>
          <a:solidFill>
            <a:srgbClr val="F3F5F8"/>
          </a:solidFill>
          <a:ln w="12700">
            <a:solidFill>
              <a:srgbClr val="D7DEE7"/>
            </a:solidFill>
            <a:prstDash val="solid"/>
          </a:ln>
        </p:spPr>
      </p:sp>
      <p:sp>
        <p:nvSpPr>
          <p:cNvPr id="27" name="Shape 25"/>
          <p:cNvSpPr/>
          <p:nvPr/>
        </p:nvSpPr>
        <p:spPr>
          <a:xfrm>
            <a:off x="3950208" y="2340864"/>
            <a:ext cx="1965960" cy="219456"/>
          </a:xfrm>
          <a:prstGeom prst="rect">
            <a:avLst/>
          </a:prstGeom>
          <a:solidFill>
            <a:srgbClr val="EEF2F7"/>
          </a:solidFill>
          <a:ln w="12700">
            <a:solidFill>
              <a:srgbClr val="D7DEE7"/>
            </a:solidFill>
            <a:prstDash val="solid"/>
          </a:ln>
        </p:spPr>
      </p:sp>
      <p:sp>
        <p:nvSpPr>
          <p:cNvPr id="28" name="Text 26"/>
          <p:cNvSpPr/>
          <p:nvPr/>
        </p:nvSpPr>
        <p:spPr>
          <a:xfrm>
            <a:off x="4059936" y="2395728"/>
            <a:ext cx="1746504" cy="91440"/>
          </a:xfrm>
          <a:prstGeom prst="rect">
            <a:avLst/>
          </a:prstGeom>
          <a:noFill/>
          <a:ln/>
        </p:spPr>
        <p:txBody>
          <a:bodyPr wrap="square" lIns="0" tIns="0" rIns="0" bIns="0" rtlCol="0" anchor="ctr"/>
          <a:lstStyle/>
          <a:p>
            <a:pPr indent="0" marL="0">
              <a:buNone/>
            </a:pPr>
            <a:r>
              <a:rPr lang="en-US" sz="920" b="1" dirty="0">
                <a:solidFill>
                  <a:srgbClr val="19212B"/>
                </a:solidFill>
              </a:rPr>
              <a:t>Coverage</a:t>
            </a:r>
            <a:endParaRPr lang="en-US" sz="920" dirty="0"/>
          </a:p>
        </p:txBody>
      </p:sp>
      <p:sp>
        <p:nvSpPr>
          <p:cNvPr id="29" name="Text 27"/>
          <p:cNvSpPr/>
          <p:nvPr/>
        </p:nvSpPr>
        <p:spPr>
          <a:xfrm>
            <a:off x="4059936" y="2679192"/>
            <a:ext cx="1746504" cy="146304"/>
          </a:xfrm>
          <a:prstGeom prst="rect">
            <a:avLst/>
          </a:prstGeom>
          <a:noFill/>
          <a:ln/>
        </p:spPr>
        <p:txBody>
          <a:bodyPr wrap="square" lIns="0" tIns="0" rIns="0" bIns="0" rtlCol="0" anchor="ctr"/>
          <a:lstStyle/>
          <a:p>
            <a:pPr algn="ctr" indent="0" marL="0">
              <a:buNone/>
            </a:pPr>
            <a:r>
              <a:rPr lang="en-US" sz="1000" dirty="0">
                <a:solidFill>
                  <a:srgbClr val="5D6B7B"/>
                </a:solidFill>
              </a:rPr>
              <a:t>Scenario coverage</a:t>
            </a:r>
            <a:endParaRPr lang="en-US" sz="1000" dirty="0"/>
          </a:p>
          <a:p>
            <a:pPr algn="ctr" indent="0" marL="0">
              <a:buNone/>
            </a:pPr>
            <a:r>
              <a:rPr lang="en-US" sz="1000" dirty="0">
                <a:solidFill>
                  <a:srgbClr val="5D6B7B"/>
                </a:solidFill>
              </a:rPr>
              <a:t>Adversarial tests</a:t>
            </a:r>
            <a:endParaRPr lang="en-US" sz="1000" dirty="0"/>
          </a:p>
        </p:txBody>
      </p:sp>
      <p:sp>
        <p:nvSpPr>
          <p:cNvPr id="30" name="Shape 28"/>
          <p:cNvSpPr/>
          <p:nvPr/>
        </p:nvSpPr>
        <p:spPr>
          <a:xfrm>
            <a:off x="6053328" y="2340864"/>
            <a:ext cx="1783080" cy="822960"/>
          </a:xfrm>
          <a:prstGeom prst="roundRect">
            <a:avLst>
              <a:gd name="adj" fmla="val 8889"/>
            </a:avLst>
          </a:prstGeom>
          <a:solidFill>
            <a:srgbClr val="F3F5F8"/>
          </a:solidFill>
          <a:ln w="12700">
            <a:solidFill>
              <a:srgbClr val="D7DEE7"/>
            </a:solidFill>
            <a:prstDash val="solid"/>
          </a:ln>
        </p:spPr>
      </p:sp>
      <p:sp>
        <p:nvSpPr>
          <p:cNvPr id="31" name="Shape 29"/>
          <p:cNvSpPr/>
          <p:nvPr/>
        </p:nvSpPr>
        <p:spPr>
          <a:xfrm>
            <a:off x="6053328" y="2340864"/>
            <a:ext cx="1783080" cy="219456"/>
          </a:xfrm>
          <a:prstGeom prst="rect">
            <a:avLst/>
          </a:prstGeom>
          <a:solidFill>
            <a:srgbClr val="EEF2F7"/>
          </a:solidFill>
          <a:ln w="12700">
            <a:solidFill>
              <a:srgbClr val="D7DEE7"/>
            </a:solidFill>
            <a:prstDash val="solid"/>
          </a:ln>
        </p:spPr>
      </p:sp>
      <p:sp>
        <p:nvSpPr>
          <p:cNvPr id="32" name="Text 30"/>
          <p:cNvSpPr/>
          <p:nvPr/>
        </p:nvSpPr>
        <p:spPr>
          <a:xfrm>
            <a:off x="6163056" y="2395728"/>
            <a:ext cx="1563624" cy="91440"/>
          </a:xfrm>
          <a:prstGeom prst="rect">
            <a:avLst/>
          </a:prstGeom>
          <a:noFill/>
          <a:ln/>
        </p:spPr>
        <p:txBody>
          <a:bodyPr wrap="square" lIns="0" tIns="0" rIns="0" bIns="0" rtlCol="0" anchor="ctr"/>
          <a:lstStyle/>
          <a:p>
            <a:pPr indent="0" marL="0">
              <a:buNone/>
            </a:pPr>
            <a:r>
              <a:rPr lang="en-US" sz="920" b="1" dirty="0">
                <a:solidFill>
                  <a:srgbClr val="19212B"/>
                </a:solidFill>
              </a:rPr>
              <a:t>Decision</a:t>
            </a:r>
            <a:endParaRPr lang="en-US" sz="920" dirty="0"/>
          </a:p>
        </p:txBody>
      </p:sp>
      <p:sp>
        <p:nvSpPr>
          <p:cNvPr id="33" name="Text 31"/>
          <p:cNvSpPr/>
          <p:nvPr/>
        </p:nvSpPr>
        <p:spPr>
          <a:xfrm>
            <a:off x="6163056" y="2679192"/>
            <a:ext cx="1563624" cy="146304"/>
          </a:xfrm>
          <a:prstGeom prst="rect">
            <a:avLst/>
          </a:prstGeom>
          <a:noFill/>
          <a:ln/>
        </p:spPr>
        <p:txBody>
          <a:bodyPr wrap="square" lIns="0" tIns="0" rIns="0" bIns="0" rtlCol="0" anchor="ctr"/>
          <a:lstStyle/>
          <a:p>
            <a:pPr algn="ctr" indent="0" marL="0">
              <a:buNone/>
            </a:pPr>
            <a:r>
              <a:rPr lang="en-US" sz="1000" dirty="0">
                <a:solidFill>
                  <a:srgbClr val="5D6B7B"/>
                </a:solidFill>
              </a:rPr>
              <a:t>Release recommendation</a:t>
            </a:r>
            <a:endParaRPr lang="en-US" sz="1000" dirty="0"/>
          </a:p>
        </p:txBody>
      </p:sp>
      <p:sp>
        <p:nvSpPr>
          <p:cNvPr id="34" name="Shape 32"/>
          <p:cNvSpPr/>
          <p:nvPr/>
        </p:nvSpPr>
        <p:spPr>
          <a:xfrm>
            <a:off x="1847088" y="3346704"/>
            <a:ext cx="2907792" cy="1755648"/>
          </a:xfrm>
          <a:prstGeom prst="roundRect">
            <a:avLst>
              <a:gd name="adj" fmla="val 4167"/>
            </a:avLst>
          </a:prstGeom>
          <a:solidFill>
            <a:srgbClr val="F3F5F8"/>
          </a:solidFill>
          <a:ln w="12700">
            <a:solidFill>
              <a:srgbClr val="D7DEE7"/>
            </a:solidFill>
            <a:prstDash val="solid"/>
          </a:ln>
        </p:spPr>
      </p:sp>
      <p:sp>
        <p:nvSpPr>
          <p:cNvPr id="35" name="Shape 33"/>
          <p:cNvSpPr/>
          <p:nvPr/>
        </p:nvSpPr>
        <p:spPr>
          <a:xfrm>
            <a:off x="1847088" y="3346704"/>
            <a:ext cx="2907792" cy="219456"/>
          </a:xfrm>
          <a:prstGeom prst="rect">
            <a:avLst/>
          </a:prstGeom>
          <a:solidFill>
            <a:srgbClr val="EEF2F7"/>
          </a:solidFill>
          <a:ln w="12700">
            <a:solidFill>
              <a:srgbClr val="D7DEE7"/>
            </a:solidFill>
            <a:prstDash val="solid"/>
          </a:ln>
        </p:spPr>
      </p:sp>
      <p:sp>
        <p:nvSpPr>
          <p:cNvPr id="36" name="Text 34"/>
          <p:cNvSpPr/>
          <p:nvPr/>
        </p:nvSpPr>
        <p:spPr>
          <a:xfrm>
            <a:off x="1956816" y="3401568"/>
            <a:ext cx="2688336" cy="91440"/>
          </a:xfrm>
          <a:prstGeom prst="rect">
            <a:avLst/>
          </a:prstGeom>
          <a:noFill/>
          <a:ln/>
        </p:spPr>
        <p:txBody>
          <a:bodyPr wrap="square" lIns="0" tIns="0" rIns="0" bIns="0" rtlCol="0" anchor="ctr"/>
          <a:lstStyle/>
          <a:p>
            <a:pPr indent="0" marL="0">
              <a:buNone/>
            </a:pPr>
            <a:r>
              <a:rPr lang="en-US" sz="920" b="1" dirty="0">
                <a:solidFill>
                  <a:srgbClr val="19212B"/>
                </a:solidFill>
              </a:rPr>
              <a:t>Weakness map</a:t>
            </a:r>
            <a:endParaRPr lang="en-US" sz="920" dirty="0"/>
          </a:p>
        </p:txBody>
      </p:sp>
      <p:sp>
        <p:nvSpPr>
          <p:cNvPr id="37" name="Text 35"/>
          <p:cNvSpPr/>
          <p:nvPr/>
        </p:nvSpPr>
        <p:spPr>
          <a:xfrm>
            <a:off x="1956816" y="4151376"/>
            <a:ext cx="2688336" cy="146304"/>
          </a:xfrm>
          <a:prstGeom prst="rect">
            <a:avLst/>
          </a:prstGeom>
          <a:noFill/>
          <a:ln/>
        </p:spPr>
        <p:txBody>
          <a:bodyPr wrap="square" lIns="0" tIns="0" rIns="0" bIns="0" rtlCol="0" anchor="ctr"/>
          <a:lstStyle/>
          <a:p>
            <a:pPr algn="ctr" indent="0" marL="0">
              <a:buNone/>
            </a:pPr>
            <a:r>
              <a:rPr lang="en-US" sz="1000" dirty="0">
                <a:solidFill>
                  <a:srgbClr val="5D6B7B"/>
                </a:solidFill>
              </a:rPr>
              <a:t>Failure heatmap / severity grid</a:t>
            </a:r>
            <a:endParaRPr lang="en-US" sz="1000" dirty="0"/>
          </a:p>
        </p:txBody>
      </p:sp>
      <p:sp>
        <p:nvSpPr>
          <p:cNvPr id="38" name="Shape 36"/>
          <p:cNvSpPr/>
          <p:nvPr/>
        </p:nvSpPr>
        <p:spPr>
          <a:xfrm>
            <a:off x="4956048" y="3346704"/>
            <a:ext cx="2880360" cy="768096"/>
          </a:xfrm>
          <a:prstGeom prst="roundRect">
            <a:avLst>
              <a:gd name="adj" fmla="val 9524"/>
            </a:avLst>
          </a:prstGeom>
          <a:solidFill>
            <a:srgbClr val="F3F5F8"/>
          </a:solidFill>
          <a:ln w="12700">
            <a:solidFill>
              <a:srgbClr val="D7DEE7"/>
            </a:solidFill>
            <a:prstDash val="solid"/>
          </a:ln>
        </p:spPr>
      </p:sp>
      <p:sp>
        <p:nvSpPr>
          <p:cNvPr id="39" name="Shape 37"/>
          <p:cNvSpPr/>
          <p:nvPr/>
        </p:nvSpPr>
        <p:spPr>
          <a:xfrm>
            <a:off x="4956048" y="3346704"/>
            <a:ext cx="2880360" cy="219456"/>
          </a:xfrm>
          <a:prstGeom prst="rect">
            <a:avLst/>
          </a:prstGeom>
          <a:solidFill>
            <a:srgbClr val="EEF2F7"/>
          </a:solidFill>
          <a:ln w="12700">
            <a:solidFill>
              <a:srgbClr val="D7DEE7"/>
            </a:solidFill>
            <a:prstDash val="solid"/>
          </a:ln>
        </p:spPr>
      </p:sp>
      <p:sp>
        <p:nvSpPr>
          <p:cNvPr id="40" name="Text 38"/>
          <p:cNvSpPr/>
          <p:nvPr/>
        </p:nvSpPr>
        <p:spPr>
          <a:xfrm>
            <a:off x="5065776" y="3401568"/>
            <a:ext cx="2660904" cy="91440"/>
          </a:xfrm>
          <a:prstGeom prst="rect">
            <a:avLst/>
          </a:prstGeom>
          <a:noFill/>
          <a:ln/>
        </p:spPr>
        <p:txBody>
          <a:bodyPr wrap="square" lIns="0" tIns="0" rIns="0" bIns="0" rtlCol="0" anchor="ctr"/>
          <a:lstStyle/>
          <a:p>
            <a:pPr indent="0" marL="0">
              <a:buNone/>
            </a:pPr>
            <a:r>
              <a:rPr lang="en-US" sz="920" b="1" dirty="0">
                <a:solidFill>
                  <a:srgbClr val="19212B"/>
                </a:solidFill>
              </a:rPr>
              <a:t>Patterns</a:t>
            </a:r>
            <a:endParaRPr lang="en-US" sz="920" dirty="0"/>
          </a:p>
        </p:txBody>
      </p:sp>
      <p:sp>
        <p:nvSpPr>
          <p:cNvPr id="41" name="Text 39"/>
          <p:cNvSpPr/>
          <p:nvPr/>
        </p:nvSpPr>
        <p:spPr>
          <a:xfrm>
            <a:off x="5065776" y="3657600"/>
            <a:ext cx="2660904" cy="146304"/>
          </a:xfrm>
          <a:prstGeom prst="rect">
            <a:avLst/>
          </a:prstGeom>
          <a:noFill/>
          <a:ln/>
        </p:spPr>
        <p:txBody>
          <a:bodyPr wrap="square" lIns="0" tIns="0" rIns="0" bIns="0" rtlCol="0" anchor="ctr"/>
          <a:lstStyle/>
          <a:p>
            <a:pPr algn="ctr" indent="0" marL="0">
              <a:buNone/>
            </a:pPr>
            <a:r>
              <a:rPr lang="en-US" sz="1000" dirty="0">
                <a:solidFill>
                  <a:srgbClr val="5D6B7B"/>
                </a:solidFill>
              </a:rPr>
              <a:t>Top failure clusters</a:t>
            </a:r>
            <a:endParaRPr lang="en-US" sz="1000" dirty="0"/>
          </a:p>
        </p:txBody>
      </p:sp>
      <p:sp>
        <p:nvSpPr>
          <p:cNvPr id="42" name="Shape 40"/>
          <p:cNvSpPr/>
          <p:nvPr/>
        </p:nvSpPr>
        <p:spPr>
          <a:xfrm>
            <a:off x="4956048" y="4261104"/>
            <a:ext cx="2880360" cy="841248"/>
          </a:xfrm>
          <a:prstGeom prst="roundRect">
            <a:avLst>
              <a:gd name="adj" fmla="val 8696"/>
            </a:avLst>
          </a:prstGeom>
          <a:solidFill>
            <a:srgbClr val="F3F5F8"/>
          </a:solidFill>
          <a:ln w="12700">
            <a:solidFill>
              <a:srgbClr val="D7DEE7"/>
            </a:solidFill>
            <a:prstDash val="solid"/>
          </a:ln>
        </p:spPr>
      </p:sp>
      <p:sp>
        <p:nvSpPr>
          <p:cNvPr id="43" name="Shape 41"/>
          <p:cNvSpPr/>
          <p:nvPr/>
        </p:nvSpPr>
        <p:spPr>
          <a:xfrm>
            <a:off x="4956048" y="4261104"/>
            <a:ext cx="2880360" cy="219456"/>
          </a:xfrm>
          <a:prstGeom prst="rect">
            <a:avLst/>
          </a:prstGeom>
          <a:solidFill>
            <a:srgbClr val="EEF2F7"/>
          </a:solidFill>
          <a:ln w="12700">
            <a:solidFill>
              <a:srgbClr val="D7DEE7"/>
            </a:solidFill>
            <a:prstDash val="solid"/>
          </a:ln>
        </p:spPr>
      </p:sp>
      <p:sp>
        <p:nvSpPr>
          <p:cNvPr id="44" name="Text 42"/>
          <p:cNvSpPr/>
          <p:nvPr/>
        </p:nvSpPr>
        <p:spPr>
          <a:xfrm>
            <a:off x="5065776" y="4315968"/>
            <a:ext cx="2660904" cy="91440"/>
          </a:xfrm>
          <a:prstGeom prst="rect">
            <a:avLst/>
          </a:prstGeom>
          <a:noFill/>
          <a:ln/>
        </p:spPr>
        <p:txBody>
          <a:bodyPr wrap="square" lIns="0" tIns="0" rIns="0" bIns="0" rtlCol="0" anchor="ctr"/>
          <a:lstStyle/>
          <a:p>
            <a:pPr indent="0" marL="0">
              <a:buNone/>
            </a:pPr>
            <a:r>
              <a:rPr lang="en-US" sz="920" b="1" dirty="0">
                <a:solidFill>
                  <a:srgbClr val="19212B"/>
                </a:solidFill>
              </a:rPr>
              <a:t>Next actions</a:t>
            </a:r>
            <a:endParaRPr lang="en-US" sz="920" dirty="0"/>
          </a:p>
        </p:txBody>
      </p:sp>
      <p:sp>
        <p:nvSpPr>
          <p:cNvPr id="45" name="Text 43"/>
          <p:cNvSpPr/>
          <p:nvPr/>
        </p:nvSpPr>
        <p:spPr>
          <a:xfrm>
            <a:off x="5065776" y="4608576"/>
            <a:ext cx="2660904" cy="146304"/>
          </a:xfrm>
          <a:prstGeom prst="rect">
            <a:avLst/>
          </a:prstGeom>
          <a:noFill/>
          <a:ln/>
        </p:spPr>
        <p:txBody>
          <a:bodyPr wrap="square" lIns="0" tIns="0" rIns="0" bIns="0" rtlCol="0" anchor="ctr"/>
          <a:lstStyle/>
          <a:p>
            <a:pPr algn="ctr" indent="0" marL="0">
              <a:buNone/>
            </a:pPr>
            <a:r>
              <a:rPr lang="en-US" sz="1000" dirty="0">
                <a:solidFill>
                  <a:srgbClr val="5D6B7B"/>
                </a:solidFill>
              </a:rPr>
              <a:t>Recommended remediations</a:t>
            </a:r>
            <a:endParaRPr lang="en-US" sz="1000" dirty="0"/>
          </a:p>
        </p:txBody>
      </p:sp>
      <p:sp>
        <p:nvSpPr>
          <p:cNvPr id="46" name="Shape 44"/>
          <p:cNvSpPr/>
          <p:nvPr/>
        </p:nvSpPr>
        <p:spPr>
          <a:xfrm>
            <a:off x="8823960" y="1645920"/>
            <a:ext cx="2697480" cy="1051560"/>
          </a:xfrm>
          <a:prstGeom prst="roundRect">
            <a:avLst>
              <a:gd name="adj" fmla="val 6957"/>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47" name="Text 45"/>
          <p:cNvSpPr/>
          <p:nvPr/>
        </p:nvSpPr>
        <p:spPr>
          <a:xfrm>
            <a:off x="8933688" y="1728216"/>
            <a:ext cx="2478024" cy="128016"/>
          </a:xfrm>
          <a:prstGeom prst="rect">
            <a:avLst/>
          </a:prstGeom>
          <a:noFill/>
          <a:ln/>
        </p:spPr>
        <p:txBody>
          <a:bodyPr wrap="square" lIns="0" tIns="0" rIns="0" bIns="0" rtlCol="0" anchor="ctr"/>
          <a:lstStyle/>
          <a:p>
            <a:pPr indent="0" marL="0">
              <a:buNone/>
            </a:pPr>
            <a:r>
              <a:rPr lang="en-US" sz="1100" b="1" dirty="0">
                <a:solidFill>
                  <a:srgbClr val="2F6BFF"/>
                </a:solidFill>
              </a:rPr>
              <a:t>Three-layer review</a:t>
            </a:r>
            <a:endParaRPr lang="en-US" sz="1100" dirty="0"/>
          </a:p>
        </p:txBody>
      </p:sp>
      <p:sp>
        <p:nvSpPr>
          <p:cNvPr id="48" name="Text 46"/>
          <p:cNvSpPr/>
          <p:nvPr/>
        </p:nvSpPr>
        <p:spPr>
          <a:xfrm>
            <a:off x="8933688" y="1892808"/>
            <a:ext cx="2478024" cy="740664"/>
          </a:xfrm>
          <a:prstGeom prst="rect">
            <a:avLst/>
          </a:prstGeom>
          <a:noFill/>
          <a:ln/>
        </p:spPr>
        <p:txBody>
          <a:bodyPr wrap="square" lIns="0" tIns="0" rIns="0" bIns="0" rtlCol="0" anchor="t"/>
          <a:lstStyle/>
          <a:p>
            <a:pPr indent="0" marL="0">
              <a:buNone/>
            </a:pPr>
            <a:r>
              <a:rPr lang="en-US" sz="960" dirty="0">
                <a:solidFill>
                  <a:srgbClr val="5D6B7B"/>
                </a:solidFill>
              </a:rPr>
              <a:t>1) summary verdict, 2) grouped failures, 3) raw evidence. This keeps the screen useful for both executives and engineers.</a:t>
            </a:r>
            <a:endParaRPr lang="en-US" sz="960" dirty="0"/>
          </a:p>
        </p:txBody>
      </p:sp>
      <p:sp>
        <p:nvSpPr>
          <p:cNvPr id="49" name="Shape 47"/>
          <p:cNvSpPr/>
          <p:nvPr/>
        </p:nvSpPr>
        <p:spPr>
          <a:xfrm>
            <a:off x="8823960" y="2880360"/>
            <a:ext cx="2697480" cy="1051560"/>
          </a:xfrm>
          <a:prstGeom prst="roundRect">
            <a:avLst>
              <a:gd name="adj" fmla="val 6957"/>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50" name="Text 48"/>
          <p:cNvSpPr/>
          <p:nvPr/>
        </p:nvSpPr>
        <p:spPr>
          <a:xfrm>
            <a:off x="8933688" y="2962656"/>
            <a:ext cx="2478024" cy="128016"/>
          </a:xfrm>
          <a:prstGeom prst="rect">
            <a:avLst/>
          </a:prstGeom>
          <a:noFill/>
          <a:ln/>
        </p:spPr>
        <p:txBody>
          <a:bodyPr wrap="square" lIns="0" tIns="0" rIns="0" bIns="0" rtlCol="0" anchor="ctr"/>
          <a:lstStyle/>
          <a:p>
            <a:pPr indent="0" marL="0">
              <a:buNone/>
            </a:pPr>
            <a:r>
              <a:rPr lang="en-US" sz="1100" b="1" dirty="0">
                <a:solidFill>
                  <a:srgbClr val="2F6BFF"/>
                </a:solidFill>
              </a:rPr>
              <a:t>Release-safe behavior</a:t>
            </a:r>
            <a:endParaRPr lang="en-US" sz="1100" dirty="0"/>
          </a:p>
        </p:txBody>
      </p:sp>
      <p:sp>
        <p:nvSpPr>
          <p:cNvPr id="51" name="Text 49"/>
          <p:cNvSpPr/>
          <p:nvPr/>
        </p:nvSpPr>
        <p:spPr>
          <a:xfrm>
            <a:off x="8933688" y="3127248"/>
            <a:ext cx="2478024" cy="740664"/>
          </a:xfrm>
          <a:prstGeom prst="rect">
            <a:avLst/>
          </a:prstGeom>
          <a:noFill/>
          <a:ln/>
        </p:spPr>
        <p:txBody>
          <a:bodyPr wrap="square" lIns="0" tIns="0" rIns="0" bIns="0" rtlCol="0" anchor="t"/>
          <a:lstStyle/>
          <a:p>
            <a:pPr indent="0" marL="0">
              <a:buNone/>
            </a:pPr>
            <a:r>
              <a:rPr lang="en-US" sz="960" dirty="0">
                <a:solidFill>
                  <a:srgbClr val="5D6B7B"/>
                </a:solidFill>
              </a:rPr>
              <a:t>Never force a user to parse raw traces before understanding the headline. The recommendation block should state approve, revise, or block.</a:t>
            </a:r>
            <a:endParaRPr lang="en-US" sz="960" dirty="0"/>
          </a:p>
        </p:txBody>
      </p:sp>
      <p:sp>
        <p:nvSpPr>
          <p:cNvPr id="52" name="Shape 50"/>
          <p:cNvSpPr/>
          <p:nvPr/>
        </p:nvSpPr>
        <p:spPr>
          <a:xfrm>
            <a:off x="8823960" y="4114800"/>
            <a:ext cx="2697480" cy="1051560"/>
          </a:xfrm>
          <a:prstGeom prst="roundRect">
            <a:avLst>
              <a:gd name="adj" fmla="val 6957"/>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53" name="Text 51"/>
          <p:cNvSpPr/>
          <p:nvPr/>
        </p:nvSpPr>
        <p:spPr>
          <a:xfrm>
            <a:off x="8933688" y="4197096"/>
            <a:ext cx="2478024" cy="128016"/>
          </a:xfrm>
          <a:prstGeom prst="rect">
            <a:avLst/>
          </a:prstGeom>
          <a:noFill/>
          <a:ln/>
        </p:spPr>
        <p:txBody>
          <a:bodyPr wrap="square" lIns="0" tIns="0" rIns="0" bIns="0" rtlCol="0" anchor="ctr"/>
          <a:lstStyle/>
          <a:p>
            <a:pPr indent="0" marL="0">
              <a:buNone/>
            </a:pPr>
            <a:r>
              <a:rPr lang="en-US" sz="1100" b="1" dirty="0">
                <a:solidFill>
                  <a:srgbClr val="2F6BFF"/>
                </a:solidFill>
              </a:rPr>
              <a:t>Design detail</a:t>
            </a:r>
            <a:endParaRPr lang="en-US" sz="1100" dirty="0"/>
          </a:p>
        </p:txBody>
      </p:sp>
      <p:sp>
        <p:nvSpPr>
          <p:cNvPr id="54" name="Text 52"/>
          <p:cNvSpPr/>
          <p:nvPr/>
        </p:nvSpPr>
        <p:spPr>
          <a:xfrm>
            <a:off x="8933688" y="4361688"/>
            <a:ext cx="2478024" cy="740664"/>
          </a:xfrm>
          <a:prstGeom prst="rect">
            <a:avLst/>
          </a:prstGeom>
          <a:noFill/>
          <a:ln/>
        </p:spPr>
        <p:txBody>
          <a:bodyPr wrap="square" lIns="0" tIns="0" rIns="0" bIns="0" rtlCol="0" anchor="t"/>
          <a:lstStyle/>
          <a:p>
            <a:pPr indent="0" marL="0">
              <a:buNone/>
            </a:pPr>
            <a:r>
              <a:rPr lang="en-US" sz="960" dirty="0">
                <a:solidFill>
                  <a:srgbClr val="5D6B7B"/>
                </a:solidFill>
              </a:rPr>
              <a:t>Use color sparingly and semantically: green for verified, amber for caution, red for blocked or degraded.</a:t>
            </a:r>
            <a:endParaRPr lang="en-US" sz="960" dirty="0"/>
          </a:p>
        </p:txBody>
      </p:sp>
      <p:sp>
        <p:nvSpPr>
          <p:cNvPr id="55" name="Text 53"/>
          <p:cNvSpPr/>
          <p:nvPr/>
        </p:nvSpPr>
        <p:spPr>
          <a:xfrm>
            <a:off x="594360" y="6473952"/>
            <a:ext cx="4389120" cy="164592"/>
          </a:xfrm>
          <a:prstGeom prst="rect">
            <a:avLst/>
          </a:prstGeom>
          <a:noFill/>
          <a:ln/>
        </p:spPr>
        <p:txBody>
          <a:bodyPr wrap="square" lIns="0" tIns="0" rIns="0" bIns="0" rtlCol="0" anchor="ctr"/>
          <a:lstStyle/>
          <a:p>
            <a:pPr indent="0" marL="0">
              <a:buNone/>
            </a:pPr>
            <a:r>
              <a:rPr lang="en-US" sz="900" dirty="0">
                <a:solidFill>
                  <a:srgbClr val="7A8794"/>
                </a:solidFill>
              </a:rPr>
              <a:t>Agent Architect Pro — UX wireframe direction</a:t>
            </a:r>
            <a:endParaRPr lang="en-US" sz="900" dirty="0"/>
          </a:p>
        </p:txBody>
      </p:sp>
      <p:sp>
        <p:nvSpPr>
          <p:cNvPr id="56" name="Text 54"/>
          <p:cNvSpPr/>
          <p:nvPr/>
        </p:nvSpPr>
        <p:spPr>
          <a:xfrm>
            <a:off x="11292840" y="6437376"/>
            <a:ext cx="274320" cy="182880"/>
          </a:xfrm>
          <a:prstGeom prst="rect">
            <a:avLst/>
          </a:prstGeom>
          <a:noFill/>
          <a:ln/>
        </p:spPr>
        <p:txBody>
          <a:bodyPr wrap="square" lIns="0" tIns="0" rIns="0" bIns="0" rtlCol="0" anchor="ctr"/>
          <a:lstStyle/>
          <a:p>
            <a:pPr algn="r" indent="0" marL="0">
              <a:buNone/>
            </a:pPr>
            <a:r>
              <a:rPr lang="en-US" sz="1000" dirty="0">
                <a:solidFill>
                  <a:srgbClr val="7A8794"/>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0040"/>
            <a:ext cx="8046720" cy="384048"/>
          </a:xfrm>
          <a:prstGeom prst="rect">
            <a:avLst/>
          </a:prstGeom>
          <a:noFill/>
          <a:ln/>
        </p:spPr>
        <p:txBody>
          <a:bodyPr wrap="square" lIns="0" tIns="0" rIns="0" bIns="0" rtlCol="0" anchor="ctr"/>
          <a:lstStyle/>
          <a:p>
            <a:pPr indent="0" marL="0">
              <a:buNone/>
            </a:pPr>
            <a:r>
              <a:rPr lang="en-US" sz="2800" b="1" dirty="0">
                <a:solidFill>
                  <a:srgbClr val="19212B"/>
                </a:solidFill>
                <a:latin typeface="Aptos Display" pitchFamily="34" charset="0"/>
                <a:ea typeface="Aptos Display" pitchFamily="34" charset="-122"/>
                <a:cs typeface="Aptos Display" pitchFamily="34" charset="-120"/>
              </a:rPr>
              <a:t>Wireframe 05 — Release and runtime</a:t>
            </a:r>
            <a:endParaRPr lang="en-US" sz="2800" dirty="0"/>
          </a:p>
        </p:txBody>
      </p:sp>
      <p:sp>
        <p:nvSpPr>
          <p:cNvPr id="3" name="Text 1"/>
          <p:cNvSpPr/>
          <p:nvPr/>
        </p:nvSpPr>
        <p:spPr>
          <a:xfrm>
            <a:off x="594360" y="749808"/>
            <a:ext cx="9692640" cy="310896"/>
          </a:xfrm>
          <a:prstGeom prst="rect">
            <a:avLst/>
          </a:prstGeom>
          <a:noFill/>
          <a:ln/>
        </p:spPr>
        <p:txBody>
          <a:bodyPr wrap="square" lIns="0" tIns="0" rIns="0" bIns="0" rtlCol="0" anchor="ctr"/>
          <a:lstStyle/>
          <a:p>
            <a:pPr indent="0" marL="0">
              <a:buNone/>
            </a:pPr>
            <a:r>
              <a:rPr lang="en-US" sz="1250" dirty="0">
                <a:solidFill>
                  <a:srgbClr val="5D6B7B"/>
                </a:solidFill>
              </a:rPr>
              <a:t>Design and operations meet here: a controlled release surface on the left and a live runtime overview on the right.</a:t>
            </a:r>
            <a:endParaRPr lang="en-US" sz="1250" dirty="0"/>
          </a:p>
        </p:txBody>
      </p:sp>
      <p:sp>
        <p:nvSpPr>
          <p:cNvPr id="4" name="Shape 2"/>
          <p:cNvSpPr/>
          <p:nvPr/>
        </p:nvSpPr>
        <p:spPr>
          <a:xfrm>
            <a:off x="658368" y="1335024"/>
            <a:ext cx="5440680" cy="4937760"/>
          </a:xfrm>
          <a:prstGeom prst="roundRect">
            <a:avLst>
              <a:gd name="adj" fmla="val 2222"/>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5" name="Text 3"/>
          <p:cNvSpPr/>
          <p:nvPr/>
        </p:nvSpPr>
        <p:spPr>
          <a:xfrm>
            <a:off x="822960" y="1444752"/>
            <a:ext cx="5111496" cy="182880"/>
          </a:xfrm>
          <a:prstGeom prst="rect">
            <a:avLst/>
          </a:prstGeom>
          <a:noFill/>
          <a:ln/>
        </p:spPr>
        <p:txBody>
          <a:bodyPr wrap="square" lIns="0" tIns="0" rIns="0" bIns="0" rtlCol="0" anchor="ctr"/>
          <a:lstStyle/>
          <a:p>
            <a:pPr indent="0" marL="0">
              <a:buNone/>
            </a:pPr>
            <a:r>
              <a:rPr lang="en-US" sz="1200" b="1" dirty="0">
                <a:solidFill>
                  <a:srgbClr val="19212B"/>
                </a:solidFill>
              </a:rPr>
              <a:t>Release Center</a:t>
            </a:r>
            <a:endParaRPr lang="en-US" sz="1200" dirty="0"/>
          </a:p>
        </p:txBody>
      </p:sp>
      <p:sp>
        <p:nvSpPr>
          <p:cNvPr id="6" name="Shape 4"/>
          <p:cNvSpPr/>
          <p:nvPr/>
        </p:nvSpPr>
        <p:spPr>
          <a:xfrm>
            <a:off x="896112" y="1783080"/>
            <a:ext cx="1993392" cy="768096"/>
          </a:xfrm>
          <a:prstGeom prst="roundRect">
            <a:avLst>
              <a:gd name="adj" fmla="val 9524"/>
            </a:avLst>
          </a:prstGeom>
          <a:solidFill>
            <a:srgbClr val="F3F5F8"/>
          </a:solidFill>
          <a:ln w="12700">
            <a:solidFill>
              <a:srgbClr val="D7DEE7"/>
            </a:solidFill>
            <a:prstDash val="solid"/>
          </a:ln>
        </p:spPr>
      </p:sp>
      <p:sp>
        <p:nvSpPr>
          <p:cNvPr id="7" name="Shape 5"/>
          <p:cNvSpPr/>
          <p:nvPr/>
        </p:nvSpPr>
        <p:spPr>
          <a:xfrm>
            <a:off x="896112" y="1783080"/>
            <a:ext cx="1993392" cy="219456"/>
          </a:xfrm>
          <a:prstGeom prst="rect">
            <a:avLst/>
          </a:prstGeom>
          <a:solidFill>
            <a:srgbClr val="EEF2F7"/>
          </a:solidFill>
          <a:ln w="12700">
            <a:solidFill>
              <a:srgbClr val="D7DEE7"/>
            </a:solidFill>
            <a:prstDash val="solid"/>
          </a:ln>
        </p:spPr>
      </p:sp>
      <p:sp>
        <p:nvSpPr>
          <p:cNvPr id="8" name="Text 6"/>
          <p:cNvSpPr/>
          <p:nvPr/>
        </p:nvSpPr>
        <p:spPr>
          <a:xfrm>
            <a:off x="1005840" y="1837944"/>
            <a:ext cx="1773936" cy="91440"/>
          </a:xfrm>
          <a:prstGeom prst="rect">
            <a:avLst/>
          </a:prstGeom>
          <a:noFill/>
          <a:ln/>
        </p:spPr>
        <p:txBody>
          <a:bodyPr wrap="square" lIns="0" tIns="0" rIns="0" bIns="0" rtlCol="0" anchor="ctr"/>
          <a:lstStyle/>
          <a:p>
            <a:pPr indent="0" marL="0">
              <a:buNone/>
            </a:pPr>
            <a:r>
              <a:rPr lang="en-US" sz="920" b="1" dirty="0">
                <a:solidFill>
                  <a:srgbClr val="19212B"/>
                </a:solidFill>
              </a:rPr>
              <a:t>What changed</a:t>
            </a:r>
            <a:endParaRPr lang="en-US" sz="920" dirty="0"/>
          </a:p>
        </p:txBody>
      </p:sp>
      <p:sp>
        <p:nvSpPr>
          <p:cNvPr id="9" name="Text 7"/>
          <p:cNvSpPr/>
          <p:nvPr/>
        </p:nvSpPr>
        <p:spPr>
          <a:xfrm>
            <a:off x="1005840" y="2093976"/>
            <a:ext cx="1773936" cy="146304"/>
          </a:xfrm>
          <a:prstGeom prst="rect">
            <a:avLst/>
          </a:prstGeom>
          <a:noFill/>
          <a:ln/>
        </p:spPr>
        <p:txBody>
          <a:bodyPr wrap="square" lIns="0" tIns="0" rIns="0" bIns="0" rtlCol="0" anchor="ctr"/>
          <a:lstStyle/>
          <a:p>
            <a:pPr algn="ctr" indent="0" marL="0">
              <a:buNone/>
            </a:pPr>
            <a:r>
              <a:rPr lang="en-US" sz="1000" dirty="0">
                <a:solidFill>
                  <a:srgbClr val="5D6B7B"/>
                </a:solidFill>
              </a:rPr>
              <a:t>Version lineage + change summary</a:t>
            </a:r>
            <a:endParaRPr lang="en-US" sz="1000" dirty="0"/>
          </a:p>
        </p:txBody>
      </p:sp>
      <p:sp>
        <p:nvSpPr>
          <p:cNvPr id="10" name="Shape 8"/>
          <p:cNvSpPr/>
          <p:nvPr/>
        </p:nvSpPr>
        <p:spPr>
          <a:xfrm>
            <a:off x="3054096" y="1783080"/>
            <a:ext cx="1901952" cy="768096"/>
          </a:xfrm>
          <a:prstGeom prst="roundRect">
            <a:avLst>
              <a:gd name="adj" fmla="val 9524"/>
            </a:avLst>
          </a:prstGeom>
          <a:solidFill>
            <a:srgbClr val="F3F5F8"/>
          </a:solidFill>
          <a:ln w="12700">
            <a:solidFill>
              <a:srgbClr val="D7DEE7"/>
            </a:solidFill>
            <a:prstDash val="solid"/>
          </a:ln>
        </p:spPr>
      </p:sp>
      <p:sp>
        <p:nvSpPr>
          <p:cNvPr id="11" name="Shape 9"/>
          <p:cNvSpPr/>
          <p:nvPr/>
        </p:nvSpPr>
        <p:spPr>
          <a:xfrm>
            <a:off x="3054096" y="1783080"/>
            <a:ext cx="1901952" cy="219456"/>
          </a:xfrm>
          <a:prstGeom prst="rect">
            <a:avLst/>
          </a:prstGeom>
          <a:solidFill>
            <a:srgbClr val="EEF2F7"/>
          </a:solidFill>
          <a:ln w="12700">
            <a:solidFill>
              <a:srgbClr val="D7DEE7"/>
            </a:solidFill>
            <a:prstDash val="solid"/>
          </a:ln>
        </p:spPr>
      </p:sp>
      <p:sp>
        <p:nvSpPr>
          <p:cNvPr id="12" name="Text 10"/>
          <p:cNvSpPr/>
          <p:nvPr/>
        </p:nvSpPr>
        <p:spPr>
          <a:xfrm>
            <a:off x="3163824" y="1837944"/>
            <a:ext cx="1682496" cy="91440"/>
          </a:xfrm>
          <a:prstGeom prst="rect">
            <a:avLst/>
          </a:prstGeom>
          <a:noFill/>
          <a:ln/>
        </p:spPr>
        <p:txBody>
          <a:bodyPr wrap="square" lIns="0" tIns="0" rIns="0" bIns="0" rtlCol="0" anchor="ctr"/>
          <a:lstStyle/>
          <a:p>
            <a:pPr indent="0" marL="0">
              <a:buNone/>
            </a:pPr>
            <a:r>
              <a:rPr lang="en-US" sz="920" b="1" dirty="0">
                <a:solidFill>
                  <a:srgbClr val="19212B"/>
                </a:solidFill>
              </a:rPr>
              <a:t>Rollout</a:t>
            </a:r>
            <a:endParaRPr lang="en-US" sz="920" dirty="0"/>
          </a:p>
        </p:txBody>
      </p:sp>
      <p:sp>
        <p:nvSpPr>
          <p:cNvPr id="13" name="Text 11"/>
          <p:cNvSpPr/>
          <p:nvPr/>
        </p:nvSpPr>
        <p:spPr>
          <a:xfrm>
            <a:off x="3163824" y="2093976"/>
            <a:ext cx="1682496" cy="146304"/>
          </a:xfrm>
          <a:prstGeom prst="rect">
            <a:avLst/>
          </a:prstGeom>
          <a:noFill/>
          <a:ln/>
        </p:spPr>
        <p:txBody>
          <a:bodyPr wrap="square" lIns="0" tIns="0" rIns="0" bIns="0" rtlCol="0" anchor="ctr"/>
          <a:lstStyle/>
          <a:p>
            <a:pPr algn="ctr" indent="0" marL="0">
              <a:buNone/>
            </a:pPr>
            <a:r>
              <a:rPr lang="en-US" sz="1000" dirty="0">
                <a:solidFill>
                  <a:srgbClr val="5D6B7B"/>
                </a:solidFill>
              </a:rPr>
              <a:t>Canary plan + target env</a:t>
            </a:r>
            <a:endParaRPr lang="en-US" sz="1000" dirty="0"/>
          </a:p>
        </p:txBody>
      </p:sp>
      <p:sp>
        <p:nvSpPr>
          <p:cNvPr id="14" name="Shape 12"/>
          <p:cNvSpPr/>
          <p:nvPr/>
        </p:nvSpPr>
        <p:spPr>
          <a:xfrm>
            <a:off x="896112" y="2761488"/>
            <a:ext cx="4059936" cy="1042416"/>
          </a:xfrm>
          <a:prstGeom prst="roundRect">
            <a:avLst>
              <a:gd name="adj" fmla="val 7018"/>
            </a:avLst>
          </a:prstGeom>
          <a:solidFill>
            <a:srgbClr val="F3F5F8"/>
          </a:solidFill>
          <a:ln w="12700">
            <a:solidFill>
              <a:srgbClr val="D7DEE7"/>
            </a:solidFill>
            <a:prstDash val="solid"/>
          </a:ln>
        </p:spPr>
      </p:sp>
      <p:sp>
        <p:nvSpPr>
          <p:cNvPr id="15" name="Shape 13"/>
          <p:cNvSpPr/>
          <p:nvPr/>
        </p:nvSpPr>
        <p:spPr>
          <a:xfrm>
            <a:off x="896112" y="2761488"/>
            <a:ext cx="4059936" cy="219456"/>
          </a:xfrm>
          <a:prstGeom prst="rect">
            <a:avLst/>
          </a:prstGeom>
          <a:solidFill>
            <a:srgbClr val="EEF2F7"/>
          </a:solidFill>
          <a:ln w="12700">
            <a:solidFill>
              <a:srgbClr val="D7DEE7"/>
            </a:solidFill>
            <a:prstDash val="solid"/>
          </a:ln>
        </p:spPr>
      </p:sp>
      <p:sp>
        <p:nvSpPr>
          <p:cNvPr id="16" name="Text 14"/>
          <p:cNvSpPr/>
          <p:nvPr/>
        </p:nvSpPr>
        <p:spPr>
          <a:xfrm>
            <a:off x="1005840" y="2816352"/>
            <a:ext cx="3840480" cy="91440"/>
          </a:xfrm>
          <a:prstGeom prst="rect">
            <a:avLst/>
          </a:prstGeom>
          <a:noFill/>
          <a:ln/>
        </p:spPr>
        <p:txBody>
          <a:bodyPr wrap="square" lIns="0" tIns="0" rIns="0" bIns="0" rtlCol="0" anchor="ctr"/>
          <a:lstStyle/>
          <a:p>
            <a:pPr indent="0" marL="0">
              <a:buNone/>
            </a:pPr>
            <a:r>
              <a:rPr lang="en-US" sz="920" b="1" dirty="0">
                <a:solidFill>
                  <a:srgbClr val="19212B"/>
                </a:solidFill>
              </a:rPr>
              <a:t>Approval checklist</a:t>
            </a:r>
            <a:endParaRPr lang="en-US" sz="920" dirty="0"/>
          </a:p>
        </p:txBody>
      </p:sp>
      <p:sp>
        <p:nvSpPr>
          <p:cNvPr id="17" name="Text 15"/>
          <p:cNvSpPr/>
          <p:nvPr/>
        </p:nvSpPr>
        <p:spPr>
          <a:xfrm>
            <a:off x="1005840" y="3209544"/>
            <a:ext cx="3840480" cy="146304"/>
          </a:xfrm>
          <a:prstGeom prst="rect">
            <a:avLst/>
          </a:prstGeom>
          <a:noFill/>
          <a:ln/>
        </p:spPr>
        <p:txBody>
          <a:bodyPr wrap="square" lIns="0" tIns="0" rIns="0" bIns="0" rtlCol="0" anchor="ctr"/>
          <a:lstStyle/>
          <a:p>
            <a:pPr algn="ctr" indent="0" marL="0">
              <a:buNone/>
            </a:pPr>
            <a:r>
              <a:rPr lang="en-US" sz="1000" dirty="0">
                <a:solidFill>
                  <a:srgbClr val="5D6B7B"/>
                </a:solidFill>
              </a:rPr>
              <a:t>Evaluation, policy, and unresolved risks</a:t>
            </a:r>
            <a:endParaRPr lang="en-US" sz="1000" dirty="0"/>
          </a:p>
        </p:txBody>
      </p:sp>
      <p:sp>
        <p:nvSpPr>
          <p:cNvPr id="18" name="Shape 16"/>
          <p:cNvSpPr/>
          <p:nvPr/>
        </p:nvSpPr>
        <p:spPr>
          <a:xfrm>
            <a:off x="896112" y="4005072"/>
            <a:ext cx="1901952" cy="1243584"/>
          </a:xfrm>
          <a:prstGeom prst="roundRect">
            <a:avLst>
              <a:gd name="adj" fmla="val 5882"/>
            </a:avLst>
          </a:prstGeom>
          <a:solidFill>
            <a:srgbClr val="F3F5F8"/>
          </a:solidFill>
          <a:ln w="12700">
            <a:solidFill>
              <a:srgbClr val="D7DEE7"/>
            </a:solidFill>
            <a:prstDash val="solid"/>
          </a:ln>
        </p:spPr>
      </p:sp>
      <p:sp>
        <p:nvSpPr>
          <p:cNvPr id="19" name="Shape 17"/>
          <p:cNvSpPr/>
          <p:nvPr/>
        </p:nvSpPr>
        <p:spPr>
          <a:xfrm>
            <a:off x="896112" y="4005072"/>
            <a:ext cx="1901952" cy="219456"/>
          </a:xfrm>
          <a:prstGeom prst="rect">
            <a:avLst/>
          </a:prstGeom>
          <a:solidFill>
            <a:srgbClr val="EEF2F7"/>
          </a:solidFill>
          <a:ln w="12700">
            <a:solidFill>
              <a:srgbClr val="D7DEE7"/>
            </a:solidFill>
            <a:prstDash val="solid"/>
          </a:ln>
        </p:spPr>
      </p:sp>
      <p:sp>
        <p:nvSpPr>
          <p:cNvPr id="20" name="Text 18"/>
          <p:cNvSpPr/>
          <p:nvPr/>
        </p:nvSpPr>
        <p:spPr>
          <a:xfrm>
            <a:off x="1005840" y="4059936"/>
            <a:ext cx="1682496" cy="91440"/>
          </a:xfrm>
          <a:prstGeom prst="rect">
            <a:avLst/>
          </a:prstGeom>
          <a:noFill/>
          <a:ln/>
        </p:spPr>
        <p:txBody>
          <a:bodyPr wrap="square" lIns="0" tIns="0" rIns="0" bIns="0" rtlCol="0" anchor="ctr"/>
          <a:lstStyle/>
          <a:p>
            <a:pPr indent="0" marL="0">
              <a:buNone/>
            </a:pPr>
            <a:r>
              <a:rPr lang="en-US" sz="920" b="1" dirty="0">
                <a:solidFill>
                  <a:srgbClr val="19212B"/>
                </a:solidFill>
              </a:rPr>
              <a:t>Actions</a:t>
            </a:r>
            <a:endParaRPr lang="en-US" sz="920" dirty="0"/>
          </a:p>
        </p:txBody>
      </p:sp>
      <p:sp>
        <p:nvSpPr>
          <p:cNvPr id="21" name="Text 19"/>
          <p:cNvSpPr/>
          <p:nvPr/>
        </p:nvSpPr>
        <p:spPr>
          <a:xfrm>
            <a:off x="1005840" y="4553712"/>
            <a:ext cx="1682496" cy="146304"/>
          </a:xfrm>
          <a:prstGeom prst="rect">
            <a:avLst/>
          </a:prstGeom>
          <a:noFill/>
          <a:ln/>
        </p:spPr>
        <p:txBody>
          <a:bodyPr wrap="square" lIns="0" tIns="0" rIns="0" bIns="0" rtlCol="0" anchor="ctr"/>
          <a:lstStyle/>
          <a:p>
            <a:pPr algn="ctr" indent="0" marL="0">
              <a:buNone/>
            </a:pPr>
            <a:r>
              <a:rPr lang="en-US" sz="1000" dirty="0">
                <a:solidFill>
                  <a:srgbClr val="5D6B7B"/>
                </a:solidFill>
              </a:rPr>
              <a:t>Rollback, freeze, or promote</a:t>
            </a:r>
            <a:endParaRPr lang="en-US" sz="1000" dirty="0"/>
          </a:p>
        </p:txBody>
      </p:sp>
      <p:sp>
        <p:nvSpPr>
          <p:cNvPr id="22" name="Shape 20"/>
          <p:cNvSpPr/>
          <p:nvPr/>
        </p:nvSpPr>
        <p:spPr>
          <a:xfrm>
            <a:off x="3035808" y="4005072"/>
            <a:ext cx="1920240" cy="1243584"/>
          </a:xfrm>
          <a:prstGeom prst="roundRect">
            <a:avLst>
              <a:gd name="adj" fmla="val 5882"/>
            </a:avLst>
          </a:prstGeom>
          <a:solidFill>
            <a:srgbClr val="F3F5F8"/>
          </a:solidFill>
          <a:ln w="12700">
            <a:solidFill>
              <a:srgbClr val="D7DEE7"/>
            </a:solidFill>
            <a:prstDash val="solid"/>
          </a:ln>
        </p:spPr>
      </p:sp>
      <p:sp>
        <p:nvSpPr>
          <p:cNvPr id="23" name="Shape 21"/>
          <p:cNvSpPr/>
          <p:nvPr/>
        </p:nvSpPr>
        <p:spPr>
          <a:xfrm>
            <a:off x="3035808" y="4005072"/>
            <a:ext cx="1920240" cy="219456"/>
          </a:xfrm>
          <a:prstGeom prst="rect">
            <a:avLst/>
          </a:prstGeom>
          <a:solidFill>
            <a:srgbClr val="EEF2F7"/>
          </a:solidFill>
          <a:ln w="12700">
            <a:solidFill>
              <a:srgbClr val="D7DEE7"/>
            </a:solidFill>
            <a:prstDash val="solid"/>
          </a:ln>
        </p:spPr>
      </p:sp>
      <p:sp>
        <p:nvSpPr>
          <p:cNvPr id="24" name="Text 22"/>
          <p:cNvSpPr/>
          <p:nvPr/>
        </p:nvSpPr>
        <p:spPr>
          <a:xfrm>
            <a:off x="3145536" y="4059936"/>
            <a:ext cx="1700784" cy="91440"/>
          </a:xfrm>
          <a:prstGeom prst="rect">
            <a:avLst/>
          </a:prstGeom>
          <a:noFill/>
          <a:ln/>
        </p:spPr>
        <p:txBody>
          <a:bodyPr wrap="square" lIns="0" tIns="0" rIns="0" bIns="0" rtlCol="0" anchor="ctr"/>
          <a:lstStyle/>
          <a:p>
            <a:pPr indent="0" marL="0">
              <a:buNone/>
            </a:pPr>
            <a:r>
              <a:rPr lang="en-US" sz="920" b="1" dirty="0">
                <a:solidFill>
                  <a:srgbClr val="19212B"/>
                </a:solidFill>
              </a:rPr>
              <a:t>Governance</a:t>
            </a:r>
            <a:endParaRPr lang="en-US" sz="920" dirty="0"/>
          </a:p>
        </p:txBody>
      </p:sp>
      <p:sp>
        <p:nvSpPr>
          <p:cNvPr id="25" name="Text 23"/>
          <p:cNvSpPr/>
          <p:nvPr/>
        </p:nvSpPr>
        <p:spPr>
          <a:xfrm>
            <a:off x="3145536" y="4553712"/>
            <a:ext cx="1700784" cy="146304"/>
          </a:xfrm>
          <a:prstGeom prst="rect">
            <a:avLst/>
          </a:prstGeom>
          <a:noFill/>
          <a:ln/>
        </p:spPr>
        <p:txBody>
          <a:bodyPr wrap="square" lIns="0" tIns="0" rIns="0" bIns="0" rtlCol="0" anchor="ctr"/>
          <a:lstStyle/>
          <a:p>
            <a:pPr algn="ctr" indent="0" marL="0">
              <a:buNone/>
            </a:pPr>
            <a:r>
              <a:rPr lang="en-US" sz="1000" dirty="0">
                <a:solidFill>
                  <a:srgbClr val="5D6B7B"/>
                </a:solidFill>
              </a:rPr>
              <a:t>Audit sign-off + stakeholders</a:t>
            </a:r>
            <a:endParaRPr lang="en-US" sz="1000" dirty="0"/>
          </a:p>
        </p:txBody>
      </p:sp>
      <p:sp>
        <p:nvSpPr>
          <p:cNvPr id="26" name="Shape 24"/>
          <p:cNvSpPr/>
          <p:nvPr/>
        </p:nvSpPr>
        <p:spPr>
          <a:xfrm>
            <a:off x="6355080" y="1335024"/>
            <a:ext cx="5193792" cy="4937760"/>
          </a:xfrm>
          <a:prstGeom prst="roundRect">
            <a:avLst>
              <a:gd name="adj" fmla="val 2222"/>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27" name="Text 25"/>
          <p:cNvSpPr/>
          <p:nvPr/>
        </p:nvSpPr>
        <p:spPr>
          <a:xfrm>
            <a:off x="6519672" y="1444752"/>
            <a:ext cx="4864608" cy="182880"/>
          </a:xfrm>
          <a:prstGeom prst="rect">
            <a:avLst/>
          </a:prstGeom>
          <a:noFill/>
          <a:ln/>
        </p:spPr>
        <p:txBody>
          <a:bodyPr wrap="square" lIns="0" tIns="0" rIns="0" bIns="0" rtlCol="0" anchor="ctr"/>
          <a:lstStyle/>
          <a:p>
            <a:pPr indent="0" marL="0">
              <a:buNone/>
            </a:pPr>
            <a:r>
              <a:rPr lang="en-US" sz="1200" b="1" dirty="0">
                <a:solidFill>
                  <a:srgbClr val="19212B"/>
                </a:solidFill>
              </a:rPr>
              <a:t>Runtime Overview</a:t>
            </a:r>
            <a:endParaRPr lang="en-US" sz="1200" dirty="0"/>
          </a:p>
        </p:txBody>
      </p:sp>
      <p:sp>
        <p:nvSpPr>
          <p:cNvPr id="28" name="Shape 26"/>
          <p:cNvSpPr/>
          <p:nvPr/>
        </p:nvSpPr>
        <p:spPr>
          <a:xfrm>
            <a:off x="6583680" y="1783080"/>
            <a:ext cx="1828800" cy="768096"/>
          </a:xfrm>
          <a:prstGeom prst="roundRect">
            <a:avLst>
              <a:gd name="adj" fmla="val 9524"/>
            </a:avLst>
          </a:prstGeom>
          <a:solidFill>
            <a:srgbClr val="F3F5F8"/>
          </a:solidFill>
          <a:ln w="12700">
            <a:solidFill>
              <a:srgbClr val="D7DEE7"/>
            </a:solidFill>
            <a:prstDash val="solid"/>
          </a:ln>
        </p:spPr>
      </p:sp>
      <p:sp>
        <p:nvSpPr>
          <p:cNvPr id="29" name="Shape 27"/>
          <p:cNvSpPr/>
          <p:nvPr/>
        </p:nvSpPr>
        <p:spPr>
          <a:xfrm>
            <a:off x="6583680" y="1783080"/>
            <a:ext cx="1828800" cy="219456"/>
          </a:xfrm>
          <a:prstGeom prst="rect">
            <a:avLst/>
          </a:prstGeom>
          <a:solidFill>
            <a:srgbClr val="EEF2F7"/>
          </a:solidFill>
          <a:ln w="12700">
            <a:solidFill>
              <a:srgbClr val="D7DEE7"/>
            </a:solidFill>
            <a:prstDash val="solid"/>
          </a:ln>
        </p:spPr>
      </p:sp>
      <p:sp>
        <p:nvSpPr>
          <p:cNvPr id="30" name="Text 28"/>
          <p:cNvSpPr/>
          <p:nvPr/>
        </p:nvSpPr>
        <p:spPr>
          <a:xfrm>
            <a:off x="6693408" y="1837944"/>
            <a:ext cx="1609344" cy="91440"/>
          </a:xfrm>
          <a:prstGeom prst="rect">
            <a:avLst/>
          </a:prstGeom>
          <a:noFill/>
          <a:ln/>
        </p:spPr>
        <p:txBody>
          <a:bodyPr wrap="square" lIns="0" tIns="0" rIns="0" bIns="0" rtlCol="0" anchor="ctr"/>
          <a:lstStyle/>
          <a:p>
            <a:pPr indent="0" marL="0">
              <a:buNone/>
            </a:pPr>
            <a:r>
              <a:rPr lang="en-US" sz="920" b="1" dirty="0">
                <a:solidFill>
                  <a:srgbClr val="19212B"/>
                </a:solidFill>
              </a:rPr>
              <a:t>Service health</a:t>
            </a:r>
            <a:endParaRPr lang="en-US" sz="920" dirty="0"/>
          </a:p>
        </p:txBody>
      </p:sp>
      <p:sp>
        <p:nvSpPr>
          <p:cNvPr id="31" name="Text 29"/>
          <p:cNvSpPr/>
          <p:nvPr/>
        </p:nvSpPr>
        <p:spPr>
          <a:xfrm>
            <a:off x="6693408" y="2093976"/>
            <a:ext cx="1609344" cy="146304"/>
          </a:xfrm>
          <a:prstGeom prst="rect">
            <a:avLst/>
          </a:prstGeom>
          <a:noFill/>
          <a:ln/>
        </p:spPr>
        <p:txBody>
          <a:bodyPr wrap="square" lIns="0" tIns="0" rIns="0" bIns="0" rtlCol="0" anchor="ctr"/>
          <a:lstStyle/>
          <a:p>
            <a:pPr algn="ctr" indent="0" marL="0">
              <a:buNone/>
            </a:pPr>
            <a:r>
              <a:rPr lang="en-US" sz="1000" dirty="0">
                <a:solidFill>
                  <a:srgbClr val="5D6B7B"/>
                </a:solidFill>
              </a:rPr>
              <a:t>Health</a:t>
            </a:r>
            <a:endParaRPr lang="en-US" sz="1000" dirty="0"/>
          </a:p>
          <a:p>
            <a:pPr algn="ctr" indent="0" marL="0">
              <a:buNone/>
            </a:pPr>
            <a:r>
              <a:rPr lang="en-US" sz="1000" dirty="0">
                <a:solidFill>
                  <a:srgbClr val="5D6B7B"/>
                </a:solidFill>
              </a:rPr>
              <a:t>Latency</a:t>
            </a:r>
            <a:endParaRPr lang="en-US" sz="1000" dirty="0"/>
          </a:p>
          <a:p>
            <a:pPr algn="ctr" indent="0" marL="0">
              <a:buNone/>
            </a:pPr>
            <a:r>
              <a:rPr lang="en-US" sz="1000" dirty="0">
                <a:solidFill>
                  <a:srgbClr val="5D6B7B"/>
                </a:solidFill>
              </a:rPr>
              <a:t>Error rate</a:t>
            </a:r>
            <a:endParaRPr lang="en-US" sz="1000" dirty="0"/>
          </a:p>
        </p:txBody>
      </p:sp>
      <p:sp>
        <p:nvSpPr>
          <p:cNvPr id="32" name="Shape 30"/>
          <p:cNvSpPr/>
          <p:nvPr/>
        </p:nvSpPr>
        <p:spPr>
          <a:xfrm>
            <a:off x="8613648" y="1783080"/>
            <a:ext cx="1828800" cy="768096"/>
          </a:xfrm>
          <a:prstGeom prst="roundRect">
            <a:avLst>
              <a:gd name="adj" fmla="val 9524"/>
            </a:avLst>
          </a:prstGeom>
          <a:solidFill>
            <a:srgbClr val="F3F5F8"/>
          </a:solidFill>
          <a:ln w="12700">
            <a:solidFill>
              <a:srgbClr val="D7DEE7"/>
            </a:solidFill>
            <a:prstDash val="solid"/>
          </a:ln>
        </p:spPr>
      </p:sp>
      <p:sp>
        <p:nvSpPr>
          <p:cNvPr id="33" name="Shape 31"/>
          <p:cNvSpPr/>
          <p:nvPr/>
        </p:nvSpPr>
        <p:spPr>
          <a:xfrm>
            <a:off x="8613648" y="1783080"/>
            <a:ext cx="1828800" cy="219456"/>
          </a:xfrm>
          <a:prstGeom prst="rect">
            <a:avLst/>
          </a:prstGeom>
          <a:solidFill>
            <a:srgbClr val="EEF2F7"/>
          </a:solidFill>
          <a:ln w="12700">
            <a:solidFill>
              <a:srgbClr val="D7DEE7"/>
            </a:solidFill>
            <a:prstDash val="solid"/>
          </a:ln>
        </p:spPr>
      </p:sp>
      <p:sp>
        <p:nvSpPr>
          <p:cNvPr id="34" name="Text 32"/>
          <p:cNvSpPr/>
          <p:nvPr/>
        </p:nvSpPr>
        <p:spPr>
          <a:xfrm>
            <a:off x="8723376" y="1837944"/>
            <a:ext cx="1609344" cy="91440"/>
          </a:xfrm>
          <a:prstGeom prst="rect">
            <a:avLst/>
          </a:prstGeom>
          <a:noFill/>
          <a:ln/>
        </p:spPr>
        <p:txBody>
          <a:bodyPr wrap="square" lIns="0" tIns="0" rIns="0" bIns="0" rtlCol="0" anchor="ctr"/>
          <a:lstStyle/>
          <a:p>
            <a:pPr indent="0" marL="0">
              <a:buNone/>
            </a:pPr>
            <a:r>
              <a:rPr lang="en-US" sz="920" b="1" dirty="0">
                <a:solidFill>
                  <a:srgbClr val="19212B"/>
                </a:solidFill>
              </a:rPr>
              <a:t>Deployment</a:t>
            </a:r>
            <a:endParaRPr lang="en-US" sz="920" dirty="0"/>
          </a:p>
        </p:txBody>
      </p:sp>
      <p:sp>
        <p:nvSpPr>
          <p:cNvPr id="35" name="Text 33"/>
          <p:cNvSpPr/>
          <p:nvPr/>
        </p:nvSpPr>
        <p:spPr>
          <a:xfrm>
            <a:off x="8723376" y="2093976"/>
            <a:ext cx="1609344" cy="146304"/>
          </a:xfrm>
          <a:prstGeom prst="rect">
            <a:avLst/>
          </a:prstGeom>
          <a:noFill/>
          <a:ln/>
        </p:spPr>
        <p:txBody>
          <a:bodyPr wrap="square" lIns="0" tIns="0" rIns="0" bIns="0" rtlCol="0" anchor="ctr"/>
          <a:lstStyle/>
          <a:p>
            <a:pPr algn="ctr" indent="0" marL="0">
              <a:buNone/>
            </a:pPr>
            <a:r>
              <a:rPr lang="en-US" sz="1000" dirty="0">
                <a:solidFill>
                  <a:srgbClr val="5D6B7B"/>
                </a:solidFill>
              </a:rPr>
              <a:t>Current env</a:t>
            </a:r>
            <a:endParaRPr lang="en-US" sz="1000" dirty="0"/>
          </a:p>
          <a:p>
            <a:pPr algn="ctr" indent="0" marL="0">
              <a:buNone/>
            </a:pPr>
            <a:r>
              <a:rPr lang="en-US" sz="1000" dirty="0">
                <a:solidFill>
                  <a:srgbClr val="5D6B7B"/>
                </a:solidFill>
              </a:rPr>
              <a:t>Version</a:t>
            </a:r>
            <a:endParaRPr lang="en-US" sz="1000" dirty="0"/>
          </a:p>
          <a:p>
            <a:pPr algn="ctr" indent="0" marL="0">
              <a:buNone/>
            </a:pPr>
            <a:r>
              <a:rPr lang="en-US" sz="1000" dirty="0">
                <a:solidFill>
                  <a:srgbClr val="5D6B7B"/>
                </a:solidFill>
              </a:rPr>
              <a:t>Traffic split</a:t>
            </a:r>
            <a:endParaRPr lang="en-US" sz="1000" dirty="0"/>
          </a:p>
        </p:txBody>
      </p:sp>
      <p:sp>
        <p:nvSpPr>
          <p:cNvPr id="36" name="Shape 34"/>
          <p:cNvSpPr/>
          <p:nvPr/>
        </p:nvSpPr>
        <p:spPr>
          <a:xfrm>
            <a:off x="6583680" y="2761488"/>
            <a:ext cx="3858768" cy="1152144"/>
          </a:xfrm>
          <a:prstGeom prst="roundRect">
            <a:avLst>
              <a:gd name="adj" fmla="val 6349"/>
            </a:avLst>
          </a:prstGeom>
          <a:solidFill>
            <a:srgbClr val="F3F5F8"/>
          </a:solidFill>
          <a:ln w="12700">
            <a:solidFill>
              <a:srgbClr val="D7DEE7"/>
            </a:solidFill>
            <a:prstDash val="solid"/>
          </a:ln>
        </p:spPr>
      </p:sp>
      <p:sp>
        <p:nvSpPr>
          <p:cNvPr id="37" name="Shape 35"/>
          <p:cNvSpPr/>
          <p:nvPr/>
        </p:nvSpPr>
        <p:spPr>
          <a:xfrm>
            <a:off x="6583680" y="2761488"/>
            <a:ext cx="3858768" cy="219456"/>
          </a:xfrm>
          <a:prstGeom prst="rect">
            <a:avLst/>
          </a:prstGeom>
          <a:solidFill>
            <a:srgbClr val="EEF2F7"/>
          </a:solidFill>
          <a:ln w="12700">
            <a:solidFill>
              <a:srgbClr val="D7DEE7"/>
            </a:solidFill>
            <a:prstDash val="solid"/>
          </a:ln>
        </p:spPr>
      </p:sp>
      <p:sp>
        <p:nvSpPr>
          <p:cNvPr id="38" name="Text 36"/>
          <p:cNvSpPr/>
          <p:nvPr/>
        </p:nvSpPr>
        <p:spPr>
          <a:xfrm>
            <a:off x="6693408" y="2816352"/>
            <a:ext cx="3639312" cy="91440"/>
          </a:xfrm>
          <a:prstGeom prst="rect">
            <a:avLst/>
          </a:prstGeom>
          <a:noFill/>
          <a:ln/>
        </p:spPr>
        <p:txBody>
          <a:bodyPr wrap="square" lIns="0" tIns="0" rIns="0" bIns="0" rtlCol="0" anchor="ctr"/>
          <a:lstStyle/>
          <a:p>
            <a:pPr indent="0" marL="0">
              <a:buNone/>
            </a:pPr>
            <a:r>
              <a:rPr lang="en-US" sz="920" b="1" dirty="0">
                <a:solidFill>
                  <a:srgbClr val="19212B"/>
                </a:solidFill>
              </a:rPr>
              <a:t>Live activity</a:t>
            </a:r>
            <a:endParaRPr lang="en-US" sz="920" dirty="0"/>
          </a:p>
        </p:txBody>
      </p:sp>
      <p:sp>
        <p:nvSpPr>
          <p:cNvPr id="39" name="Text 37"/>
          <p:cNvSpPr/>
          <p:nvPr/>
        </p:nvSpPr>
        <p:spPr>
          <a:xfrm>
            <a:off x="6693408" y="3264408"/>
            <a:ext cx="3639312" cy="146304"/>
          </a:xfrm>
          <a:prstGeom prst="rect">
            <a:avLst/>
          </a:prstGeom>
          <a:noFill/>
          <a:ln/>
        </p:spPr>
        <p:txBody>
          <a:bodyPr wrap="square" lIns="0" tIns="0" rIns="0" bIns="0" rtlCol="0" anchor="ctr"/>
          <a:lstStyle/>
          <a:p>
            <a:pPr algn="ctr" indent="0" marL="0">
              <a:buNone/>
            </a:pPr>
            <a:r>
              <a:rPr lang="en-US" sz="1000" dirty="0">
                <a:solidFill>
                  <a:srgbClr val="5D6B7B"/>
                </a:solidFill>
              </a:rPr>
              <a:t>Active runs timeline</a:t>
            </a:r>
            <a:endParaRPr lang="en-US" sz="1000" dirty="0"/>
          </a:p>
        </p:txBody>
      </p:sp>
      <p:sp>
        <p:nvSpPr>
          <p:cNvPr id="40" name="Shape 38"/>
          <p:cNvSpPr/>
          <p:nvPr/>
        </p:nvSpPr>
        <p:spPr>
          <a:xfrm>
            <a:off x="6583680" y="4114800"/>
            <a:ext cx="1828800" cy="1133856"/>
          </a:xfrm>
          <a:prstGeom prst="roundRect">
            <a:avLst>
              <a:gd name="adj" fmla="val 6452"/>
            </a:avLst>
          </a:prstGeom>
          <a:solidFill>
            <a:srgbClr val="F3F5F8"/>
          </a:solidFill>
          <a:ln w="12700">
            <a:solidFill>
              <a:srgbClr val="D7DEE7"/>
            </a:solidFill>
            <a:prstDash val="solid"/>
          </a:ln>
        </p:spPr>
      </p:sp>
      <p:sp>
        <p:nvSpPr>
          <p:cNvPr id="41" name="Shape 39"/>
          <p:cNvSpPr/>
          <p:nvPr/>
        </p:nvSpPr>
        <p:spPr>
          <a:xfrm>
            <a:off x="6583680" y="4114800"/>
            <a:ext cx="1828800" cy="219456"/>
          </a:xfrm>
          <a:prstGeom prst="rect">
            <a:avLst/>
          </a:prstGeom>
          <a:solidFill>
            <a:srgbClr val="EEF2F7"/>
          </a:solidFill>
          <a:ln w="12700">
            <a:solidFill>
              <a:srgbClr val="D7DEE7"/>
            </a:solidFill>
            <a:prstDash val="solid"/>
          </a:ln>
        </p:spPr>
      </p:sp>
      <p:sp>
        <p:nvSpPr>
          <p:cNvPr id="42" name="Text 40"/>
          <p:cNvSpPr/>
          <p:nvPr/>
        </p:nvSpPr>
        <p:spPr>
          <a:xfrm>
            <a:off x="6693408" y="4169664"/>
            <a:ext cx="1609344" cy="91440"/>
          </a:xfrm>
          <a:prstGeom prst="rect">
            <a:avLst/>
          </a:prstGeom>
          <a:noFill/>
          <a:ln/>
        </p:spPr>
        <p:txBody>
          <a:bodyPr wrap="square" lIns="0" tIns="0" rIns="0" bIns="0" rtlCol="0" anchor="ctr"/>
          <a:lstStyle/>
          <a:p>
            <a:pPr indent="0" marL="0">
              <a:buNone/>
            </a:pPr>
            <a:r>
              <a:rPr lang="en-US" sz="920" b="1" dirty="0">
                <a:solidFill>
                  <a:srgbClr val="19212B"/>
                </a:solidFill>
              </a:rPr>
              <a:t>Behavior</a:t>
            </a:r>
            <a:endParaRPr lang="en-US" sz="920" dirty="0"/>
          </a:p>
        </p:txBody>
      </p:sp>
      <p:sp>
        <p:nvSpPr>
          <p:cNvPr id="43" name="Text 41"/>
          <p:cNvSpPr/>
          <p:nvPr/>
        </p:nvSpPr>
        <p:spPr>
          <a:xfrm>
            <a:off x="6693408" y="4608576"/>
            <a:ext cx="1609344" cy="146304"/>
          </a:xfrm>
          <a:prstGeom prst="rect">
            <a:avLst/>
          </a:prstGeom>
          <a:noFill/>
          <a:ln/>
        </p:spPr>
        <p:txBody>
          <a:bodyPr wrap="square" lIns="0" tIns="0" rIns="0" bIns="0" rtlCol="0" anchor="ctr"/>
          <a:lstStyle/>
          <a:p>
            <a:pPr algn="ctr" indent="0" marL="0">
              <a:buNone/>
            </a:pPr>
            <a:r>
              <a:rPr lang="en-US" sz="1000" dirty="0">
                <a:solidFill>
                  <a:srgbClr val="5D6B7B"/>
                </a:solidFill>
              </a:rPr>
              <a:t>Top tool calls</a:t>
            </a:r>
            <a:endParaRPr lang="en-US" sz="1000" dirty="0"/>
          </a:p>
          <a:p>
            <a:pPr algn="ctr" indent="0" marL="0">
              <a:buNone/>
            </a:pPr>
            <a:r>
              <a:rPr lang="en-US" sz="1000" dirty="0">
                <a:solidFill>
                  <a:srgbClr val="5D6B7B"/>
                </a:solidFill>
              </a:rPr>
              <a:t>Model usage</a:t>
            </a:r>
            <a:endParaRPr lang="en-US" sz="1000" dirty="0"/>
          </a:p>
        </p:txBody>
      </p:sp>
      <p:sp>
        <p:nvSpPr>
          <p:cNvPr id="44" name="Shape 42"/>
          <p:cNvSpPr/>
          <p:nvPr/>
        </p:nvSpPr>
        <p:spPr>
          <a:xfrm>
            <a:off x="8613648" y="4114800"/>
            <a:ext cx="1828800" cy="1133856"/>
          </a:xfrm>
          <a:prstGeom prst="roundRect">
            <a:avLst>
              <a:gd name="adj" fmla="val 6452"/>
            </a:avLst>
          </a:prstGeom>
          <a:solidFill>
            <a:srgbClr val="F3F5F8"/>
          </a:solidFill>
          <a:ln w="12700">
            <a:solidFill>
              <a:srgbClr val="D7DEE7"/>
            </a:solidFill>
            <a:prstDash val="solid"/>
          </a:ln>
        </p:spPr>
      </p:sp>
      <p:sp>
        <p:nvSpPr>
          <p:cNvPr id="45" name="Shape 43"/>
          <p:cNvSpPr/>
          <p:nvPr/>
        </p:nvSpPr>
        <p:spPr>
          <a:xfrm>
            <a:off x="8613648" y="4114800"/>
            <a:ext cx="1828800" cy="219456"/>
          </a:xfrm>
          <a:prstGeom prst="rect">
            <a:avLst/>
          </a:prstGeom>
          <a:solidFill>
            <a:srgbClr val="EEF2F7"/>
          </a:solidFill>
          <a:ln w="12700">
            <a:solidFill>
              <a:srgbClr val="D7DEE7"/>
            </a:solidFill>
            <a:prstDash val="solid"/>
          </a:ln>
        </p:spPr>
      </p:sp>
      <p:sp>
        <p:nvSpPr>
          <p:cNvPr id="46" name="Text 44"/>
          <p:cNvSpPr/>
          <p:nvPr/>
        </p:nvSpPr>
        <p:spPr>
          <a:xfrm>
            <a:off x="8723376" y="4169664"/>
            <a:ext cx="1609344" cy="91440"/>
          </a:xfrm>
          <a:prstGeom prst="rect">
            <a:avLst/>
          </a:prstGeom>
          <a:noFill/>
          <a:ln/>
        </p:spPr>
        <p:txBody>
          <a:bodyPr wrap="square" lIns="0" tIns="0" rIns="0" bIns="0" rtlCol="0" anchor="ctr"/>
          <a:lstStyle/>
          <a:p>
            <a:pPr indent="0" marL="0">
              <a:buNone/>
            </a:pPr>
            <a:r>
              <a:rPr lang="en-US" sz="920" b="1" dirty="0">
                <a:solidFill>
                  <a:srgbClr val="19212B"/>
                </a:solidFill>
              </a:rPr>
              <a:t>Attention</a:t>
            </a:r>
            <a:endParaRPr lang="en-US" sz="920" dirty="0"/>
          </a:p>
        </p:txBody>
      </p:sp>
      <p:sp>
        <p:nvSpPr>
          <p:cNvPr id="47" name="Text 45"/>
          <p:cNvSpPr/>
          <p:nvPr/>
        </p:nvSpPr>
        <p:spPr>
          <a:xfrm>
            <a:off x="8723376" y="4608576"/>
            <a:ext cx="1609344" cy="146304"/>
          </a:xfrm>
          <a:prstGeom prst="rect">
            <a:avLst/>
          </a:prstGeom>
          <a:noFill/>
          <a:ln/>
        </p:spPr>
        <p:txBody>
          <a:bodyPr wrap="square" lIns="0" tIns="0" rIns="0" bIns="0" rtlCol="0" anchor="ctr"/>
          <a:lstStyle/>
          <a:p>
            <a:pPr algn="ctr" indent="0" marL="0">
              <a:buNone/>
            </a:pPr>
            <a:r>
              <a:rPr lang="en-US" sz="1000" dirty="0">
                <a:solidFill>
                  <a:srgbClr val="5D6B7B"/>
                </a:solidFill>
              </a:rPr>
              <a:t>Incidents</a:t>
            </a:r>
            <a:endParaRPr lang="en-US" sz="1000" dirty="0"/>
          </a:p>
          <a:p>
            <a:pPr algn="ctr" indent="0" marL="0">
              <a:buNone/>
            </a:pPr>
            <a:r>
              <a:rPr lang="en-US" sz="1000" dirty="0">
                <a:solidFill>
                  <a:srgbClr val="5D6B7B"/>
                </a:solidFill>
              </a:rPr>
              <a:t>Alerts</a:t>
            </a:r>
            <a:endParaRPr lang="en-US" sz="1000" dirty="0"/>
          </a:p>
          <a:p>
            <a:pPr algn="ctr" indent="0" marL="0">
              <a:buNone/>
            </a:pPr>
            <a:r>
              <a:rPr lang="en-US" sz="1000" dirty="0">
                <a:solidFill>
                  <a:srgbClr val="5D6B7B"/>
                </a:solidFill>
              </a:rPr>
              <a:t>Drill into traces</a:t>
            </a:r>
            <a:endParaRPr lang="en-US" sz="1000" dirty="0"/>
          </a:p>
        </p:txBody>
      </p:sp>
      <p:sp>
        <p:nvSpPr>
          <p:cNvPr id="48" name="Shape 46"/>
          <p:cNvSpPr/>
          <p:nvPr/>
        </p:nvSpPr>
        <p:spPr>
          <a:xfrm>
            <a:off x="914400" y="5559552"/>
            <a:ext cx="4709160" cy="566928"/>
          </a:xfrm>
          <a:prstGeom prst="roundRect">
            <a:avLst>
              <a:gd name="adj" fmla="val 12903"/>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49" name="Text 47"/>
          <p:cNvSpPr/>
          <p:nvPr/>
        </p:nvSpPr>
        <p:spPr>
          <a:xfrm>
            <a:off x="1024128" y="5641848"/>
            <a:ext cx="4489704" cy="128016"/>
          </a:xfrm>
          <a:prstGeom prst="rect">
            <a:avLst/>
          </a:prstGeom>
          <a:noFill/>
          <a:ln/>
        </p:spPr>
        <p:txBody>
          <a:bodyPr wrap="square" lIns="0" tIns="0" rIns="0" bIns="0" rtlCol="0" anchor="ctr"/>
          <a:lstStyle/>
          <a:p>
            <a:pPr indent="0" marL="0">
              <a:buNone/>
            </a:pPr>
            <a:r>
              <a:rPr lang="en-US" sz="1100" b="1" dirty="0">
                <a:solidFill>
                  <a:srgbClr val="2F6BFF"/>
                </a:solidFill>
              </a:rPr>
              <a:t>Release surface</a:t>
            </a:r>
            <a:endParaRPr lang="en-US" sz="1100" dirty="0"/>
          </a:p>
        </p:txBody>
      </p:sp>
      <p:sp>
        <p:nvSpPr>
          <p:cNvPr id="50" name="Text 48"/>
          <p:cNvSpPr/>
          <p:nvPr/>
        </p:nvSpPr>
        <p:spPr>
          <a:xfrm>
            <a:off x="1024128" y="5806440"/>
            <a:ext cx="4489704" cy="256032"/>
          </a:xfrm>
          <a:prstGeom prst="rect">
            <a:avLst/>
          </a:prstGeom>
          <a:noFill/>
          <a:ln/>
        </p:spPr>
        <p:txBody>
          <a:bodyPr wrap="square" lIns="0" tIns="0" rIns="0" bIns="0" rtlCol="0" anchor="t"/>
          <a:lstStyle/>
          <a:p>
            <a:pPr indent="0" marL="0">
              <a:buNone/>
            </a:pPr>
            <a:r>
              <a:rPr lang="en-US" sz="960" dirty="0">
                <a:solidFill>
                  <a:srgbClr val="5D6B7B"/>
                </a:solidFill>
              </a:rPr>
              <a:t>Use the release view as a formal gate: what changed, what is still risky, who approved it, and how to roll back.</a:t>
            </a:r>
            <a:endParaRPr lang="en-US" sz="960" dirty="0"/>
          </a:p>
        </p:txBody>
      </p:sp>
      <p:sp>
        <p:nvSpPr>
          <p:cNvPr id="51" name="Shape 49"/>
          <p:cNvSpPr/>
          <p:nvPr/>
        </p:nvSpPr>
        <p:spPr>
          <a:xfrm>
            <a:off x="6510528" y="5559552"/>
            <a:ext cx="4572000" cy="566928"/>
          </a:xfrm>
          <a:prstGeom prst="roundRect">
            <a:avLst>
              <a:gd name="adj" fmla="val 12903"/>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52" name="Text 50"/>
          <p:cNvSpPr/>
          <p:nvPr/>
        </p:nvSpPr>
        <p:spPr>
          <a:xfrm>
            <a:off x="6620256" y="5641848"/>
            <a:ext cx="4352544" cy="128016"/>
          </a:xfrm>
          <a:prstGeom prst="rect">
            <a:avLst/>
          </a:prstGeom>
          <a:noFill/>
          <a:ln/>
        </p:spPr>
        <p:txBody>
          <a:bodyPr wrap="square" lIns="0" tIns="0" rIns="0" bIns="0" rtlCol="0" anchor="ctr"/>
          <a:lstStyle/>
          <a:p>
            <a:pPr indent="0" marL="0">
              <a:buNone/>
            </a:pPr>
            <a:r>
              <a:rPr lang="en-US" sz="1100" b="1" dirty="0">
                <a:solidFill>
                  <a:srgbClr val="2F6BFF"/>
                </a:solidFill>
              </a:rPr>
              <a:t>Runtime surface</a:t>
            </a:r>
            <a:endParaRPr lang="en-US" sz="1100" dirty="0"/>
          </a:p>
        </p:txBody>
      </p:sp>
      <p:sp>
        <p:nvSpPr>
          <p:cNvPr id="53" name="Text 51"/>
          <p:cNvSpPr/>
          <p:nvPr/>
        </p:nvSpPr>
        <p:spPr>
          <a:xfrm>
            <a:off x="6620256" y="5806440"/>
            <a:ext cx="4352544" cy="256032"/>
          </a:xfrm>
          <a:prstGeom prst="rect">
            <a:avLst/>
          </a:prstGeom>
          <a:noFill/>
          <a:ln/>
        </p:spPr>
        <p:txBody>
          <a:bodyPr wrap="square" lIns="0" tIns="0" rIns="0" bIns="0" rtlCol="0" anchor="t"/>
          <a:lstStyle/>
          <a:p>
            <a:pPr indent="0" marL="0">
              <a:buNone/>
            </a:pPr>
            <a:r>
              <a:rPr lang="en-US" sz="960" dirty="0">
                <a:solidFill>
                  <a:srgbClr val="5D6B7B"/>
                </a:solidFill>
              </a:rPr>
              <a:t>Pair the release view with immediate operational visibility so a team can validate canaries and investigate degradation quickly.</a:t>
            </a:r>
            <a:endParaRPr lang="en-US" sz="960" dirty="0"/>
          </a:p>
        </p:txBody>
      </p:sp>
      <p:sp>
        <p:nvSpPr>
          <p:cNvPr id="54" name="Text 52"/>
          <p:cNvSpPr/>
          <p:nvPr/>
        </p:nvSpPr>
        <p:spPr>
          <a:xfrm>
            <a:off x="594360" y="6473952"/>
            <a:ext cx="4389120" cy="164592"/>
          </a:xfrm>
          <a:prstGeom prst="rect">
            <a:avLst/>
          </a:prstGeom>
          <a:noFill/>
          <a:ln/>
        </p:spPr>
        <p:txBody>
          <a:bodyPr wrap="square" lIns="0" tIns="0" rIns="0" bIns="0" rtlCol="0" anchor="ctr"/>
          <a:lstStyle/>
          <a:p>
            <a:pPr indent="0" marL="0">
              <a:buNone/>
            </a:pPr>
            <a:r>
              <a:rPr lang="en-US" sz="900" dirty="0">
                <a:solidFill>
                  <a:srgbClr val="7A8794"/>
                </a:solidFill>
              </a:rPr>
              <a:t>Agent Architect Pro — UX wireframe direction</a:t>
            </a:r>
            <a:endParaRPr lang="en-US" sz="900" dirty="0"/>
          </a:p>
        </p:txBody>
      </p:sp>
      <p:sp>
        <p:nvSpPr>
          <p:cNvPr id="55" name="Text 53"/>
          <p:cNvSpPr/>
          <p:nvPr/>
        </p:nvSpPr>
        <p:spPr>
          <a:xfrm>
            <a:off x="11292840" y="6437376"/>
            <a:ext cx="274320" cy="182880"/>
          </a:xfrm>
          <a:prstGeom prst="rect">
            <a:avLst/>
          </a:prstGeom>
          <a:noFill/>
          <a:ln/>
        </p:spPr>
        <p:txBody>
          <a:bodyPr wrap="square" lIns="0" tIns="0" rIns="0" bIns="0" rtlCol="0" anchor="ctr"/>
          <a:lstStyle/>
          <a:p>
            <a:pPr algn="r" indent="0" marL="0">
              <a:buNone/>
            </a:pPr>
            <a:r>
              <a:rPr lang="en-US" sz="1000" dirty="0">
                <a:solidFill>
                  <a:srgbClr val="7A8794"/>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20040"/>
            <a:ext cx="8046720" cy="384048"/>
          </a:xfrm>
          <a:prstGeom prst="rect">
            <a:avLst/>
          </a:prstGeom>
          <a:noFill/>
          <a:ln/>
        </p:spPr>
        <p:txBody>
          <a:bodyPr wrap="square" lIns="0" tIns="0" rIns="0" bIns="0" rtlCol="0" anchor="ctr"/>
          <a:lstStyle/>
          <a:p>
            <a:pPr indent="0" marL="0">
              <a:buNone/>
            </a:pPr>
            <a:r>
              <a:rPr lang="en-US" sz="2800" b="1" dirty="0">
                <a:solidFill>
                  <a:srgbClr val="19212B"/>
                </a:solidFill>
                <a:latin typeface="Aptos Display" pitchFamily="34" charset="0"/>
                <a:ea typeface="Aptos Display" pitchFamily="34" charset="-122"/>
                <a:cs typeface="Aptos Display" pitchFamily="34" charset="-120"/>
              </a:rPr>
              <a:t>Design system cues and next handoff</a:t>
            </a:r>
            <a:endParaRPr lang="en-US" sz="2800" dirty="0"/>
          </a:p>
        </p:txBody>
      </p:sp>
      <p:sp>
        <p:nvSpPr>
          <p:cNvPr id="3" name="Text 1"/>
          <p:cNvSpPr/>
          <p:nvPr/>
        </p:nvSpPr>
        <p:spPr>
          <a:xfrm>
            <a:off x="594360" y="749808"/>
            <a:ext cx="9692640" cy="310896"/>
          </a:xfrm>
          <a:prstGeom prst="rect">
            <a:avLst/>
          </a:prstGeom>
          <a:noFill/>
          <a:ln/>
        </p:spPr>
        <p:txBody>
          <a:bodyPr wrap="square" lIns="0" tIns="0" rIns="0" bIns="0" rtlCol="0" anchor="ctr"/>
          <a:lstStyle/>
          <a:p>
            <a:pPr indent="0" marL="0">
              <a:buNone/>
            </a:pPr>
            <a:r>
              <a:rPr lang="en-US" sz="1250" dirty="0">
                <a:solidFill>
                  <a:srgbClr val="5D6B7B"/>
                </a:solidFill>
              </a:rPr>
              <a:t>A restrained enterprise visual language will make the platform feel more trustworthy, more premium, and easier to scale into Figma and engineering.</a:t>
            </a:r>
            <a:endParaRPr lang="en-US" sz="1250" dirty="0"/>
          </a:p>
        </p:txBody>
      </p:sp>
      <p:sp>
        <p:nvSpPr>
          <p:cNvPr id="4" name="Shape 2"/>
          <p:cNvSpPr/>
          <p:nvPr/>
        </p:nvSpPr>
        <p:spPr>
          <a:xfrm>
            <a:off x="731520" y="1325880"/>
            <a:ext cx="2880360" cy="4206240"/>
          </a:xfrm>
          <a:prstGeom prst="roundRect">
            <a:avLst>
              <a:gd name="adj" fmla="val 3810"/>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5" name="Text 3"/>
          <p:cNvSpPr/>
          <p:nvPr/>
        </p:nvSpPr>
        <p:spPr>
          <a:xfrm>
            <a:off x="896112" y="1435608"/>
            <a:ext cx="2551176" cy="182880"/>
          </a:xfrm>
          <a:prstGeom prst="rect">
            <a:avLst/>
          </a:prstGeom>
          <a:noFill/>
          <a:ln/>
        </p:spPr>
        <p:txBody>
          <a:bodyPr wrap="square" lIns="0" tIns="0" rIns="0" bIns="0" rtlCol="0" anchor="ctr"/>
          <a:lstStyle/>
          <a:p>
            <a:pPr indent="0" marL="0">
              <a:buNone/>
            </a:pPr>
            <a:r>
              <a:rPr lang="en-US" sz="1200" b="1" dirty="0">
                <a:solidFill>
                  <a:srgbClr val="19212B"/>
                </a:solidFill>
              </a:rPr>
              <a:t>Visual direction</a:t>
            </a:r>
            <a:endParaRPr lang="en-US" sz="1200" dirty="0"/>
          </a:p>
        </p:txBody>
      </p:sp>
      <p:sp>
        <p:nvSpPr>
          <p:cNvPr id="6" name="Text 4"/>
          <p:cNvSpPr/>
          <p:nvPr/>
        </p:nvSpPr>
        <p:spPr>
          <a:xfrm>
            <a:off x="960120" y="1755648"/>
            <a:ext cx="2377440" cy="3291840"/>
          </a:xfrm>
          <a:prstGeom prst="rect">
            <a:avLst/>
          </a:prstGeom>
          <a:noFill/>
          <a:ln/>
        </p:spPr>
        <p:txBody>
          <a:bodyPr wrap="square" lIns="0" tIns="0" rIns="0" bIns="0" rtlCol="0" anchor="ctr"/>
          <a:lstStyle/>
          <a:p>
            <a:pPr indent="0" marL="0">
              <a:buNone/>
            </a:pPr>
            <a:r>
              <a:rPr lang="en-US" sz="1100" dirty="0">
                <a:solidFill>
                  <a:srgbClr val="5D6B7B"/>
                </a:solidFill>
              </a:rPr>
              <a:t>Tone</a:t>
            </a:r>
            <a:endParaRPr lang="en-US" sz="1100" dirty="0"/>
          </a:p>
          <a:p>
            <a:pPr indent="0" marL="0">
              <a:buNone/>
            </a:pPr>
            <a:r>
              <a:rPr lang="en-US" sz="1100" dirty="0">
                <a:solidFill>
                  <a:srgbClr val="5D6B7B"/>
                </a:solidFill>
              </a:rPr>
              <a:t>• calm</a:t>
            </a:r>
            <a:endParaRPr lang="en-US" sz="1100" dirty="0"/>
          </a:p>
          <a:p>
            <a:pPr indent="0" marL="0">
              <a:buNone/>
            </a:pPr>
            <a:r>
              <a:rPr lang="en-US" sz="1100" dirty="0">
                <a:solidFill>
                  <a:srgbClr val="5D6B7B"/>
                </a:solidFill>
              </a:rPr>
              <a:t>• precise</a:t>
            </a:r>
            <a:endParaRPr lang="en-US" sz="1100" dirty="0"/>
          </a:p>
          <a:p>
            <a:pPr indent="0" marL="0">
              <a:buNone/>
            </a:pPr>
            <a:r>
              <a:rPr lang="en-US" sz="1100" dirty="0">
                <a:solidFill>
                  <a:srgbClr val="5D6B7B"/>
                </a:solidFill>
              </a:rPr>
              <a:t>• trustworthy</a:t>
            </a:r>
            <a:endParaRPr lang="en-US" sz="1100" dirty="0"/>
          </a:p>
          <a:p>
            <a:pPr indent="0" marL="0">
              <a:buNone/>
            </a:pPr>
            <a:r>
              <a:rPr lang="en-US" sz="1100" dirty="0">
                <a:solidFill>
                  <a:srgbClr val="5D6B7B"/>
                </a:solidFill>
              </a:rPr>
              <a:t>• AI-native, not sci-fi</a:t>
            </a:r>
            <a:endParaRPr lang="en-US" sz="1100" dirty="0"/>
          </a:p>
          <a:p>
            <a:pPr indent="0" marL="0">
              <a:buNone/>
            </a:pPr>
            <a:endParaRPr lang="en-US" sz="1100" dirty="0"/>
          </a:p>
          <a:p>
            <a:pPr indent="0" marL="0">
              <a:buNone/>
            </a:pPr>
            <a:r>
              <a:rPr lang="en-US" sz="1100" dirty="0">
                <a:solidFill>
                  <a:srgbClr val="5D6B7B"/>
                </a:solidFill>
              </a:rPr>
              <a:t>Palette</a:t>
            </a:r>
            <a:endParaRPr lang="en-US" sz="1100" dirty="0"/>
          </a:p>
          <a:p>
            <a:pPr indent="0" marL="0">
              <a:buNone/>
            </a:pPr>
            <a:r>
              <a:rPr lang="en-US" sz="1100" dirty="0">
                <a:solidFill>
                  <a:srgbClr val="5D6B7B"/>
                </a:solidFill>
              </a:rPr>
              <a:t>• slate / white neutrals</a:t>
            </a:r>
            <a:endParaRPr lang="en-US" sz="1100" dirty="0"/>
          </a:p>
          <a:p>
            <a:pPr indent="0" marL="0">
              <a:buNone/>
            </a:pPr>
            <a:r>
              <a:rPr lang="en-US" sz="1100" dirty="0">
                <a:solidFill>
                  <a:srgbClr val="5D6B7B"/>
                </a:solidFill>
              </a:rPr>
              <a:t>• one strong indigo or blue accent</a:t>
            </a:r>
            <a:endParaRPr lang="en-US" sz="1100" dirty="0"/>
          </a:p>
          <a:p>
            <a:pPr indent="0" marL="0">
              <a:buNone/>
            </a:pPr>
            <a:r>
              <a:rPr lang="en-US" sz="1100" dirty="0">
                <a:solidFill>
                  <a:srgbClr val="5D6B7B"/>
                </a:solidFill>
              </a:rPr>
              <a:t>• semantic green / amber / red</a:t>
            </a:r>
            <a:endParaRPr lang="en-US" sz="1100" dirty="0"/>
          </a:p>
          <a:p>
            <a:pPr indent="0" marL="0">
              <a:buNone/>
            </a:pPr>
            <a:endParaRPr lang="en-US" sz="1100" dirty="0"/>
          </a:p>
          <a:p>
            <a:pPr indent="0" marL="0">
              <a:buNone/>
            </a:pPr>
            <a:r>
              <a:rPr lang="en-US" sz="1100" dirty="0">
                <a:solidFill>
                  <a:srgbClr val="5D6B7B"/>
                </a:solidFill>
              </a:rPr>
              <a:t>Density</a:t>
            </a:r>
            <a:endParaRPr lang="en-US" sz="1100" dirty="0"/>
          </a:p>
          <a:p>
            <a:pPr indent="0" marL="0">
              <a:buNone/>
            </a:pPr>
            <a:r>
              <a:rPr lang="en-US" sz="1100" dirty="0">
                <a:solidFill>
                  <a:srgbClr val="5D6B7B"/>
                </a:solidFill>
              </a:rPr>
              <a:t>• comfortable for Studio</a:t>
            </a:r>
            <a:endParaRPr lang="en-US" sz="1100" dirty="0"/>
          </a:p>
          <a:p>
            <a:pPr indent="0" marL="0">
              <a:buNone/>
            </a:pPr>
            <a:r>
              <a:rPr lang="en-US" sz="1100" dirty="0">
                <a:solidFill>
                  <a:srgbClr val="5D6B7B"/>
                </a:solidFill>
              </a:rPr>
              <a:t>• compact for Ops</a:t>
            </a:r>
            <a:endParaRPr lang="en-US" sz="1100" dirty="0"/>
          </a:p>
        </p:txBody>
      </p:sp>
      <p:sp>
        <p:nvSpPr>
          <p:cNvPr id="7" name="Shape 5"/>
          <p:cNvSpPr/>
          <p:nvPr/>
        </p:nvSpPr>
        <p:spPr>
          <a:xfrm>
            <a:off x="3886200" y="1325880"/>
            <a:ext cx="2880360" cy="4206240"/>
          </a:xfrm>
          <a:prstGeom prst="roundRect">
            <a:avLst>
              <a:gd name="adj" fmla="val 3810"/>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8" name="Text 6"/>
          <p:cNvSpPr/>
          <p:nvPr/>
        </p:nvSpPr>
        <p:spPr>
          <a:xfrm>
            <a:off x="4050792" y="1435608"/>
            <a:ext cx="2551176" cy="182880"/>
          </a:xfrm>
          <a:prstGeom prst="rect">
            <a:avLst/>
          </a:prstGeom>
          <a:noFill/>
          <a:ln/>
        </p:spPr>
        <p:txBody>
          <a:bodyPr wrap="square" lIns="0" tIns="0" rIns="0" bIns="0" rtlCol="0" anchor="ctr"/>
          <a:lstStyle/>
          <a:p>
            <a:pPr indent="0" marL="0">
              <a:buNone/>
            </a:pPr>
            <a:r>
              <a:rPr lang="en-US" sz="1200" b="1" dirty="0">
                <a:solidFill>
                  <a:srgbClr val="19212B"/>
                </a:solidFill>
              </a:rPr>
              <a:t>Core components</a:t>
            </a:r>
            <a:endParaRPr lang="en-US" sz="1200" dirty="0"/>
          </a:p>
        </p:txBody>
      </p:sp>
      <p:sp>
        <p:nvSpPr>
          <p:cNvPr id="9" name="Text 7"/>
          <p:cNvSpPr/>
          <p:nvPr/>
        </p:nvSpPr>
        <p:spPr>
          <a:xfrm>
            <a:off x="4114800" y="1755648"/>
            <a:ext cx="2331720" cy="3200400"/>
          </a:xfrm>
          <a:prstGeom prst="rect">
            <a:avLst/>
          </a:prstGeom>
          <a:noFill/>
          <a:ln/>
        </p:spPr>
        <p:txBody>
          <a:bodyPr wrap="square" lIns="0" tIns="0" rIns="0" bIns="0" rtlCol="0" anchor="ctr"/>
          <a:lstStyle/>
          <a:p>
            <a:pPr indent="0" marL="0">
              <a:buNone/>
            </a:pPr>
            <a:r>
              <a:rPr lang="en-US" sz="1100" dirty="0">
                <a:solidFill>
                  <a:srgbClr val="5D6B7B"/>
                </a:solidFill>
              </a:rPr>
              <a:t>• app shell</a:t>
            </a:r>
            <a:endParaRPr lang="en-US" sz="1100" dirty="0"/>
          </a:p>
          <a:p>
            <a:pPr indent="0" marL="0">
              <a:buNone/>
            </a:pPr>
            <a:r>
              <a:rPr lang="en-US" sz="1100" dirty="0">
                <a:solidFill>
                  <a:srgbClr val="5D6B7B"/>
                </a:solidFill>
              </a:rPr>
              <a:t>• command bar</a:t>
            </a:r>
            <a:endParaRPr lang="en-US" sz="1100" dirty="0"/>
          </a:p>
          <a:p>
            <a:pPr indent="0" marL="0">
              <a:buNone/>
            </a:pPr>
            <a:r>
              <a:rPr lang="en-US" sz="1100" dirty="0">
                <a:solidFill>
                  <a:srgbClr val="5D6B7B"/>
                </a:solidFill>
              </a:rPr>
              <a:t>• step rail</a:t>
            </a:r>
            <a:endParaRPr lang="en-US" sz="1100" dirty="0"/>
          </a:p>
          <a:p>
            <a:pPr indent="0" marL="0">
              <a:buNone/>
            </a:pPr>
            <a:r>
              <a:rPr lang="en-US" sz="1100" dirty="0">
                <a:solidFill>
                  <a:srgbClr val="5D6B7B"/>
                </a:solidFill>
              </a:rPr>
              <a:t>• comparison cards</a:t>
            </a:r>
            <a:endParaRPr lang="en-US" sz="1100" dirty="0"/>
          </a:p>
          <a:p>
            <a:pPr indent="0" marL="0">
              <a:buNone/>
            </a:pPr>
            <a:r>
              <a:rPr lang="en-US" sz="1100" dirty="0">
                <a:solidFill>
                  <a:srgbClr val="5D6B7B"/>
                </a:solidFill>
              </a:rPr>
              <a:t>• score badges</a:t>
            </a:r>
            <a:endParaRPr lang="en-US" sz="1100" dirty="0"/>
          </a:p>
          <a:p>
            <a:pPr indent="0" marL="0">
              <a:buNone/>
            </a:pPr>
            <a:r>
              <a:rPr lang="en-US" sz="1100" dirty="0">
                <a:solidFill>
                  <a:srgbClr val="5D6B7B"/>
                </a:solidFill>
              </a:rPr>
              <a:t>• evidence drawers</a:t>
            </a:r>
            <a:endParaRPr lang="en-US" sz="1100" dirty="0"/>
          </a:p>
          <a:p>
            <a:pPr indent="0" marL="0">
              <a:buNone/>
            </a:pPr>
            <a:r>
              <a:rPr lang="en-US" sz="1100" dirty="0">
                <a:solidFill>
                  <a:srgbClr val="5D6B7B"/>
                </a:solidFill>
              </a:rPr>
              <a:t>• timeline modules</a:t>
            </a:r>
            <a:endParaRPr lang="en-US" sz="1100" dirty="0"/>
          </a:p>
          <a:p>
            <a:pPr indent="0" marL="0">
              <a:buNone/>
            </a:pPr>
            <a:r>
              <a:rPr lang="en-US" sz="1100" dirty="0">
                <a:solidFill>
                  <a:srgbClr val="5D6B7B"/>
                </a:solidFill>
              </a:rPr>
              <a:t>• graph / architecture nodes</a:t>
            </a:r>
            <a:endParaRPr lang="en-US" sz="1100" dirty="0"/>
          </a:p>
          <a:p>
            <a:pPr indent="0" marL="0">
              <a:buNone/>
            </a:pPr>
            <a:r>
              <a:rPr lang="en-US" sz="1100" dirty="0">
                <a:solidFill>
                  <a:srgbClr val="5D6B7B"/>
                </a:solidFill>
              </a:rPr>
              <a:t>• approval panels</a:t>
            </a:r>
            <a:endParaRPr lang="en-US" sz="1100" dirty="0"/>
          </a:p>
          <a:p>
            <a:pPr indent="0" marL="0">
              <a:buNone/>
            </a:pPr>
            <a:r>
              <a:rPr lang="en-US" sz="1100" dirty="0">
                <a:solidFill>
                  <a:srgbClr val="5D6B7B"/>
                </a:solidFill>
              </a:rPr>
              <a:t>• status chips</a:t>
            </a:r>
            <a:endParaRPr lang="en-US" sz="1100" dirty="0"/>
          </a:p>
        </p:txBody>
      </p:sp>
      <p:sp>
        <p:nvSpPr>
          <p:cNvPr id="10" name="Shape 8"/>
          <p:cNvSpPr/>
          <p:nvPr/>
        </p:nvSpPr>
        <p:spPr>
          <a:xfrm>
            <a:off x="7040880" y="1325880"/>
            <a:ext cx="4389120" cy="4206240"/>
          </a:xfrm>
          <a:prstGeom prst="roundRect">
            <a:avLst>
              <a:gd name="adj" fmla="val 2609"/>
            </a:avLst>
          </a:prstGeom>
          <a:solidFill>
            <a:srgbClr val="FFFFFF"/>
          </a:solidFill>
          <a:ln w="12700">
            <a:solidFill>
              <a:srgbClr val="CBD4DF"/>
            </a:solidFill>
            <a:prstDash val="solid"/>
          </a:ln>
          <a:effectLst>
            <a:outerShdw sx="100000" sy="100000" kx="0" ky="0" algn="bl" rotWithShape="0" blurRad="12700" dist="6350" dir="2700000">
              <a:srgbClr val="000000">
                <a:alpha val="8000"/>
              </a:srgbClr>
            </a:outerShdw>
          </a:effectLst>
        </p:spPr>
      </p:sp>
      <p:sp>
        <p:nvSpPr>
          <p:cNvPr id="11" name="Text 9"/>
          <p:cNvSpPr/>
          <p:nvPr/>
        </p:nvSpPr>
        <p:spPr>
          <a:xfrm>
            <a:off x="7205472" y="1435608"/>
            <a:ext cx="4059936" cy="182880"/>
          </a:xfrm>
          <a:prstGeom prst="rect">
            <a:avLst/>
          </a:prstGeom>
          <a:noFill/>
          <a:ln/>
        </p:spPr>
        <p:txBody>
          <a:bodyPr wrap="square" lIns="0" tIns="0" rIns="0" bIns="0" rtlCol="0" anchor="ctr"/>
          <a:lstStyle/>
          <a:p>
            <a:pPr indent="0" marL="0">
              <a:buNone/>
            </a:pPr>
            <a:r>
              <a:rPr lang="en-US" sz="1200" b="1" dirty="0">
                <a:solidFill>
                  <a:srgbClr val="19212B"/>
                </a:solidFill>
              </a:rPr>
              <a:t>What comes next</a:t>
            </a:r>
            <a:endParaRPr lang="en-US" sz="1200" dirty="0"/>
          </a:p>
        </p:txBody>
      </p:sp>
      <p:sp>
        <p:nvSpPr>
          <p:cNvPr id="12" name="Shape 10"/>
          <p:cNvSpPr/>
          <p:nvPr/>
        </p:nvSpPr>
        <p:spPr>
          <a:xfrm>
            <a:off x="7315200" y="1847088"/>
            <a:ext cx="3794760" cy="713232"/>
          </a:xfrm>
          <a:prstGeom prst="roundRect">
            <a:avLst>
              <a:gd name="adj" fmla="val 10256"/>
            </a:avLst>
          </a:prstGeom>
          <a:solidFill>
            <a:srgbClr val="F3F5F8"/>
          </a:solidFill>
          <a:ln w="12700">
            <a:solidFill>
              <a:srgbClr val="D7DEE7"/>
            </a:solidFill>
            <a:prstDash val="solid"/>
          </a:ln>
        </p:spPr>
      </p:sp>
      <p:sp>
        <p:nvSpPr>
          <p:cNvPr id="13" name="Shape 11"/>
          <p:cNvSpPr/>
          <p:nvPr/>
        </p:nvSpPr>
        <p:spPr>
          <a:xfrm>
            <a:off x="7315200" y="1847088"/>
            <a:ext cx="3794760" cy="219456"/>
          </a:xfrm>
          <a:prstGeom prst="rect">
            <a:avLst/>
          </a:prstGeom>
          <a:solidFill>
            <a:srgbClr val="EEF2F7"/>
          </a:solidFill>
          <a:ln w="12700">
            <a:solidFill>
              <a:srgbClr val="D7DEE7"/>
            </a:solidFill>
            <a:prstDash val="solid"/>
          </a:ln>
        </p:spPr>
      </p:sp>
      <p:sp>
        <p:nvSpPr>
          <p:cNvPr id="14" name="Text 12"/>
          <p:cNvSpPr/>
          <p:nvPr/>
        </p:nvSpPr>
        <p:spPr>
          <a:xfrm>
            <a:off x="7424928" y="1901952"/>
            <a:ext cx="3575304" cy="91440"/>
          </a:xfrm>
          <a:prstGeom prst="rect">
            <a:avLst/>
          </a:prstGeom>
          <a:noFill/>
          <a:ln/>
        </p:spPr>
        <p:txBody>
          <a:bodyPr wrap="square" lIns="0" tIns="0" rIns="0" bIns="0" rtlCol="0" anchor="ctr"/>
          <a:lstStyle/>
          <a:p>
            <a:pPr indent="0" marL="0">
              <a:buNone/>
            </a:pPr>
            <a:r>
              <a:rPr lang="en-US" sz="920" b="1" dirty="0">
                <a:solidFill>
                  <a:srgbClr val="19212B"/>
                </a:solidFill>
              </a:rPr>
              <a:t>Decision gate</a:t>
            </a:r>
            <a:endParaRPr lang="en-US" sz="920" dirty="0"/>
          </a:p>
        </p:txBody>
      </p:sp>
      <p:sp>
        <p:nvSpPr>
          <p:cNvPr id="15" name="Text 13"/>
          <p:cNvSpPr/>
          <p:nvPr/>
        </p:nvSpPr>
        <p:spPr>
          <a:xfrm>
            <a:off x="7424928" y="2130552"/>
            <a:ext cx="3575304" cy="146304"/>
          </a:xfrm>
          <a:prstGeom prst="rect">
            <a:avLst/>
          </a:prstGeom>
          <a:noFill/>
          <a:ln/>
        </p:spPr>
        <p:txBody>
          <a:bodyPr wrap="square" lIns="0" tIns="0" rIns="0" bIns="0" rtlCol="0" anchor="ctr"/>
          <a:lstStyle/>
          <a:p>
            <a:pPr algn="ctr" indent="0" marL="0">
              <a:buNone/>
            </a:pPr>
            <a:r>
              <a:rPr lang="en-US" sz="1000" dirty="0">
                <a:solidFill>
                  <a:srgbClr val="5D6B7B"/>
                </a:solidFill>
              </a:rPr>
              <a:t>Wireframe deck approved</a:t>
            </a:r>
            <a:endParaRPr lang="en-US" sz="1000" dirty="0"/>
          </a:p>
        </p:txBody>
      </p:sp>
      <p:sp>
        <p:nvSpPr>
          <p:cNvPr id="16" name="Shape 14"/>
          <p:cNvSpPr/>
          <p:nvPr/>
        </p:nvSpPr>
        <p:spPr>
          <a:xfrm>
            <a:off x="7315200" y="2724912"/>
            <a:ext cx="3794760" cy="768096"/>
          </a:xfrm>
          <a:prstGeom prst="roundRect">
            <a:avLst>
              <a:gd name="adj" fmla="val 9524"/>
            </a:avLst>
          </a:prstGeom>
          <a:solidFill>
            <a:srgbClr val="F3F5F8"/>
          </a:solidFill>
          <a:ln w="12700">
            <a:solidFill>
              <a:srgbClr val="D7DEE7"/>
            </a:solidFill>
            <a:prstDash val="solid"/>
          </a:ln>
        </p:spPr>
      </p:sp>
      <p:sp>
        <p:nvSpPr>
          <p:cNvPr id="17" name="Shape 15"/>
          <p:cNvSpPr/>
          <p:nvPr/>
        </p:nvSpPr>
        <p:spPr>
          <a:xfrm>
            <a:off x="7315200" y="2724912"/>
            <a:ext cx="3794760" cy="219456"/>
          </a:xfrm>
          <a:prstGeom prst="rect">
            <a:avLst/>
          </a:prstGeom>
          <a:solidFill>
            <a:srgbClr val="EEF2F7"/>
          </a:solidFill>
          <a:ln w="12700">
            <a:solidFill>
              <a:srgbClr val="D7DEE7"/>
            </a:solidFill>
            <a:prstDash val="solid"/>
          </a:ln>
        </p:spPr>
      </p:sp>
      <p:sp>
        <p:nvSpPr>
          <p:cNvPr id="18" name="Text 16"/>
          <p:cNvSpPr/>
          <p:nvPr/>
        </p:nvSpPr>
        <p:spPr>
          <a:xfrm>
            <a:off x="7424928" y="2779776"/>
            <a:ext cx="3575304" cy="91440"/>
          </a:xfrm>
          <a:prstGeom prst="rect">
            <a:avLst/>
          </a:prstGeom>
          <a:noFill/>
          <a:ln/>
        </p:spPr>
        <p:txBody>
          <a:bodyPr wrap="square" lIns="0" tIns="0" rIns="0" bIns="0" rtlCol="0" anchor="ctr"/>
          <a:lstStyle/>
          <a:p>
            <a:pPr indent="0" marL="0">
              <a:buNone/>
            </a:pPr>
            <a:r>
              <a:rPr lang="en-US" sz="920" b="1" dirty="0">
                <a:solidFill>
                  <a:srgbClr val="19212B"/>
                </a:solidFill>
              </a:rPr>
              <a:t>Design operations</a:t>
            </a:r>
            <a:endParaRPr lang="en-US" sz="920" dirty="0"/>
          </a:p>
        </p:txBody>
      </p:sp>
      <p:sp>
        <p:nvSpPr>
          <p:cNvPr id="19" name="Text 17"/>
          <p:cNvSpPr/>
          <p:nvPr/>
        </p:nvSpPr>
        <p:spPr>
          <a:xfrm>
            <a:off x="7424928" y="3035808"/>
            <a:ext cx="3575304" cy="146304"/>
          </a:xfrm>
          <a:prstGeom prst="rect">
            <a:avLst/>
          </a:prstGeom>
          <a:noFill/>
          <a:ln/>
        </p:spPr>
        <p:txBody>
          <a:bodyPr wrap="square" lIns="0" tIns="0" rIns="0" bIns="0" rtlCol="0" anchor="ctr"/>
          <a:lstStyle/>
          <a:p>
            <a:pPr algn="ctr" indent="0" marL="0">
              <a:buNone/>
            </a:pPr>
            <a:r>
              <a:rPr lang="en-US" sz="1000" dirty="0">
                <a:solidFill>
                  <a:srgbClr val="5D6B7B"/>
                </a:solidFill>
              </a:rPr>
              <a:t>Figma-ready screen inventory</a:t>
            </a:r>
            <a:endParaRPr lang="en-US" sz="1000" dirty="0"/>
          </a:p>
          <a:p>
            <a:pPr algn="ctr" indent="0" marL="0">
              <a:buNone/>
            </a:pPr>
            <a:r>
              <a:rPr lang="en-US" sz="1000" dirty="0">
                <a:solidFill>
                  <a:srgbClr val="5D6B7B"/>
                </a:solidFill>
              </a:rPr>
              <a:t>(screen names, states, variants, annotations)</a:t>
            </a:r>
            <a:endParaRPr lang="en-US" sz="1000" dirty="0"/>
          </a:p>
        </p:txBody>
      </p:sp>
      <p:sp>
        <p:nvSpPr>
          <p:cNvPr id="20" name="Shape 18"/>
          <p:cNvSpPr/>
          <p:nvPr/>
        </p:nvSpPr>
        <p:spPr>
          <a:xfrm>
            <a:off x="7315200" y="3675888"/>
            <a:ext cx="3794760" cy="768096"/>
          </a:xfrm>
          <a:prstGeom prst="roundRect">
            <a:avLst>
              <a:gd name="adj" fmla="val 9524"/>
            </a:avLst>
          </a:prstGeom>
          <a:solidFill>
            <a:srgbClr val="F3F5F8"/>
          </a:solidFill>
          <a:ln w="12700">
            <a:solidFill>
              <a:srgbClr val="D7DEE7"/>
            </a:solidFill>
            <a:prstDash val="solid"/>
          </a:ln>
        </p:spPr>
      </p:sp>
      <p:sp>
        <p:nvSpPr>
          <p:cNvPr id="21" name="Shape 19"/>
          <p:cNvSpPr/>
          <p:nvPr/>
        </p:nvSpPr>
        <p:spPr>
          <a:xfrm>
            <a:off x="7315200" y="3675888"/>
            <a:ext cx="3794760" cy="219456"/>
          </a:xfrm>
          <a:prstGeom prst="rect">
            <a:avLst/>
          </a:prstGeom>
          <a:solidFill>
            <a:srgbClr val="EEF2F7"/>
          </a:solidFill>
          <a:ln w="12700">
            <a:solidFill>
              <a:srgbClr val="D7DEE7"/>
            </a:solidFill>
            <a:prstDash val="solid"/>
          </a:ln>
        </p:spPr>
      </p:sp>
      <p:sp>
        <p:nvSpPr>
          <p:cNvPr id="22" name="Text 20"/>
          <p:cNvSpPr/>
          <p:nvPr/>
        </p:nvSpPr>
        <p:spPr>
          <a:xfrm>
            <a:off x="7424928" y="3730752"/>
            <a:ext cx="3575304" cy="91440"/>
          </a:xfrm>
          <a:prstGeom prst="rect">
            <a:avLst/>
          </a:prstGeom>
          <a:noFill/>
          <a:ln/>
        </p:spPr>
        <p:txBody>
          <a:bodyPr wrap="square" lIns="0" tIns="0" rIns="0" bIns="0" rtlCol="0" anchor="ctr"/>
          <a:lstStyle/>
          <a:p>
            <a:pPr indent="0" marL="0">
              <a:buNone/>
            </a:pPr>
            <a:r>
              <a:rPr lang="en-US" sz="920" b="1" dirty="0">
                <a:solidFill>
                  <a:srgbClr val="19212B"/>
                </a:solidFill>
              </a:rPr>
              <a:t>Visual system</a:t>
            </a:r>
            <a:endParaRPr lang="en-US" sz="920" dirty="0"/>
          </a:p>
        </p:txBody>
      </p:sp>
      <p:sp>
        <p:nvSpPr>
          <p:cNvPr id="23" name="Text 21"/>
          <p:cNvSpPr/>
          <p:nvPr/>
        </p:nvSpPr>
        <p:spPr>
          <a:xfrm>
            <a:off x="7424928" y="3986784"/>
            <a:ext cx="3575304" cy="146304"/>
          </a:xfrm>
          <a:prstGeom prst="rect">
            <a:avLst/>
          </a:prstGeom>
          <a:noFill/>
          <a:ln/>
        </p:spPr>
        <p:txBody>
          <a:bodyPr wrap="square" lIns="0" tIns="0" rIns="0" bIns="0" rtlCol="0" anchor="ctr"/>
          <a:lstStyle/>
          <a:p>
            <a:pPr algn="ctr" indent="0" marL="0">
              <a:buNone/>
            </a:pPr>
            <a:r>
              <a:rPr lang="en-US" sz="1000" dirty="0">
                <a:solidFill>
                  <a:srgbClr val="5D6B7B"/>
                </a:solidFill>
              </a:rPr>
              <a:t>High-fidelity UI system</a:t>
            </a:r>
            <a:endParaRPr lang="en-US" sz="1000" dirty="0"/>
          </a:p>
          <a:p>
            <a:pPr algn="ctr" indent="0" marL="0">
              <a:buNone/>
            </a:pPr>
            <a:r>
              <a:rPr lang="en-US" sz="1000" dirty="0">
                <a:solidFill>
                  <a:srgbClr val="5D6B7B"/>
                </a:solidFill>
              </a:rPr>
              <a:t>(tokens, components, flows, responsive rules)</a:t>
            </a:r>
            <a:endParaRPr lang="en-US" sz="1000" dirty="0"/>
          </a:p>
        </p:txBody>
      </p:sp>
      <p:sp>
        <p:nvSpPr>
          <p:cNvPr id="24" name="Shape 22"/>
          <p:cNvSpPr/>
          <p:nvPr/>
        </p:nvSpPr>
        <p:spPr>
          <a:xfrm>
            <a:off x="7315200" y="4626864"/>
            <a:ext cx="3794760" cy="749808"/>
          </a:xfrm>
          <a:prstGeom prst="roundRect">
            <a:avLst>
              <a:gd name="adj" fmla="val 9756"/>
            </a:avLst>
          </a:prstGeom>
          <a:solidFill>
            <a:srgbClr val="F3F5F8"/>
          </a:solidFill>
          <a:ln w="12700">
            <a:solidFill>
              <a:srgbClr val="D7DEE7"/>
            </a:solidFill>
            <a:prstDash val="solid"/>
          </a:ln>
        </p:spPr>
      </p:sp>
      <p:sp>
        <p:nvSpPr>
          <p:cNvPr id="25" name="Shape 23"/>
          <p:cNvSpPr/>
          <p:nvPr/>
        </p:nvSpPr>
        <p:spPr>
          <a:xfrm>
            <a:off x="7315200" y="4626864"/>
            <a:ext cx="3794760" cy="219456"/>
          </a:xfrm>
          <a:prstGeom prst="rect">
            <a:avLst/>
          </a:prstGeom>
          <a:solidFill>
            <a:srgbClr val="EEF2F7"/>
          </a:solidFill>
          <a:ln w="12700">
            <a:solidFill>
              <a:srgbClr val="D7DEE7"/>
            </a:solidFill>
            <a:prstDash val="solid"/>
          </a:ln>
        </p:spPr>
      </p:sp>
      <p:sp>
        <p:nvSpPr>
          <p:cNvPr id="26" name="Text 24"/>
          <p:cNvSpPr/>
          <p:nvPr/>
        </p:nvSpPr>
        <p:spPr>
          <a:xfrm>
            <a:off x="7424928" y="4681728"/>
            <a:ext cx="3575304" cy="91440"/>
          </a:xfrm>
          <a:prstGeom prst="rect">
            <a:avLst/>
          </a:prstGeom>
          <a:noFill/>
          <a:ln/>
        </p:spPr>
        <p:txBody>
          <a:bodyPr wrap="square" lIns="0" tIns="0" rIns="0" bIns="0" rtlCol="0" anchor="ctr"/>
          <a:lstStyle/>
          <a:p>
            <a:pPr indent="0" marL="0">
              <a:buNone/>
            </a:pPr>
            <a:r>
              <a:rPr lang="en-US" sz="920" b="1" dirty="0">
                <a:solidFill>
                  <a:srgbClr val="19212B"/>
                </a:solidFill>
              </a:rPr>
              <a:t>Validation</a:t>
            </a:r>
            <a:endParaRPr lang="en-US" sz="920" dirty="0"/>
          </a:p>
        </p:txBody>
      </p:sp>
      <p:sp>
        <p:nvSpPr>
          <p:cNvPr id="27" name="Text 25"/>
          <p:cNvSpPr/>
          <p:nvPr/>
        </p:nvSpPr>
        <p:spPr>
          <a:xfrm>
            <a:off x="7424928" y="4928616"/>
            <a:ext cx="3575304" cy="146304"/>
          </a:xfrm>
          <a:prstGeom prst="rect">
            <a:avLst/>
          </a:prstGeom>
          <a:noFill/>
          <a:ln/>
        </p:spPr>
        <p:txBody>
          <a:bodyPr wrap="square" lIns="0" tIns="0" rIns="0" bIns="0" rtlCol="0" anchor="ctr"/>
          <a:lstStyle/>
          <a:p>
            <a:pPr algn="ctr" indent="0" marL="0">
              <a:buNone/>
            </a:pPr>
            <a:r>
              <a:rPr lang="en-US" sz="1000" dirty="0">
                <a:solidFill>
                  <a:srgbClr val="5D6B7B"/>
                </a:solidFill>
              </a:rPr>
              <a:t>Prototype + usability review plan</a:t>
            </a:r>
            <a:endParaRPr lang="en-US" sz="1000" dirty="0"/>
          </a:p>
        </p:txBody>
      </p:sp>
      <p:sp>
        <p:nvSpPr>
          <p:cNvPr id="28" name="Shape 26"/>
          <p:cNvSpPr/>
          <p:nvPr/>
        </p:nvSpPr>
        <p:spPr>
          <a:xfrm>
            <a:off x="896112" y="5687568"/>
            <a:ext cx="4663440" cy="566928"/>
          </a:xfrm>
          <a:prstGeom prst="roundRect">
            <a:avLst>
              <a:gd name="adj" fmla="val 12903"/>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29" name="Text 27"/>
          <p:cNvSpPr/>
          <p:nvPr/>
        </p:nvSpPr>
        <p:spPr>
          <a:xfrm>
            <a:off x="1005840" y="5769864"/>
            <a:ext cx="4443984" cy="128016"/>
          </a:xfrm>
          <a:prstGeom prst="rect">
            <a:avLst/>
          </a:prstGeom>
          <a:noFill/>
          <a:ln/>
        </p:spPr>
        <p:txBody>
          <a:bodyPr wrap="square" lIns="0" tIns="0" rIns="0" bIns="0" rtlCol="0" anchor="ctr"/>
          <a:lstStyle/>
          <a:p>
            <a:pPr indent="0" marL="0">
              <a:buNone/>
            </a:pPr>
            <a:r>
              <a:rPr lang="en-US" sz="1100" b="1" dirty="0">
                <a:solidFill>
                  <a:srgbClr val="2F6BFF"/>
                </a:solidFill>
              </a:rPr>
              <a:t>Recommendation</a:t>
            </a:r>
            <a:endParaRPr lang="en-US" sz="1100" dirty="0"/>
          </a:p>
        </p:txBody>
      </p:sp>
      <p:sp>
        <p:nvSpPr>
          <p:cNvPr id="30" name="Text 28"/>
          <p:cNvSpPr/>
          <p:nvPr/>
        </p:nvSpPr>
        <p:spPr>
          <a:xfrm>
            <a:off x="1005840" y="5934456"/>
            <a:ext cx="4443984" cy="256032"/>
          </a:xfrm>
          <a:prstGeom prst="rect">
            <a:avLst/>
          </a:prstGeom>
          <a:noFill/>
          <a:ln/>
        </p:spPr>
        <p:txBody>
          <a:bodyPr wrap="square" lIns="0" tIns="0" rIns="0" bIns="0" rtlCol="0" anchor="t"/>
          <a:lstStyle/>
          <a:p>
            <a:pPr indent="0" marL="0">
              <a:buNone/>
            </a:pPr>
            <a:r>
              <a:rPr lang="en-US" sz="960" dirty="0">
                <a:solidFill>
                  <a:srgbClr val="5D6B7B"/>
                </a:solidFill>
              </a:rPr>
              <a:t>Approve this deck as the mid-fidelity UX direction, then move immediately into a Figma inventory before high-fidelity comps.</a:t>
            </a:r>
            <a:endParaRPr lang="en-US" sz="960" dirty="0"/>
          </a:p>
        </p:txBody>
      </p:sp>
      <p:sp>
        <p:nvSpPr>
          <p:cNvPr id="31" name="Shape 29"/>
          <p:cNvSpPr/>
          <p:nvPr/>
        </p:nvSpPr>
        <p:spPr>
          <a:xfrm>
            <a:off x="5779008" y="5687568"/>
            <a:ext cx="5074920" cy="566928"/>
          </a:xfrm>
          <a:prstGeom prst="roundRect">
            <a:avLst>
              <a:gd name="adj" fmla="val 12903"/>
            </a:avLst>
          </a:prstGeom>
          <a:solidFill>
            <a:srgbClr val="FFFFFF"/>
          </a:solidFill>
          <a:ln w="12700">
            <a:solidFill>
              <a:srgbClr val="2F6BFF"/>
            </a:solidFill>
            <a:prstDash val="solid"/>
          </a:ln>
          <a:effectLst>
            <a:outerShdw sx="100000" sy="100000" kx="0" ky="0" algn="bl" rotWithShape="0" blurRad="12700" dist="5080" dir="2700000">
              <a:srgbClr val="000000">
                <a:alpha val="10000"/>
              </a:srgbClr>
            </a:outerShdw>
          </a:effectLst>
        </p:spPr>
      </p:sp>
      <p:sp>
        <p:nvSpPr>
          <p:cNvPr id="32" name="Text 30"/>
          <p:cNvSpPr/>
          <p:nvPr/>
        </p:nvSpPr>
        <p:spPr>
          <a:xfrm>
            <a:off x="5888736" y="5769864"/>
            <a:ext cx="4855464" cy="128016"/>
          </a:xfrm>
          <a:prstGeom prst="rect">
            <a:avLst/>
          </a:prstGeom>
          <a:noFill/>
          <a:ln/>
        </p:spPr>
        <p:txBody>
          <a:bodyPr wrap="square" lIns="0" tIns="0" rIns="0" bIns="0" rtlCol="0" anchor="ctr"/>
          <a:lstStyle/>
          <a:p>
            <a:pPr indent="0" marL="0">
              <a:buNone/>
            </a:pPr>
            <a:r>
              <a:rPr lang="en-US" sz="1100" b="1" dirty="0">
                <a:solidFill>
                  <a:srgbClr val="2F6BFF"/>
                </a:solidFill>
              </a:rPr>
              <a:t>Deliverable handoff</a:t>
            </a:r>
            <a:endParaRPr lang="en-US" sz="1100" dirty="0"/>
          </a:p>
        </p:txBody>
      </p:sp>
      <p:sp>
        <p:nvSpPr>
          <p:cNvPr id="33" name="Text 31"/>
          <p:cNvSpPr/>
          <p:nvPr/>
        </p:nvSpPr>
        <p:spPr>
          <a:xfrm>
            <a:off x="5888736" y="5934456"/>
            <a:ext cx="4855464" cy="256032"/>
          </a:xfrm>
          <a:prstGeom prst="rect">
            <a:avLst/>
          </a:prstGeom>
          <a:noFill/>
          <a:ln/>
        </p:spPr>
        <p:txBody>
          <a:bodyPr wrap="square" lIns="0" tIns="0" rIns="0" bIns="0" rtlCol="0" anchor="t"/>
          <a:lstStyle/>
          <a:p>
            <a:pPr indent="0" marL="0">
              <a:buNone/>
            </a:pPr>
            <a:r>
              <a:rPr lang="en-US" sz="960" dirty="0">
                <a:solidFill>
                  <a:srgbClr val="5D6B7B"/>
                </a:solidFill>
              </a:rPr>
              <a:t>Next artifact should enumerate every core screen, substate, modal, panel, and compare view needed for the product MVP.</a:t>
            </a:r>
            <a:endParaRPr lang="en-US" sz="960" dirty="0"/>
          </a:p>
        </p:txBody>
      </p:sp>
      <p:sp>
        <p:nvSpPr>
          <p:cNvPr id="34" name="Text 32"/>
          <p:cNvSpPr/>
          <p:nvPr/>
        </p:nvSpPr>
        <p:spPr>
          <a:xfrm>
            <a:off x="594360" y="6473952"/>
            <a:ext cx="4389120" cy="164592"/>
          </a:xfrm>
          <a:prstGeom prst="rect">
            <a:avLst/>
          </a:prstGeom>
          <a:noFill/>
          <a:ln/>
        </p:spPr>
        <p:txBody>
          <a:bodyPr wrap="square" lIns="0" tIns="0" rIns="0" bIns="0" rtlCol="0" anchor="ctr"/>
          <a:lstStyle/>
          <a:p>
            <a:pPr indent="0" marL="0">
              <a:buNone/>
            </a:pPr>
            <a:r>
              <a:rPr lang="en-US" sz="900" dirty="0">
                <a:solidFill>
                  <a:srgbClr val="7A8794"/>
                </a:solidFill>
              </a:rPr>
              <a:t>Agent Architect Pro — UX wireframe direction</a:t>
            </a:r>
            <a:endParaRPr lang="en-US" sz="900" dirty="0"/>
          </a:p>
        </p:txBody>
      </p:sp>
      <p:sp>
        <p:nvSpPr>
          <p:cNvPr id="35" name="Text 33"/>
          <p:cNvSpPr/>
          <p:nvPr/>
        </p:nvSpPr>
        <p:spPr>
          <a:xfrm>
            <a:off x="11292840" y="6437376"/>
            <a:ext cx="274320" cy="182880"/>
          </a:xfrm>
          <a:prstGeom prst="rect">
            <a:avLst/>
          </a:prstGeom>
          <a:noFill/>
          <a:ln/>
        </p:spPr>
        <p:txBody>
          <a:bodyPr wrap="square" lIns="0" tIns="0" rIns="0" bIns="0" rtlCol="0" anchor="ctr"/>
          <a:lstStyle/>
          <a:p>
            <a:pPr algn="r" indent="0" marL="0">
              <a:buNone/>
            </a:pPr>
            <a:r>
              <a:rPr lang="en-US" sz="1000" dirty="0">
                <a:solidFill>
                  <a:srgbClr val="7A8794"/>
                </a:solidFill>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Architect Pro — UX Wireframe Deck</dc:title>
  <dc:subject>Agent Architect Pro UI/UX Wireframe Deck</dc:subject>
  <dc:creator>OpenAI</dc:creator>
  <cp:lastModifiedBy>OpenAI</cp:lastModifiedBy>
  <cp:revision>1</cp:revision>
  <dcterms:created xsi:type="dcterms:W3CDTF">2026-03-20T03:07:16Z</dcterms:created>
  <dcterms:modified xsi:type="dcterms:W3CDTF">2026-03-20T03:07:16Z</dcterms:modified>
</cp:coreProperties>
</file>